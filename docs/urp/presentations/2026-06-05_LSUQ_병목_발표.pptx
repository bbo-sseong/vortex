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84ae807d1_0_1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84ae807d1_0_1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e84ae807d1_0_1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7e4c5cfd_1_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eb7e4c5cfd_1_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eb7e4c5cfd_1_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84ae807d1_0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e84ae807d1_0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e84ae807d1_0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84ae807d1_0_1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g3e84ae807d1_0_1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e84ae807d1_0_1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84ae807d1_0_2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e84ae807d1_0_2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e84ae807d1_0_2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4ae807d1_0_2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e84ae807d1_0_2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84ae807d1_0_2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4ae807d1_0_2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e84ae807d1_0_2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e84ae807d1_0_2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4ae807d1_0_2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e84ae807d1_0_2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84ae807d1_0_2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4ae807d1_0_2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e84ae807d1_0_2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84ae807d1_0_2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4ae807d1_0_269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e84ae807d1_0_2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84ae807d1_0_2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7e4c5cfd_1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eb7e4c5cfd_1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b7e4c5cfd_1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ca5865a4a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eca5865a4a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eca5865a4a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ca5865a4a_0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g3eca5865a4a_0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eca5865a4a_0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92536724_1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ec92536724_1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c92536724_1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b7e4c5cfd_1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eb7e4c5cfd_1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eb7e4c5cfd_1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92536724_1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g3ec92536724_1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ec92536724_1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b7e4c5cfd_1_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eb7e4c5cfd_1_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b7e4c5cfd_1_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c92536724_1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ec92536724_1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ec92536724_1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b7e4c5cfd_1_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eb7e4c5cfd_1_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eb7e4c5cfd_1_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92536724_1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g3ec92536724_1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c92536724_1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c869376fb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g3ec869376f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c869376f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c92536724_1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ec92536724_1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ec92536724_1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c92536724_1_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ec92536724_1_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c92536724_1_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869376fb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ec869376fb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ec869376fb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c869376fb_0_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g3ec869376fb_0_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ec869376fb_0_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92536724_1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ec92536724_1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c92536724_1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41248" y="1481328"/>
            <a:ext cx="91440" cy="208483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1188720" y="14173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Progress Review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Vortex-based Microarchitectural Benchmarking: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18872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Malgun Gothic"/>
              <a:buNone/>
            </a:pPr>
            <a:r>
              <a:rPr lang="en-US" sz="12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URP Presentation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778240" y="1417320"/>
            <a:ext cx="2103120" cy="1325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961120" y="1691640"/>
            <a:ext cx="1371600" cy="36576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987548" y="1795237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리뷰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구현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Malgun Gothic"/>
              <a:buNone/>
            </a:pPr>
            <a:r>
              <a:rPr lang="en-US"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실험 결과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1097280"/>
            <a:ext cx="11457432" cy="5577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371600" y="1554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28600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iPAWS, gCAWS </a:t>
            </a: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0" y="16276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71600" y="24231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286000" y="24688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0" y="24963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GTO를 gCAWS로 대체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371600" y="32918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0" y="33649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gCAWS + iPAWS 코드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71600" y="41605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28600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0" y="42336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 / hotspot </a:t>
            </a: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71600" y="5029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BF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F6B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86000" y="5074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Malgun Gothic"/>
              <a:buNone/>
            </a:pPr>
            <a:r>
              <a:rPr b="1" lang="en-US" sz="16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+ Future 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0" y="510235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6B7280"/>
                </a:solidFill>
                <a:latin typeface="Malgun Gothic"/>
                <a:ea typeface="Malgun Gothic"/>
                <a:cs typeface="Malgun Gothic"/>
                <a:sym typeface="Malgun Gothic"/>
              </a:rPr>
              <a:t>RTL 합성 가능성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300" y="756745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548640" y="1943105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발표에서 gCAWS를 도입했으나, 스케줄러 간 성능 차이가 드러나지 않</a:t>
            </a:r>
            <a:r>
              <a:rPr lang="en-US" sz="1300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음.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22960" y="2857505"/>
            <a:ext cx="4480500" cy="2057400"/>
          </a:xfrm>
          <a:prstGeom prst="roundRect">
            <a:avLst>
              <a:gd fmla="val 6000" name="adj"/>
            </a:avLst>
          </a:prstGeom>
          <a:solidFill>
            <a:srgbClr val="F1F3F5"/>
          </a:solidFill>
          <a:ln cap="flat" cmpd="sng" w="12700">
            <a:solidFill>
              <a:srgbClr val="D7DB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56025" spcFirstLastPara="1" rIns="201150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발표 — 문제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RR · GTO · gCAWS 차이가 noise 수준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스케줄러를 제대로 평가할 수 없었음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440680" y="3657590"/>
            <a:ext cx="868800" cy="457200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2F6B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46695" y="2857505"/>
            <a:ext cx="4480500" cy="2057400"/>
          </a:xfrm>
          <a:prstGeom prst="roundRect">
            <a:avLst>
              <a:gd fmla="val 6000" name="adj"/>
            </a:avLst>
          </a:prstGeom>
          <a:solidFill>
            <a:srgbClr val="ECF2FE"/>
          </a:solidFill>
          <a:ln cap="flat" cmpd="sng" w="12700">
            <a:solidFill>
              <a:srgbClr val="C9DC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56025" spcFirstLastPara="1" rIns="201150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작업 — 목표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스케줄러 차이가 드러나는 환경 구성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원인 분석 → 구조적 병목 규명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Scheduler 위치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899200" y="4494625"/>
            <a:ext cx="45588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gpgpu-sim 관련 논문에서 말하는 scheduler는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 내 warp arbiter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00" y="1158500"/>
            <a:ext cx="6850498" cy="31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4279550" y="4427550"/>
            <a:ext cx="523200" cy="844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595200" y="4341850"/>
            <a:ext cx="523200" cy="844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747025" y="5272350"/>
            <a:ext cx="35325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gpgpu-sim fetch scheduler는 RR로 고정</a:t>
            </a:r>
            <a:endParaRPr sz="15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57200" y="626647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문제 상황 — scheduler idle ↑ (대부분 LSU stall)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457200" y="2532425"/>
            <a:ext cx="7109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scoreboard_block_ratio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= scrb_blocked / (scrb_blocked + ready_checks)</a:t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457200" y="2194560"/>
            <a:ext cx="603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“검토된 warp 후보 중 scoreboard로 막힌 비율”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250" y="2532432"/>
            <a:ext cx="4320300" cy="334529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/>
          <p:nvPr/>
        </p:nvSpPr>
        <p:spPr>
          <a:xfrm>
            <a:off x="457200" y="1747325"/>
            <a:ext cx="594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scoreboard_block_ratio 지표 추가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7278624" y="1417320"/>
            <a:ext cx="31089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</a:t>
            </a:r>
            <a:endParaRPr b="0" i="0" sz="1300" u="none" cap="none" strike="noStrike">
              <a:solidFill>
                <a:srgbClr val="BFBFBF"/>
              </a:solidFill>
              <a:highlight>
                <a:srgbClr val="191A1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npoints = 16384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nfeatures = 96</a:t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457200" y="370332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kmeans에서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scoreboard_block_ratio ≈ 97%</a:t>
            </a: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(warp 후보 대부분이 LSU 대기)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57200" y="644322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streak </a:t>
            </a:r>
            <a:endParaRPr b="1" sz="24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559550" y="1866900"/>
            <a:ext cx="50244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chemeClr val="lt1"/>
                </a:highlight>
              </a:rPr>
              <a:t>"streak" = 같은 warp이 연속으로 issue되는 횟수</a:t>
            </a:r>
            <a:endParaRPr sz="16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92" name="Google Shape;9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75" y="2619300"/>
            <a:ext cx="1091565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457200" y="591296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 warp 부족 → Vortex 구조 재확인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375" y="2400775"/>
            <a:ext cx="10710651" cy="39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/>
        </p:nvSpPr>
        <p:spPr>
          <a:xfrm>
            <a:off x="548540" y="1726083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스케줄러는 ready warp가 2개 이상일 때만 의미 — 그러나 대부분 cycle에서 ready ≈ 1 (scoreboard LSU 대기)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71000" y="697345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매 cycle ready warp 분포 (LSUQ = 2)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749195" y="2340200"/>
            <a:ext cx="52122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측정: 매 cycle ready warp 개수 분포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스케줄러가 의미 있으려면 ready warp ≥ 2 여야 함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ready ≥ 2 cycle이 9% 뿐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스케줄러가 고를 수 있는 cycle이 거의 없음</a:t>
            </a:r>
            <a:endParaRPr/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1625" y="1985950"/>
            <a:ext cx="325755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LSU 경로 — LSUQ가 MLP를 제한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00" y="2935520"/>
            <a:ext cx="11887198" cy="2998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 txBox="1"/>
          <p:nvPr/>
        </p:nvSpPr>
        <p:spPr>
          <a:xfrm>
            <a:off x="548540" y="1739245"/>
            <a:ext cx="110643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LSUQ_IN_SIZE = 2</a:t>
            </a: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32개 warp가 공유 → in-flight load가 코어 전체에서 2개로 제한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coalescer queue(16) · scoreboard(per-warp)는 병목이 아님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MLP가 사실상 1 → 메모리 latency를 숨기지 못함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2 → 8 — IPC 2배 ↑, scheduler idle 34%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525" y="1781470"/>
            <a:ext cx="946785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/>
        </p:nvSpPr>
        <p:spPr>
          <a:xfrm>
            <a:off x="628290" y="1255140"/>
            <a:ext cx="1106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in-flight load cap 해제 → ready warp 증가 → 스케줄러가 차별화될 수 있는 환경 형성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457200" y="573621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2 → 8 — ready warp 분포 비교</a:t>
            </a:r>
            <a:endParaRPr b="1" i="0" sz="2400" u="none" cap="none" strike="noStrike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275" y="1783080"/>
            <a:ext cx="3717025" cy="42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050" y="1783080"/>
            <a:ext cx="3257550" cy="40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1527048" y="1371600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7086600" y="1371600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 =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548640" y="6172200"/>
            <a:ext cx="110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ready ≥ 2 cycle:  9% → 20% (RR)</a:t>
            </a:r>
            <a:r>
              <a:rPr b="0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— 차이가 보이기 시작하지만 여전히 부족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457200" y="732698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LSUQ 해제 후에도 부족 — MLP 제한 발견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914405" y="2330730"/>
            <a:ext cx="109728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 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LSUQ를 늘려 in-flight load 공간은 확보</a:t>
            </a:r>
            <a:endParaRPr b="0" i="0" sz="1350" u="none" cap="none" strike="noStrike">
              <a:solidFill>
                <a:srgbClr val="4040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 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ready warp ≥ 2 cycle은 </a:t>
            </a:r>
            <a:r>
              <a:rPr b="1" i="0" lang="en-US" sz="1350" u="none" cap="none" strike="noStrike">
                <a:solidFill>
                  <a:srgbClr val="2F6B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9% → 20%</a:t>
            </a:r>
            <a:r>
              <a:rPr b="0" i="0" lang="en-US" sz="135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크게 늘지 않음</a:t>
            </a:r>
            <a:endParaRPr b="0" i="0" sz="1350" u="none" cap="none" strike="noStrike">
              <a:solidFill>
                <a:srgbClr val="40404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914400" y="3484375"/>
            <a:ext cx="10332600" cy="1143000"/>
          </a:xfrm>
          <a:prstGeom prst="roundRect">
            <a:avLst>
              <a:gd fmla="val 8000" name="adj"/>
            </a:avLst>
          </a:prstGeom>
          <a:solidFill>
            <a:srgbClr val="ECF2FE"/>
          </a:solidFill>
          <a:ln cap="flat" cmpd="sng" w="12700">
            <a:solidFill>
              <a:srgbClr val="C9DC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292600" spcFirstLastPara="1" rIns="256025" wrap="square" tIns="1828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발견</a:t>
            </a:r>
            <a:endParaRPr b="1" i="0" sz="1400" u="none" cap="none" strike="noStrike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이유로 인해 warp당 MLP가 제한되고 있음을 발견 → LSUQ 슬롯이 남아도 채워지지 않음</a:t>
            </a:r>
            <a:endParaRPr b="0" i="0" sz="1300" u="none" cap="none" strike="noStrike">
              <a:solidFill>
                <a:srgbClr val="3A3A3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589550" y="1223949"/>
            <a:ext cx="5303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데이터 포인트를 가까운 중심점에 배치해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K개 그룹으로 나누는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2535"/>
            <a:ext cx="6000093" cy="258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75" y="4470250"/>
            <a:ext cx="5822374" cy="9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/>
          <p:nvPr/>
        </p:nvSpPr>
        <p:spPr>
          <a:xfrm>
            <a:off x="500750" y="5481201"/>
            <a:ext cx="53034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배열 접근 시 연속된 주소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cluster 배열 접근 시 루프 내에서 동일한 값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Cache coalescing 큼, intra-warp locality 높음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kmeans_kernel_c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57200" y="1005725"/>
            <a:ext cx="92928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실행 흐름 (Sweep min_ncluster to max_ncluster, </a:t>
            </a:r>
            <a:endParaRPr b="1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	allocate device memory (kernel_swap 사용)</a:t>
            </a:r>
            <a:endParaRPr b="1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	calculate distance(GPU-side, kmeans_kernel_c.cl 사용) &amp; clustering(CPU-side)</a:t>
            </a:r>
            <a:endParaRPr b="1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8" name="Google Shape;1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738" y="2162900"/>
            <a:ext cx="7307924" cy="403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input size에 따른 16kB L1D cache 병목 분석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902350" y="1661850"/>
            <a:ext cx="4968900" cy="50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kmeans_swap에서 각 thread는 point 하나씩 맡는다.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RHS feature read: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thread는 feature[tid*nfeatures + i]를 i 방향으로 stride=1로 순회한다.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thread-local / intra-thread spatial locality는 좋다.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같은 i에서 wavefront 내 thread들은 point가 다르므로 inter-thread stride는 nfeatures이다.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wavefront-level coalescing은 nfeatures가 클수록 나빠질 수 있다.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LHS feature_swap write: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thread는 feature_swap[i*npoints + tid]를 i 방향으로 stride=npoints로 순회한다.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thread-local locality는 나쁘다.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같은 i에서 wavefront 내 thread들은 연속된 tid에 쓰므로 inter-thread stride=1이다.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wavefront-level coalescing은 좋다.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8" name="Google Shape;1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61850"/>
            <a:ext cx="6084524" cy="29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457200" y="1005725"/>
            <a:ext cx="4968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map을 Transpose하는 커널</a:t>
            </a:r>
            <a:endParaRPr b="1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Kmeans(KMN) - input size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에 따른 16kB L1D cache 병목 분석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171170"/>
            <a:ext cx="5680621" cy="554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/>
          <p:nvPr/>
        </p:nvSpPr>
        <p:spPr>
          <a:xfrm>
            <a:off x="6735300" y="1171175"/>
            <a:ext cx="4968900" cy="50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kmeans_kernel_c</a:t>
            </a: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각 thread는 point 하나씩 맡는다.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RHS feature read: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thread는 feature[tid*nfeatures + i]를 i 방향으로 stride=1로 순회한다.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thread-local / intra-thread spatial locality는 좋다.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같은 i에서 wavefront 내 thread들은 point가 다르므로 inter-thread stride는 nfeatures이다.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wavefront-level coalescing은 nfeatures가 클수록 나빠질 수 있다.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LHS feature_swap write: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thread는 feature_swap[i*npoints + tid]를 i 방향으로 stride=npoints로 순회한다.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따라서 thread-local locality는 나쁘다.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같은 i에서 wavefront 내 thread들은 연속된 tid에 쓰므로 inter-thread stride=1이다.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wavefront-level coalescing은 좋다.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BFS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667225" y="1223954"/>
            <a:ext cx="53034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주어진 그래프에서 Breadth-First-Search를 수행하는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852325" y="4391375"/>
            <a:ext cx="41493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for문 조건 내 g_graph_nodes는 순차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제한적인 spatial locality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 내에서 id 기반 배열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불규칙한 메모리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BFS_1 (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레벨 탐색 함수)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1" name="Google Shape;2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1223951"/>
            <a:ext cx="3050112" cy="26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391370"/>
            <a:ext cx="7193099" cy="13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BFS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input size에 따른 16kB L1D cache 병목 분석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852325" y="4391375"/>
            <a:ext cx="41493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for문 조건 내 g_graph_nodes는 순차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제한적인 spatial locality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 내에서 id 기반 배열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-&gt; 불규칙한 메모리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</a:t>
            </a:r>
            <a:r>
              <a:rPr b="1"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BFS_1 (다음 레벨 탐색 함수)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391370"/>
            <a:ext cx="7193099" cy="13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Hotspot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683650" y="1158125"/>
            <a:ext cx="62823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칩 내 열 분포 시뮬레이션 프로그램 - 다음 timestamp에서 전달되는 열 계산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4374000" y="3533050"/>
            <a:ext cx="7546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yidx, xidx를 이용하여 power[y][x], temp[y][x] 와 그 주변부 배열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00750" y="3030251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hotspot_kernel.cl - hotspot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58124"/>
            <a:ext cx="2064925" cy="18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750" y="3533050"/>
            <a:ext cx="3550116" cy="30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774" y="4307650"/>
            <a:ext cx="1901475" cy="13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/>
          <p:nvPr/>
        </p:nvSpPr>
        <p:spPr>
          <a:xfrm>
            <a:off x="6617100" y="4155250"/>
            <a:ext cx="5303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인접 warp가 배열을 겹쳐 읽는 경우가 많으나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반복해서 값을 사용하지 않으므로 intra-wavefront reuse는 약함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Hotspot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input size에 따른 16kB L1D cache 병목 분석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374000" y="3533050"/>
            <a:ext cx="7546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yidx, xidx를 이용하여 power[y][x], temp[y][x] 와 그 주변부 배열 접근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00750" y="3030251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hotspot_kernel.cl - hotspot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9" name="Google Shape;2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50" y="3533050"/>
            <a:ext cx="3550116" cy="30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774" y="4307650"/>
            <a:ext cx="1901475" cy="132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6617100" y="4155250"/>
            <a:ext cx="53034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인접 warp가 배열을 겹쳐 읽는 경우가 많으나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반복해서 값을 사용하지 않으므로 intra-wavefront reuse는 약함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SGEMM3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Characteristic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050276" y="1304442"/>
            <a:ext cx="62823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 = A × B </a:t>
            </a: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행렬곱 계산 프로그램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260275" y="3426325"/>
            <a:ext cx="4802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localA, localB 타일를 로컬 메모리에 가져온 후 여러 스레드가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__local memory에서 재사용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00750" y="292352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 - sgemm3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3" name="Google Shape;2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50" y="1158125"/>
            <a:ext cx="2377884" cy="16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3412050"/>
            <a:ext cx="5303400" cy="33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Workload - SGEMM3 </a:t>
            </a: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input size에 따른 16kB L1D cache 병목 분석</a:t>
            </a:r>
            <a:endParaRPr b="1" sz="2200">
              <a:solidFill>
                <a:srgbClr val="1E293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260275" y="3426325"/>
            <a:ext cx="4802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localA, localB 타일를 로컬 메모리에 가져온 후 여러 스레드가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__local memory에서 재사용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00750" y="292352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 - sgemm3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5" name="Google Shape;2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3412050"/>
            <a:ext cx="5303400" cy="33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Sanity Check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ideal arbiter behavior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457200" y="1703800"/>
            <a:ext cx="28596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5"/>
          <p:cNvPicPr preferRelativeResize="0"/>
          <p:nvPr/>
        </p:nvPicPr>
        <p:blipFill rotWithShape="1">
          <a:blip r:embed="rId3">
            <a:alphaModFix/>
          </a:blip>
          <a:srcRect b="6647" l="0" r="0" t="11082"/>
          <a:stretch/>
        </p:blipFill>
        <p:spPr>
          <a:xfrm>
            <a:off x="1809538" y="1969225"/>
            <a:ext cx="8572923" cy="428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Sanity Check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457200" y="1703800"/>
            <a:ext cx="28596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650" y="1958950"/>
            <a:ext cx="3224800" cy="28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025" y="1958950"/>
            <a:ext cx="33813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RR (Loosely Round Robin)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350" y="2545426"/>
            <a:ext cx="4323648" cy="216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887" y="1649279"/>
            <a:ext cx="5061682" cy="210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688" y="4062425"/>
            <a:ext cx="5638051" cy="18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7257775" y="4519800"/>
            <a:ext cx="4802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포인트 좌표를 한번만 접근 -&gt; locality reuse가 작음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00750" y="3888576"/>
            <a:ext cx="530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latin typeface="Malgun Gothic"/>
                <a:ea typeface="Malgun Gothic"/>
                <a:cs typeface="Malgun Gothic"/>
                <a:sym typeface="Malgun Gothic"/>
              </a:rPr>
              <a:t>kernel.cl - pgain_kernel</a:t>
            </a:r>
            <a:endParaRPr b="1"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1" name="Google Shape;3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800" y="2042901"/>
            <a:ext cx="5188378" cy="216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8478" y="1158120"/>
            <a:ext cx="4911125" cy="245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8425" y="3888576"/>
            <a:ext cx="6485472" cy="21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Arbiter - gCAWS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7257775" y="4519800"/>
            <a:ext cx="48027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포인트 좌표를 한번만 접근 -&gt; locality reuse가 작음</a:t>
            </a:r>
            <a:endParaRPr sz="130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457200" y="1069850"/>
            <a:ext cx="6546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sgemm single loop block (unbounded L1D cache)</a:t>
            </a:r>
            <a:endParaRPr/>
          </a:p>
        </p:txBody>
      </p:sp>
      <p:pic>
        <p:nvPicPr>
          <p:cNvPr id="335" name="Google Shape;3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550" y="1493976"/>
            <a:ext cx="5188378" cy="216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8000" y="4279792"/>
            <a:ext cx="4218067" cy="2109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950" y="4017775"/>
            <a:ext cx="6871699" cy="229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365760" y="16459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Times New Roman"/>
              <a:buNone/>
            </a:pPr>
            <a:r>
              <a:rPr lang="en-US" sz="90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URP MEETING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457200" y="502920"/>
            <a:ext cx="1124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Times New Roman"/>
              <a:buNone/>
            </a:pPr>
            <a:r>
              <a:rPr b="1" lang="en-US" sz="22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Vortex Aribiter Comparison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457200" y="1069850"/>
            <a:ext cx="10955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Vortex Baseline: 1-cluster, 1-socket, 1core, 32 Threads, 32 Warps, </a:t>
            </a:r>
            <a:r>
              <a:rPr lang="en-US">
                <a:solidFill>
                  <a:schemeClr val="dk1"/>
                </a:solidFill>
              </a:rPr>
              <a:t>16kB L1D, No L2, Round-robin fetch scheduler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Ramulator Baseline: HBM2-configuration( 4bank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0" y="2809269"/>
            <a:ext cx="1218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5400"/>
              <a:buFont typeface="Times New Roman"/>
              <a:buNone/>
            </a:pPr>
            <a:r>
              <a:rPr b="1" lang="en-US" sz="5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429768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7863840" y="3200400"/>
            <a:ext cx="54864" cy="548640"/>
          </a:xfrm>
          <a:prstGeom prst="rect">
            <a:avLst/>
          </a:prstGeom>
          <a:solidFill>
            <a:srgbClr val="2F6BFF"/>
          </a:solidFill>
          <a:ln cap="flat" cmpd="sng" w="12700">
            <a:solidFill>
              <a:srgbClr val="2F6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