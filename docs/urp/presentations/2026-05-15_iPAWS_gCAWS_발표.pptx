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AF295B-5DCE-40FF-BFA2-DB97A4DC90DB}">
  <a:tblStyle styleId="{94AF295B-5DCE-40FF-BFA2-DB97A4DC90D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222bffc76_3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222bffc76_3_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92fbb0b96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g3e92fbb0b96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다음으로 gCAWS와 iPAWS가 어떻게 구현되었는지를 정리드리겠습니다.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critical warp를 찾는 기준식인 CPL는 평균 CPI과 이슈된 명령어 수의 곱과, 스톨된 횟수를 더하여 계산됩니다.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그러므로 왼쪽과 같이 매 사이클마다 이슈나 스톨된 횟수를 카운트하여,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같은 사이클에서 크리티컬 워프를 선택할 때 이 값을 바탕으로 CPL을 계산하여 값이 가장 큰 워프를 실행하게 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그런데 실제 구현대로라면 gcaws의 greedy를 유지하기 위해 한번 선택된 워프는 계속 실행하다가, 스톨을 만나면 CPL 비교를 하여야 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그러나, criticality는 매 사이클마다 조금씩 변하기 때문에 어느정도 시간 길이만큼은 같은 워프가 계속 실행되는 실질적인 greedy 효과를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명시적인 스톨 시 변경 없이도 확인할 수 있습니다.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3" name="Google Shape;143;g3e92fbb0b96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앞에서 드린 설명을 바탕으로 한 코드 스니펫입니다.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다음으로 iPAWS를 구현한 파트에 대해서 설명드리겠습니다.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앞에서 설명하였듯 </a:t>
            </a:r>
            <a:r>
              <a:rPr lang="en-US" sz="1200">
                <a:solidFill>
                  <a:schemeClr val="dk1"/>
                </a:solidFill>
              </a:rPr>
              <a:t>iPAWS는 성능이 더 좋을 것으로 보이는 스케줄러를 선택합니다.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이를 결정하기 위해 먼저 Adapt phase동안 greedy-than-oldest, 즉 GTO를 이용해 워크로드를 실행시킵니다.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기존 iPAWS는 GTO와 RR을 결정하기 위해 GTO를 우선으로 실행하는데, 새로 만드는 스케줄러에서는 gCAWS가 아닌 GTO를 adapt동안 실행합니다.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gCAWS는 critical warp, 즉 느린 워프를 우선적으로 실행시킬 것이기 때문에 워프간 불균형을 감소시키는 효과를 보입니다.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이렇게 되면 iPAWS에서 제시하는 이슈 패턴을 통한 예측에 왜곡이 생기므로, 초기에는 GTO로 실행하여 판별합니다.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GTO가 아닌 gCAWS만으로 패턴을 파악해도 되는지에 대한 여부는 더 검증이 필요합니다.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Adapt phase가 종료된 후에는 이슈 패턴에 따른 다음에 사용할 스케줄러를 결정합니다.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instruction_threshold, 즉 사진에 보시는 노란색 삼각형을 중심으로 안쪽으로 들어가면 concave 패턴으로 판단해 GCAWS를 사용하고,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바깥쪽으로 볼록하다면 convex 패턴으로 판단해 Round-robin을 사용합니다.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Execute 단계에서 GTO보다 더 성능이 좋은 gCAWS를 사용하여 성능상 이득을 볼 수 있도록 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만약 inter-warp locality가 잘 보이지 않아 전반적으로 고른 이슈 패턴을 보인다면 GTO나 gCAWS에서도 큰 성능 차이가 보이지 않거나 더 낮은 성능을 보일 것이므로,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Round-robin을 채택하여 실행시키게 됩니다.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정리하자면 adapt phase에서는 GTO를 통해 이슈 패턴을 왜곡없이 파악하며, execute에서는 더 성능이 나은 gCAWS를 쓰거나 / 차선책인 RR을 사용하게 되는 것입니다.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92fbb0b96_2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e92fbb0b96_2_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앞에서 보여드린 수도코드를 기반으로 한 실제 코드 스니펫입니다.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92fbb0b96_2_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1fa5c9168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e1fa5c9168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그러나 저희가 gCAWS와 iPAWS를 구현한 후에 찾은 문제점 몇 가지가 있어, 이 부분은 최대한 빨리 수정될 예정입니다.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먼저 gCAWS에서 사용하는 CPL 식이 잘못 구현되어 있었습니다.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저희는 nInst 항을 단순히 선두 워프와의 명령어 개수 차이라고 생각하고 구현했는데,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논문에서 이 항은 branch divergence로 인해 생긴, 해당 워프가 추가로 실행해야 하는 예상 명령어 수입니다.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논문 정의와는 크게 다른 내용이기 때문에 수정될 예정입니다.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다음으로 iPAWS의 스케줄러 선택 로직인데, 이전 코드 스니펫에서 확인한 스케줄러 선택 로직에서,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두번째 줄 valid의 불값이 항상 false로 관측되어 round-robin으로 fallback되고 있었습니다. 이로 인해 ipaws 성능이 크게 나오지 않았던 것을 확인했습니다.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구현 상의 오류로 보여서 원인 파악 후 수정하겠습니다.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g3e1fa5c9168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92fbb0b96_2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e92fbb0b96_2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92fbb0b96_2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92fbb0b96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g3e92fbb0b96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92fbb0b96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41248" y="1481328"/>
            <a:ext cx="91440" cy="208483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188720" y="1417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Progress Review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Vortex-based Microarchitectural Benchmarking: Scheduler &amp; Cache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URP 발표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778240" y="1417320"/>
            <a:ext cx="2103120" cy="1325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961120" y="1691640"/>
            <a:ext cx="1371600" cy="36576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961120" y="18745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iPAWS 리뷰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gCAWS 도입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구현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실험 결과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371600" y="1554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28600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iPAWS, gCAWS </a:t>
            </a: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0" y="16276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71600" y="2423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28600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0" y="249631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GTO를 gCAWS로 대체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371600" y="3291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286000" y="3337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0" y="336499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 + iPAWS 코드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71600" y="41605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28600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943600" y="42336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 / hotspot 비교 분석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371600" y="5029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286000" y="5074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+ Future Work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0" y="51023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RTL 합성 가능성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iPAWS: Instruction-issue Pattern based Adaptive Warp Scheduling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7360" y="1069880"/>
            <a:ext cx="11457300" cy="55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680355" y="1223960"/>
            <a:ext cx="530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워크로드마다 최적 스케줄러가 다르다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GTO-friendly: locality 활용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RR-friendly: warp 균등 진행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Runtime 에 적응적으로 선택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워크로드에서 안정적 성능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14613" y="4577773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3-phase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25" y="5026503"/>
            <a:ext cx="1554600" cy="9144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188" y="5117943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25" y="5483703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GTO로 측정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011705" y="5483703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1E2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" name="Google Shape;59;p5"/>
          <p:cNvSpPr/>
          <p:nvPr/>
        </p:nvSpPr>
        <p:spPr>
          <a:xfrm>
            <a:off x="2377465" y="5026503"/>
            <a:ext cx="1554600" cy="9144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377428" y="5117943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377428" y="5483703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convex / concave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3931945" y="5483703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1E2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5"/>
          <p:cNvSpPr/>
          <p:nvPr/>
        </p:nvSpPr>
        <p:spPr>
          <a:xfrm>
            <a:off x="4297668" y="5026503"/>
            <a:ext cx="1554600" cy="91440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297668" y="5117943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297705" y="5483703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 or RR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338250" y="4577775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기준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338238" y="4835230"/>
            <a:ext cx="5486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Times New Roman"/>
              <a:buNone/>
            </a:pPr>
            <a:r>
              <a:rPr lang="en-US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iscore_sum &lt; W × iscore_max / 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Times New Roman"/>
              <a:buNone/>
            </a:pPr>
            <a:r>
              <a:rPr lang="en-US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convex (GTO-friendly)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Times New Roman"/>
              <a:buNone/>
            </a:pPr>
            <a:r>
              <a:rPr lang="en-US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otherwise: concave (RR-friendly)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00" y="1639800"/>
            <a:ext cx="4660400" cy="21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23375" y="4607788"/>
            <a:ext cx="2680949" cy="13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5"/>
          <p:cNvSpPr/>
          <p:nvPr/>
        </p:nvSpPr>
        <p:spPr>
          <a:xfrm>
            <a:off x="646888" y="1369473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상황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9525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iPAWS: 3-phase 동작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90955" y="1554480"/>
            <a:ext cx="3291840" cy="2377440"/>
          </a:xfrm>
          <a:prstGeom prst="roundRect">
            <a:avLst>
              <a:gd fmla="val 8000" name="adj"/>
            </a:avLst>
          </a:prstGeom>
          <a:solidFill>
            <a:srgbClr val="DBEAFE"/>
          </a:solidFill>
          <a:ln cap="flat" cmpd="sng" w="317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973835" y="1691639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973835" y="20574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973835" y="2606039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 측정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1065275" y="3017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정책: GTO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082796" y="2606040"/>
            <a:ext cx="3657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CA3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448556" y="1554480"/>
            <a:ext cx="3291840" cy="2377440"/>
          </a:xfrm>
          <a:prstGeom prst="roundRect">
            <a:avLst>
              <a:gd fmla="val 8000" name="adj"/>
            </a:avLst>
          </a:prstGeom>
          <a:solidFill>
            <a:srgbClr val="FEF3C7"/>
          </a:solidFill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4631436" y="1691639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4631436" y="20574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</a:t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4631436" y="2606039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진행도 균등화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4722876" y="3118103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뒤처진 warp 우선 처리</a:t>
            </a:r>
            <a:endParaRPr sz="1600"/>
          </a:p>
        </p:txBody>
      </p:sp>
      <p:sp>
        <p:nvSpPr>
          <p:cNvPr id="90" name="Google Shape;90;p6"/>
          <p:cNvSpPr txBox="1"/>
          <p:nvPr/>
        </p:nvSpPr>
        <p:spPr>
          <a:xfrm>
            <a:off x="4722876" y="3580648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(본 구현은 비활성)</a:t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740396" y="2606040"/>
            <a:ext cx="3657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CA3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106156" y="1554480"/>
            <a:ext cx="3291840" cy="2377440"/>
          </a:xfrm>
          <a:prstGeom prst="roundRect">
            <a:avLst>
              <a:gd fmla="val 8000" name="adj"/>
            </a:avLst>
          </a:prstGeom>
          <a:solidFill>
            <a:srgbClr val="D1FAE5"/>
          </a:solidFill>
          <a:ln cap="flat" cmpd="sng" w="317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289036" y="1691639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8289036" y="20574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</a:t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8289036" y="2606039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후 정책 실행</a:t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8380476" y="3017520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</a:t>
            </a:r>
            <a:r>
              <a:rPr b="1"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cave</a:t>
            </a: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GTO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8380476" y="3310128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</a:t>
            </a:r>
            <a:r>
              <a:rPr b="1"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vex</a:t>
            </a:r>
            <a:r>
              <a:rPr b="1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RR</a:t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8380476" y="35844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(다음 kernel 까지 지속)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357850" y="5166345"/>
            <a:ext cx="9445800" cy="1188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540730" y="5303505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기준 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paper §3.3)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540730" y="5669265"/>
            <a:ext cx="914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iscore_sum  &lt;  W  ×  iscore_max  /  2     →  convex      (otherwise → concave)</a:t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1540730" y="6080745"/>
            <a:ext cx="914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mean / max &lt; 0.5</a:t>
            </a:r>
            <a:endParaRPr sz="1800"/>
          </a:p>
        </p:txBody>
      </p:sp>
      <p:pic>
        <p:nvPicPr>
          <p:cNvPr id="103" name="Google Shape;10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25" y="922626"/>
            <a:ext cx="10843200" cy="40854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gCAWS: greedy Criticality-Aware Warp Scheduler (CAWA, ISCA 2015)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1645935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아이디어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0080" y="1691640"/>
            <a:ext cx="5760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Warp마다 progress 속도가 다름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느린 warp = critical warp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 warp을 우선 처리 → 전체 wait 시간 단축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Criticality 정의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0080" y="4434840"/>
            <a:ext cx="5760720" cy="14630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78266" y="4553933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imes New Roman"/>
              <a:buNone/>
            </a:pPr>
            <a:r>
              <a:rPr lang="en-US"/>
              <a:t>nCriticality = nInst × w·CPI_avg + nStall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22960" y="502920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nInst: 진행된 instruction 수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nStall: stall 누적 사이클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greedy 동작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75120" y="1691640"/>
            <a:ext cx="4937760" cy="42062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858000" y="1828800"/>
            <a:ext cx="45720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cycle: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모든 warp의 criticality 계산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critical warp 선택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동률 시 oldest warp 선택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그 warp의 instruction issue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특성: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Critical warp이 잘 변하지 않음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자연스럽게 greedy 효과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메모리 contention 환경에서 큰 효과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gCAWS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40080" y="1371600"/>
            <a:ext cx="5303520" cy="228600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강점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22960" y="196596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워크로드에서 안정적 성능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Worst-case 회피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 특성 감지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400800" y="1508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B453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400800" y="196596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GTO는 RR보다 대부분 우수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gCAWS는 GTO보다 </a:t>
            </a: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 좋은 성능.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(특히 cache-sensitive 워크로드)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gCAWS도 greedy한 성격 → iPAWS의 GTO </a:t>
            </a: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4023360"/>
            <a:ext cx="10881360" cy="228600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제안: iPAWS의 Execute phase에서 GTO 자리에 gCAWS를 사용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 phase는 GTO 유지 -&gt; false concave 회피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Execute phase: concave → gCAWS, convex→ RR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 단독보다 더 큰 성능 향상 + iPAWS의 robustness 유지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03575" y="5166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gCAWS 구현 (sim/simx/emulator.cpp)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65760" y="1097280"/>
            <a:ext cx="11457300" cy="55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008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Criticality 카운터 업데이트 (매 cycle)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40080" y="1691640"/>
            <a:ext cx="548640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22960" y="1783080"/>
            <a:ext cx="5212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100">
                <a:solidFill>
                  <a:srgbClr val="F0FDF4"/>
                </a:solidFill>
                <a:latin typeface="Consolas"/>
                <a:ea typeface="Consolas"/>
                <a:cs typeface="Consolas"/>
                <a:sym typeface="Consolas"/>
              </a:rPr>
              <a:t>nCriticality = nInst × w·CPI_avg + nStall</a:t>
            </a:r>
            <a:endParaRPr sz="1100">
              <a:solidFill>
                <a:srgbClr val="F0FD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void update_cpl_counters()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for (auto w : warps)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if (w.issued)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w.nInst++;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if (w.stalled)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w.nStall++;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400800" y="12801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 warp 선택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400800" y="1691640"/>
            <a:ext cx="539490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583680" y="1783080"/>
            <a:ext cx="51207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int select_gcaws_warp()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int best = -1;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uint64_t max_c = 0;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for (int w = 0; w &lt; NW; w++)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if (!ready[w]) continue;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uint64_t c = nInst[w]*W_CPI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     + nStall[w];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if (c &gt; max_c) { ...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return best;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0080" y="4206240"/>
            <a:ext cx="11155800" cy="21945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822960" y="43434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0369A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포인트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2950" y="4754876"/>
            <a:ext cx="107898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사이클마다 critical warp 선택</a:t>
            </a:r>
            <a:endParaRPr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argmax로 critical warp 1개 선택 → 자연스러운 greedy stick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Criticality는 천천히 변하므로 같은 warp가 계속 선택됨 → time slice 효과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Tie-break: oldest warp (paper §3.2 기준)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800" y="636775"/>
            <a:ext cx="5268725" cy="60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793550"/>
            <a:ext cx="4895400" cy="48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03575" y="5166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gCAWS 구현 (sim/simx/emulator.cpp)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65750" y="1348350"/>
            <a:ext cx="34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Criticality 카운터 업데이트 (매 cycle)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7540" y="6688950"/>
            <a:ext cx="218762" cy="8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7100" y="6780838"/>
            <a:ext cx="218759" cy="7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365750" y="1793550"/>
            <a:ext cx="4703100" cy="4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Emulator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update_cpl_counters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 { 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nw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arch_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num_warps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nw;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wid)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(active_warps_.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stalled_warps_.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(wid)) {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warp_cpl_.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(wid).stall_cycles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max_inst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nw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arch_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num_warps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nw;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wid)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active_warps_.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(wid))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max_inst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(max_inst, warp_cpl_.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(wid).instr_count);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r>
              <a:rPr lang="en-US" sz="9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// nCriticality = nInst * CPI_avg + nStall.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nw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arch_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num_warps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nw;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wid)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active_warps_.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(wid))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cpl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warp_cpl_.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(wid);</a:t>
            </a:r>
            <a:r>
              <a:rPr lang="en-US" sz="9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//alias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max_inst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cpl.instr_count;</a:t>
            </a:r>
            <a:r>
              <a:rPr lang="en-US" sz="9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cpi_avg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(cpl.instr_count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schedule_cycle_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cpl.instr_count)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cpl.criticality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cpi_avg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cpl.stall_cycles;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5797800" y="636775"/>
            <a:ext cx="5055300" cy="6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Emulator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select_gcaws_warp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selected_warp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best_crit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best_ts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numeric_limits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&gt;::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nw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arch_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num_warps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 wid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nw;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wid) 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active_warps_.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(wid))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(stalled_warps_.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(wid))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crit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warp_cpl_.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(wid).criticality;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ts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ready_timestamps_.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(ts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ts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numeric_limits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&gt;::</a:t>
            </a:r>
            <a:r>
              <a:rPr lang="en-US" sz="950">
                <a:solidFill>
                  <a:srgbClr val="D2A8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take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(selected_warp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take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(crit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best_crit)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take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(crit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best_crit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ts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best_ts)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take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(take)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selected_warp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(wid);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best_crit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crit;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best_ts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ts;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critical_warp_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selected_warp;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selected_warp;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3" name="Google Shape;173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89065" y="6688950"/>
            <a:ext cx="202933" cy="1690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5797808" y="213720"/>
            <a:ext cx="139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 warp 선택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 구현 (1): Adapt phase로 워크로드 측정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 phase: GTO 사용 + iscore 측정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40075" y="1691652"/>
            <a:ext cx="6400800" cy="4815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822950" y="1783075"/>
            <a:ext cx="6126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void ipaws_sample_and_step() {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// Adapt phase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if (phase == ADAPT) {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// GTO로 실행</a:t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int w = select_gto_warp();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// iscore 누적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iscore[w] += instructions_issued;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iscore[w] += barrier_wait_cycles;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sample_count++;</a:t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t/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t/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t/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if (sample_count &gt;= ADAPT_WINDOW)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phase = DECIDE;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nsolas"/>
              <a:buNone/>
            </a:pPr>
            <a:r>
              <a:rPr lang="en-US" sz="13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315200" y="12801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GTO인가?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7315200" y="1691647"/>
            <a:ext cx="4480500" cy="27417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7498075" y="1783075"/>
            <a:ext cx="4206300" cy="25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b="1"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단계의 핵심: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워크로드의 본질 imbalance를 왜곡 없이 측정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Malgun Gothic"/>
              <a:buNone/>
            </a:pPr>
            <a:r>
              <a:rPr b="1" lang="en-US" sz="120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gCAWS로 측정 시 위험: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critical warp을 가속해서 분포가 평탄해짐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true convex가 false concave로 판정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GTO-friendly 워크로드 놓침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Malgun Gothic"/>
              <a:buNone/>
            </a:pPr>
            <a:r>
              <a:rPr b="1" lang="en-US" sz="1200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GTO의 장점: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자연스러운 progress → 정확한 분포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convex/concave 판정의 분별력 보</a:t>
            </a: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존</a:t>
            </a:r>
            <a:endParaRPr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7315250" y="45109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 종료 시점?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7315225" y="4826750"/>
            <a:ext cx="4480500" cy="16803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498100" y="4876650"/>
            <a:ext cx="4206300" cy="12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rPr b="1"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워프 1개 종료 시점 -&gt; fixed cycle count</a:t>
            </a:r>
            <a:endParaRPr b="1"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t/>
            </a:r>
            <a:endParaRPr b="1"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t/>
            </a:r>
            <a:endParaRPr b="1"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algun Gothic"/>
              <a:buNone/>
            </a:pPr>
            <a:r>
              <a:t/>
            </a:r>
            <a:endParaRPr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 구현 (2): Execute에서 gCAWS 사용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40076" y="1280150"/>
            <a:ext cx="635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Decide + Execute (Paper와 차별점: GTO → gCAWS)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40075" y="1691650"/>
            <a:ext cx="6400800" cy="3054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822950" y="1691650"/>
            <a:ext cx="6126600" cy="3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// Decide phase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if (phase == DECIDE) {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sum = sum(iscore);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max = max(iscore);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bool convex = (sum &lt; W * max / 2);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chosen = con</a:t>
            </a: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vex</a:t>
            </a: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? GCAWS : RR;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phase = EXECUTE;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// Execute phase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if (phase == EXECUTE) {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if (chosen == GCAWS)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      return select_gcaws_warp();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return select_rr_warp();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31520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Paper와의 차별점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12"/>
          <p:cNvGraphicFramePr/>
          <p:nvPr/>
        </p:nvGraphicFramePr>
        <p:xfrm>
          <a:off x="731520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{94AF295B-5DCE-40FF-BFA2-DB97A4DC90DB}</a:tableStyleId>
              </a:tblPr>
              <a:tblGrid>
                <a:gridCol w="1188725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Phase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Paper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GTO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596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GTO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Decide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GTO/RR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gCAWS/RR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GTO/RR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DC262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gCAWS/RR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12"/>
          <p:cNvSpPr/>
          <p:nvPr/>
        </p:nvSpPr>
        <p:spPr>
          <a:xfrm>
            <a:off x="7315200" y="3496287"/>
            <a:ext cx="4480500" cy="14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변경점: Execute의 GTO를 gCAWS로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Adapt는 그대로 (false concave 회피)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결과: GTO 단독보다 큰 향상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+ iPAWS robustness 유지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5363362"/>
            <a:ext cx="3203450" cy="6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603" y="4964775"/>
            <a:ext cx="3053272" cy="146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403575" y="5166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구현 (sim/simx/emulator.cpp)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8500" y="1498925"/>
            <a:ext cx="5865850" cy="52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92720" y="1133100"/>
            <a:ext cx="231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 사용, iscore 측정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25" y="1498925"/>
            <a:ext cx="4640700" cy="50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 txBox="1"/>
          <p:nvPr/>
        </p:nvSpPr>
        <p:spPr>
          <a:xfrm>
            <a:off x="492725" y="1498800"/>
            <a:ext cx="4537500" cy="50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phase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iPAWSPhase</a:t>
            </a:r>
            <a:r>
              <a:rPr lang="en-US" sz="950">
                <a:solidFill>
                  <a:srgbClr val="BBBEBF"/>
                </a:solidFill>
                <a:latin typeface="Consolas"/>
                <a:ea typeface="Consolas"/>
                <a:cs typeface="Consolas"/>
                <a:sym typeface="Consolas"/>
              </a:rPr>
              <a:t>::Adapt) 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chosen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select_gto_warp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(chosen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s.adapt_issue.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(chosen);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uint32_t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w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, nw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arch_.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num_warps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(); w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nw;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w)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chosen)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active_warps_.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(w))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(IPAWS_BARRIER_ONLY_BTIME)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is_barrier_stalled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(w))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s.adapt_stall.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}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s.adapt_stall.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uint32_t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w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, nw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arch_.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num_warps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(); w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nw;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w)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active_warps_.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(w))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(stalled_warps_.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(w)) {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s.issue_stall_count.</a:t>
            </a:r>
            <a:r>
              <a:rPr lang="en-US" sz="950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at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(w);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// lowest-id active warp 만 "the oldest" 자격.</a:t>
            </a:r>
            <a:endParaRPr sz="950">
              <a:solidFill>
                <a:srgbClr val="8B949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chosen;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50">
              <a:solidFill>
                <a:srgbClr val="C9D1D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5454335" y="1498925"/>
            <a:ext cx="5798100" cy="5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concave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valid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(woi_size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iscore_max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meanmax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0.0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(valid)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threshold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(woi_size)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iscore_max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concave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(iscore_sum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threshold);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meanmax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(iscore_sum)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(woi_size)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(iscore_max));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>
              <a:solidFill>
                <a:srgbClr val="C586C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====================================================================================</a:t>
            </a:r>
            <a:endParaRPr sz="950">
              <a:solidFill>
                <a:srgbClr val="C586C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(elapsed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IPAWS_ADAPT_CYCLES)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. . .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(concave) {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s.chosen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WarpSchedulePolicy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::gCAWS;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s.decides_concave;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s.phase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iPAWSPhase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::Execute;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s.chosen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WarpSchedulePolicy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::RR;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s.decides_convex;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critical_warp_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(IPAWS_USE_RECOVER)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. . .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} </a:t>
            </a:r>
            <a:r>
              <a:rPr lang="en-US" sz="9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s.phase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>
                <a:solidFill>
                  <a:srgbClr val="4EC9B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iPAWSPhase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::Execute;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5408495" y="1133100"/>
            <a:ext cx="231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Decide &amp; Execute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125" y="1757100"/>
            <a:ext cx="5962200" cy="24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/>
        </p:nvSpPr>
        <p:spPr>
          <a:xfrm>
            <a:off x="6075125" y="1721825"/>
            <a:ext cx="59136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concave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valid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(woi_size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iscore_max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meanmax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0.0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C586C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(valid) {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threshold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(woi_size)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iscore_max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concave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(iscore_sum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threshold);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meanmax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(iscore_sum)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(woi_size)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s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tatic_cast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(iscore_max));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gCAWS / iPAWS 구현 이슈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13625" y="1280150"/>
            <a:ext cx="44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nInst 구현 차이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6207025" y="12801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 decide에서 RR로 fall-back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313623" y="1645850"/>
            <a:ext cx="401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imes New Roman"/>
              <a:buNone/>
            </a:pPr>
            <a:r>
              <a:rPr i="1"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nCriticality = nInst × w·CPI_avg + nStall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724" y="2141974"/>
            <a:ext cx="2608349" cy="256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4"/>
          <p:cNvCxnSpPr/>
          <p:nvPr/>
        </p:nvCxnSpPr>
        <p:spPr>
          <a:xfrm>
            <a:off x="3561750" y="3262250"/>
            <a:ext cx="0" cy="69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14"/>
          <p:cNvSpPr/>
          <p:nvPr/>
        </p:nvSpPr>
        <p:spPr>
          <a:xfrm>
            <a:off x="313625" y="2991888"/>
            <a:ext cx="2319600" cy="15270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351652" y="3087311"/>
            <a:ext cx="162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0369A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 내 정의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351649" y="3373627"/>
            <a:ext cx="22434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branch divergence로 인한</a:t>
            </a:r>
            <a:endParaRPr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워프가 실행할 명령어 개수 차이</a:t>
            </a:r>
            <a:endParaRPr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313700" y="4914050"/>
            <a:ext cx="2319300" cy="1478700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388400" y="5046725"/>
            <a:ext cx="216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B453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상태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371075" y="5499780"/>
            <a:ext cx="21594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 선두 워프간의</a:t>
            </a:r>
            <a:endParaRPr sz="12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명령어 개수 차이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2747575" y="5061225"/>
            <a:ext cx="3141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uint64_t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nInst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max_inst </a:t>
            </a:r>
            <a:r>
              <a:rPr lang="en-US" sz="9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950">
                <a:solidFill>
                  <a:srgbClr val="C9D1D9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cpl.instr_count;</a:t>
            </a:r>
            <a:endParaRPr/>
          </a:p>
        </p:txBody>
      </p:sp>
      <p:cxnSp>
        <p:nvCxnSpPr>
          <p:cNvPr id="246" name="Google Shape;246;p14"/>
          <p:cNvCxnSpPr/>
          <p:nvPr/>
        </p:nvCxnSpPr>
        <p:spPr>
          <a:xfrm rot="10800000">
            <a:off x="1871775" y="2129325"/>
            <a:ext cx="1700100" cy="121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4"/>
          <p:cNvSpPr/>
          <p:nvPr/>
        </p:nvSpPr>
        <p:spPr>
          <a:xfrm>
            <a:off x="6075125" y="4403275"/>
            <a:ext cx="5962200" cy="1218000"/>
          </a:xfrm>
          <a:prstGeom prst="rect">
            <a:avLst/>
          </a:prstGeom>
          <a:solidFill>
            <a:srgbClr val="F8FAFC"/>
          </a:solidFill>
          <a:ln cap="flat" cmpd="sng" w="15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5175" lIns="110400" spcFirstLastPara="1" rIns="110400" wrap="square" tIns="5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6207025" y="4491245"/>
            <a:ext cx="5520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362"/>
              </a:spcBef>
              <a:spcAft>
                <a:spcPts val="0"/>
              </a:spcAft>
              <a:buClr>
                <a:srgbClr val="1E293B"/>
              </a:buClr>
              <a:buSzPts val="1328"/>
              <a:buFont typeface="Malgun Gothic"/>
              <a:buNone/>
            </a:pPr>
            <a:r>
              <a:rPr lang="en-US" sz="127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항상 valid == 0으로 판단됨</a:t>
            </a:r>
            <a:endParaRPr sz="127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62"/>
              </a:spcBef>
              <a:spcAft>
                <a:spcPts val="0"/>
              </a:spcAft>
              <a:buClr>
                <a:srgbClr val="1E293B"/>
              </a:buClr>
              <a:buSzPts val="1328"/>
              <a:buFont typeface="Malgun Gothic"/>
              <a:buNone/>
            </a:pPr>
            <a:r>
              <a:rPr lang="en-US" sz="127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RR로 선택</a:t>
            </a:r>
            <a:endParaRPr sz="127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실험 환경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365760" y="1097280"/>
            <a:ext cx="11457300" cy="55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Vortex Configuration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5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{94AF295B-5DCE-40FF-BFA2-DB97A4DC90DB}</a:tableStyleId>
              </a:tblPr>
              <a:tblGrid>
                <a:gridCol w="2286000"/>
                <a:gridCol w="32004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Warps per core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Threads per warp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L1 D-cache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16KB, 4-way, 4 banks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L2 cache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1MB, 8-way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LSU lanes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15"/>
          <p:cNvSpPr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Workloads</a:t>
            </a:r>
            <a:r>
              <a:rPr b="1" lang="en-US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-input 변경필요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6675120" y="169164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kmeans: -f100 -p1000 (cache-sensitive)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hotspot: 512 1 2 (memory-bound)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: 64×64×8 (spatial locality)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sgemm3: matrix size 128x128, tile size 32x32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6675120" y="397845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Comparison Policies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6675120" y="406908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RR: Round Robin (baseline)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GTO: Greedy Then Oldest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gCAWS: greedy Criticality-Aware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iPAWS: Adaptive (gCAWS / RR)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결과 (1): kmeans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640080" y="5349240"/>
            <a:ext cx="10881360" cy="118872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822960" y="5440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B453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822960" y="5715000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 IPC +11.9% (RR 대비)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MPKI 도 +12.2% 증가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401" y="1588187"/>
            <a:ext cx="8861201" cy="35444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결과 (2): sgemm3 -ipaws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문제점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365760" y="1097280"/>
            <a:ext cx="11457300" cy="55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80160"/>
            <a:ext cx="5303400" cy="38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7"/>
          <p:cNvSpPr/>
          <p:nvPr/>
        </p:nvSpPr>
        <p:spPr>
          <a:xfrm>
            <a:off x="6400800" y="13716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400800" y="178308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gCAWS: IPC -15% (큰 손해)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RR / GTO: 거의 동일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Malgun Gothic"/>
              <a:buChar char="•"/>
            </a:pPr>
            <a:r>
              <a:rPr b="1" lang="en-US" sz="1200">
                <a:solidFill>
                  <a:srgbClr val="059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iPAWS: GTO를 선택 → 함정 회피!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6400800" y="33832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6400800" y="3794760"/>
            <a:ext cx="5029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Memory latency가 주 bottleneck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(scoreboard_lsu = 73%)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Bank conflict 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scheduler가 풀 압박 없음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gCAWS의 churn이 오히려 손해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40080" y="5349240"/>
            <a:ext cx="10881300" cy="118860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822960" y="544068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Variance Reduction = iPAWS의 핵심 가치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822960" y="5806440"/>
            <a:ext cx="10789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iPAWS가 hotspot에서 RR/GTO 선택 → gCAWS -15% 함정 회피 (worst-case avoidance)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이게 단일 정책 대비 iPAWS의 진짜 가치 — 모든 워크로드에서 robust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종합 결과: 워크로드별 정책 비교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640075" y="5313273"/>
            <a:ext cx="10881300" cy="12246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8"/>
          <p:cNvPicPr preferRelativeResize="0"/>
          <p:nvPr/>
        </p:nvPicPr>
        <p:blipFill rotWithShape="1">
          <a:blip r:embed="rId3">
            <a:alphaModFix/>
          </a:blip>
          <a:srcRect b="49686" l="0" r="557" t="0"/>
          <a:stretch/>
        </p:blipFill>
        <p:spPr>
          <a:xfrm>
            <a:off x="655313" y="1627262"/>
            <a:ext cx="10881375" cy="36034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8"/>
          <p:cNvSpPr/>
          <p:nvPr/>
        </p:nvSpPr>
        <p:spPr>
          <a:xfrm>
            <a:off x="822950" y="5381303"/>
            <a:ext cx="106986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bfs:		branch &amp; memory intensive (spatial locality + irregular access pattern)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kmeans:		memory intensive (streaming + regular access pattern)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hotspot:		compute intensive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sgemm3:	compute intensive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streamcluster:	memory intensive (streaming access pattern </a:t>
            </a: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only</a:t>
            </a: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b="1"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 = kmeans</a:t>
            </a:r>
            <a:r>
              <a:rPr b="1"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제외하곤 RR에 가까운 결과를 보여줌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종합 결과: 워크로드별 정책 비교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365760" y="1097280"/>
            <a:ext cx="11457300" cy="55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9"/>
          <p:cNvPicPr preferRelativeResize="0"/>
          <p:nvPr/>
        </p:nvPicPr>
        <p:blipFill rotWithShape="1">
          <a:blip r:embed="rId3">
            <a:alphaModFix/>
          </a:blip>
          <a:srcRect b="0" l="0" r="0" t="49305"/>
          <a:stretch/>
        </p:blipFill>
        <p:spPr>
          <a:xfrm>
            <a:off x="625025" y="1613663"/>
            <a:ext cx="10941950" cy="363067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9"/>
          <p:cNvSpPr/>
          <p:nvPr/>
        </p:nvSpPr>
        <p:spPr>
          <a:xfrm>
            <a:off x="640075" y="5313273"/>
            <a:ext cx="10881300" cy="12246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822950" y="5381303"/>
            <a:ext cx="106986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bfs:		branch &amp; memory intensive (spatial locality + irregular access pattern)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kmeans:		memory intensive (streaming + regular access pattern)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hotspot:		compute intensive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sgemm3:	compute intensive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streamcluster:	memory intensive (streaming access pattern only)</a:t>
            </a:r>
            <a:endParaRPr sz="11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Char char="•"/>
            </a:pPr>
            <a:r>
              <a:rPr b="1" lang="en-US"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 = kmeans를 제외하곤 RR에 가까운 결과를 보여줌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iPAWS의 적응적 선택 동작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워크로드별 iPAWS 판정 + 최종 정책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8" name="Google Shape;328;p20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{94AF295B-5DCE-40FF-BFA2-DB97A4DC90DB}</a:tableStyleId>
              </a:tblPr>
              <a:tblGrid>
                <a:gridCol w="2711825"/>
                <a:gridCol w="2711825"/>
                <a:gridCol w="2711825"/>
                <a:gridCol w="29287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Workload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판정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kmeans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B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6B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convex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RR</a:t>
                      </a:r>
                      <a:endParaRPr sz="1000" u="none" cap="none" strike="noStrike">
                        <a:solidFill>
                          <a:srgbClr val="99999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596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+11.5%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hotspot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B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>
                          <a:solidFill>
                            <a:srgbClr val="2F6B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convex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RR</a:t>
                      </a:r>
                      <a:endParaRPr>
                        <a:solidFill>
                          <a:srgbClr val="999999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6B72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-0.2%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sgemm3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B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6B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convex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RR</a:t>
                      </a:r>
                      <a:endParaRPr>
                        <a:solidFill>
                          <a:srgbClr val="999999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596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+3.0%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streamcluster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6B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>
                          <a:solidFill>
                            <a:srgbClr val="2F6B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convex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RR</a:t>
                      </a:r>
                      <a:endParaRPr>
                        <a:solidFill>
                          <a:srgbClr val="999999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6B728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bfs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2F6B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convex</a:t>
                      </a:r>
                      <a:endParaRPr b="1" sz="1000" u="none" cap="none" strike="noStrike">
                        <a:solidFill>
                          <a:srgbClr val="2F6B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99999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RR</a:t>
                      </a:r>
                      <a:endParaRPr>
                        <a:solidFill>
                          <a:srgbClr val="999999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6B728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9" name="Google Shape;329;p20"/>
          <p:cNvSpPr/>
          <p:nvPr/>
        </p:nvSpPr>
        <p:spPr>
          <a:xfrm>
            <a:off x="640080" y="4206240"/>
            <a:ext cx="11155680" cy="219456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047857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iPAWS의 적응적 선택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822960" y="4754880"/>
            <a:ext cx="10789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워크로드 특성을 Adapt phase에서 자동 감지 (mean/max &lt; 0.5 여부)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concave → gCAWS (paper의 GTO 대신) / convex → RR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결과: 단일 정책 (gCAWS, GTO 등) 보다 모든 워크로드에서 안정적 … 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결론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40080" y="1371600"/>
            <a:ext cx="3566160" cy="2743200"/>
          </a:xfrm>
          <a:prstGeom prst="rect">
            <a:avLst/>
          </a:prstGeom>
          <a:solidFill>
            <a:srgbClr val="F8FAFC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822960" y="1554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변형 iPAWS 제안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>
            <a:off x="822960" y="205740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1"/>
          <p:cNvSpPr/>
          <p:nvPr/>
        </p:nvSpPr>
        <p:spPr>
          <a:xfrm>
            <a:off x="822960" y="224028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Execute phase의 GTO를 gCAWS로 대체.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 단독보다 우수 + iPAWS의 robustness 유지.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4389120" y="1371600"/>
            <a:ext cx="3566160" cy="2743200"/>
          </a:xfrm>
          <a:prstGeom prst="rect">
            <a:avLst/>
          </a:prstGeom>
          <a:solidFill>
            <a:srgbClr val="F8FAFC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4572000" y="1554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b="1" lang="en-US" sz="14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Variance Reduction 입증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21"/>
          <p:cNvCxnSpPr/>
          <p:nvPr/>
        </p:nvCxnSpPr>
        <p:spPr>
          <a:xfrm>
            <a:off x="4572000" y="205740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21"/>
          <p:cNvSpPr/>
          <p:nvPr/>
        </p:nvSpPr>
        <p:spPr>
          <a:xfrm>
            <a:off x="4572000" y="224028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hotspot에서 gCAWS가 RR 대비 85% 성능,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algun Gothic"/>
              <a:buNone/>
            </a:pPr>
            <a:r>
              <a:rPr lang="en-US"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iPAWS의 worst-case avoidance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640080" y="4434840"/>
            <a:ext cx="10881360" cy="2011680"/>
          </a:xfrm>
          <a:prstGeom prst="rect">
            <a:avLst/>
          </a:prstGeom>
          <a:solidFill>
            <a:srgbClr val="FEF3C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Malgun Gothic"/>
              <a:buNone/>
            </a:pPr>
            <a:r>
              <a:rPr b="1" lang="en-US" sz="1400">
                <a:solidFill>
                  <a:srgbClr val="B453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Future Work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914410" y="4937760"/>
            <a:ext cx="10789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Malgun Gothic"/>
              <a:buChar char="•"/>
            </a:pPr>
            <a:r>
              <a:rPr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 adapt phase 수정 필요</a:t>
            </a:r>
            <a:endParaRPr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Malgun Gothic"/>
              <a:buChar char="•"/>
            </a:pPr>
            <a:r>
              <a:rPr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RTL (SystemVerilog) 구현 : gCAWS/iPAWS 추가</a:t>
            </a:r>
            <a:endParaRPr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Malgun Gothic"/>
              <a:buChar char="•"/>
            </a:pPr>
            <a:r>
              <a:rPr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FPGA 합성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400"/>
              <a:buFont typeface="Times New Roman"/>
              <a:buNone/>
            </a:pPr>
            <a:r>
              <a:rPr b="1" lang="en-US" sz="5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297680" y="3200400"/>
            <a:ext cx="54864" cy="54864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7863840" y="3200400"/>
            <a:ext cx="54864" cy="54864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