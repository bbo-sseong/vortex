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6858000" cx="12192000"/>
  <p:notesSz cx="6858000" cy="12192000"/>
  <p:embeddedFontLst>
    <p:embeddedFont>
      <p:font typeface="Roboto Mono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2B6A38-1F2F-4F4A-AC78-256B8F9747E1}">
  <a:tblStyle styleId="{A22B6A38-1F2F-4F4A-AC78-256B8F9747E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Mono-boldItalic.fntdata"/><Relationship Id="rId61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Mono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decae371a3_14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g3decae371a3_14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decae371a3_14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ecae371a3_14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decae371a3_14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현실의 문제를 해결하기 위해 많은 스케줄러 논문들은 gpgpu-sim을 사용해 상용 GPU를 모델링하였습니다.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5" name="Google Shape;55;g3decae371a3_14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ecae371a3_14_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g3decae371a3_14_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decae371a3_14_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ecae371a3_14_1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3decae371a3_14_1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c3ache에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decae371a3_14_1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ee0c232e7_2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g3dee0c232e7_2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c3ache의 pway는 pim 연산을 처리하는 영역이고, SPMM 연산 외의 다른 연산에선 N개의 WAY가 모두 정상적으로 쓰이는 구조입니다.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dee0c232e7_2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ecae371a3_14_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3decae371a3_14_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decae371a3_14_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ecae371a3_14_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g3decae371a3_14_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decae371a3_14_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ecae371a3_14_1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decae371a3_14_1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decae371a3_14_1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6b707ee1b_3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g3d6b707ee1b_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L1 data cache 는 4개의 코어마다 공유된다. 따라서 총 L1 data cache는 128*4 = 512kB, 총 FPU는 16*16*(block 개수 = warp size / 16), 즉 32/16) = 512개이다.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MSHR은 알려진 바가 없어 64 entry부터 16 entry까지 변화시켜가며 테스트할 목적이다.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d6b707ee1b_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ecae371a3_14_28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decae371a3_14_2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sgemm 연산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decae371a3_14_2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ecae371a3_14_2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decae371a3_14_2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decae371a3_14_2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cae371a3_14_30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decae371a3_14_30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위 사진과 같이, SIMD width와 최대 active warp 개수를 줄인 결과 메모리 병목이 해결된 부분을 보실 수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적절한 규모의 메모리 시스템을 가질 수 있도록 더 연구해야 합니다.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9" name="Google Shape;189;g3decae371a3_14_3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ecae371a3_14_1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g3decae371a3_14_1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decae371a3_14_1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ecae371a3_14_3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g3decae371a3_14_3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unbounded L1 cache에서 workload 특성에 따른 동일한 개수의 instruction을 수행했을 때 hit/miss 총량입니다.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캐시에 상당히 민감한 워크로드에서 hit/miss</a:t>
            </a:r>
            <a:r>
              <a:rPr lang="en-US" sz="1200">
                <a:solidFill>
                  <a:schemeClr val="dk1"/>
                </a:solidFill>
              </a:rPr>
              <a:t>의 절대량이 민감하지 않은 워크로드에서보다 상대적으로 많은 것을 알 수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intra-wavefront hit per kilo instruction</a:t>
            </a:r>
            <a:r>
              <a:rPr lang="en-US" sz="1200">
                <a:solidFill>
                  <a:schemeClr val="dk1"/>
                </a:solidFill>
              </a:rPr>
              <a:t>의 파이가 큰 것 또한 눈여겨볼만한 부분입니다.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2" name="Google Shape;212;g3decae371a3_14_3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ecae371a3_14_2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3decae371a3_14_2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Intra</a:t>
            </a:r>
            <a:r>
              <a:rPr lang="en-US" sz="1200">
                <a:solidFill>
                  <a:schemeClr val="dk1"/>
                </a:solidFill>
              </a:rPr>
              <a:t> wavefront locality는 wavefront 내에서 메모리를 재사용(temporal)하거나 연속된 주소(spatial)를 접근하는 정도를 나타내고,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Inter wavefront locality는 한 wavefront에서 접근한 메모리를 다른 wavefront에서 재사용하거나 해당 주소에 가까이 있는 주소를 접근하는 정도를 나타냅니다.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2" name="Google Shape;222;g3decae371a3_14_2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ecae371a3_14_2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3decae371a3_14_2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HCS 워크로드 그룹에선 </a:t>
            </a:r>
            <a:r>
              <a:rPr lang="en-US" sz="1200">
                <a:solidFill>
                  <a:schemeClr val="dk1"/>
                </a:solidFill>
              </a:rPr>
              <a:t>cache size가 커짐에 따라 MCS 그룹 대비 많은 성능 이득을 보는 것을 보실 수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irregular한 메모리 access 특성상 HCS 그룹에선 MCS 그룹 대비 size에 대한 성능 저하가 급격함. (cache thrashing이 더 자주 발생함)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3" name="Google Shape;233;g3decae371a3_14_2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ecae371a3_14_2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g3decae371a3_14_2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HCS 그룹 워크로드에선 schedule 가능한 wavefront 수와 IPC가 정비례 관계에 있지 않습니다. 어느정도 wavefront를 제한시켜야 IPC 증가를 얻을 수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이는 후보 wavefront가 많아질수록 intra-wavefront locality가 저하되기 때문입니다., 특히나 이전 슬라이드에서 보셨듯 HCS는 inter-wavefront hit가 상당히 많은 파이를 차지하고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45" name="Google Shape;245;g3decae371a3_14_2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ecae371a3_14_3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decae371a3_14_3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HCS 그룹 워크로드에선 schedule 가능한 wavefront 수와 IPC가 정비례 관계에 있지 않습니다. 어느정도 wavefront를 제한시켜야 IPC 증가를 얻을 수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이는 후보 wavefront가 많아질수록 intra-wavefront locality가 저하되기 때문입니다., 특히나 이전 슬라이드에서 보셨듯 HCS는 inter-wavefront hit가 상당히 많은 파이를 차지하고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55" name="Google Shape;255;g3decae371a3_14_3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ecae371a3_14_3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decae371a3_14_3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논문에선 새로운 기능들이 어떻게 성능에</a:t>
            </a:r>
            <a:r>
              <a:rPr lang="en-US"/>
              <a:t> </a:t>
            </a:r>
            <a:r>
              <a:rPr lang="en-US" sz="1200">
                <a:solidFill>
                  <a:schemeClr val="dk1"/>
                </a:solidFill>
              </a:rPr>
              <a:t>기여할지를 알아보기 위해 gpgpu-sim으로 gpu-like 아키텍처를 모델링하였습니다.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65" name="Google Shape;265;g3decae371a3_14_3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ecae371a3_14_38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g3decae371a3_14_38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baseline GPU-like model에서 논문은 wavefront issue Arbiter를 변경하였습니다.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이 arbiter는 scoreboard와 decode unit에 의해 ibuffer 안에서 ready-to-issue 상태가 된 wavefront들 중 어떤 </a:t>
            </a:r>
            <a:r>
              <a:rPr lang="en-US" sz="1200">
                <a:solidFill>
                  <a:schemeClr val="dk1"/>
                </a:solidFill>
              </a:rPr>
              <a:t>wavefront를 </a:t>
            </a:r>
            <a:r>
              <a:rPr lang="en-US" sz="1200">
                <a:solidFill>
                  <a:schemeClr val="dk1"/>
                </a:solidFill>
              </a:rPr>
              <a:t>issue할지 결정하는 컴포넌트입니다.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75" name="Google Shape;275;g3decae371a3_14_38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ecae371a3_14_3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g3decae371a3_14_3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논문에서 주로 얘기하는 intra-thread locality와 concurrent multithreading의 trade-off에 대한 예시는 bfs로 들 수 있을 것입니다.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intra-thread locality에 의한 intra-wavefront locality를 가지는 </a:t>
            </a:r>
            <a:r>
              <a:rPr lang="en-US" sz="1200">
                <a:solidFill>
                  <a:schemeClr val="dk1"/>
                </a:solidFill>
              </a:rPr>
              <a:t>bfs</a:t>
            </a:r>
            <a:r>
              <a:rPr lang="en-US" sz="1200">
                <a:solidFill>
                  <a:schemeClr val="dk1"/>
                </a:solidFill>
              </a:rPr>
              <a:t> workload를 예시로 들겠습니다.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bfs는 thread id로 노드를 선택하고, edge를 순차적으로 접근합니다. intra-thread spatial locality를 활용한다고 볼 수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working set이 충분히 적어 L1 data cache 안에 모든 working set 내의 thread로 접근하는 노드가 들어갈 수 있다면 스케줄러와 상관 없이 성능이 좋을 겁니다.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만약 단 하나의 wavefront의 working set만이 캐시에 들어갈 수 있다면, 각 wavefront를 하나씩 끝까지 실행하고 다음 wavefront를 가져오는 게 </a:t>
            </a:r>
            <a:r>
              <a:rPr lang="en-US" sz="1200">
                <a:solidFill>
                  <a:schemeClr val="dk1"/>
                </a:solidFill>
              </a:rPr>
              <a:t>miss를 최소화하기 위한 방법일 겁니다</a:t>
            </a:r>
            <a:r>
              <a:rPr lang="en-US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따라서 한정적인 L1 data cache 환경에서는 concurrent multithreading을 무조건 확보하기보단 intra-wavefront locality를 염두에 두고 trade-off 하는 것이 성능을 최적화하는 scheduling policy일 것입니다.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86" name="Google Shape;286;g3decae371a3_14_3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ecae371a3_14_4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g3decae371a3_14_4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Figure 3.를 보시면 높은 성능을 가지는 active wavefronts count가 어느 특정 지점에 있음을 볼 수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만약 scheduler가 workload의 특성에 대한 정보를 알 수 있다면, active wavefront 제한을 해당 지점으로 맞춤으로써 성능 최적화를 이룰 수 있을 것입니다.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SWL은 하나의 레지스터에 최대 active wavefront 개수를 저장합니다. workgroup(CUDA에선 thread block이라고 부릅니다.) 크기에 상관 없이 스케줄러는 최대 레지스터에 지정된 wavefront만큼만 active하게 만듭니다.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만약 barrier 명령어를 만난다면, 모든 workgroup 내의 thread가 barrier에 도착할 때까지 기다려야 하기도 합니다.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SWL은 커널 실행 전에 설정하여야 하며, 사용자가 optimal한 값을 실행 전에 알 수 있어야만 비로소 유용하게 쓰일 수 있습니다.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6" name="Google Shape;296;g3decae371a3_14_4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ecae371a3_14_4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g3decae371a3_14_4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CCWS의 목표는 메모리 시스템에 동시에 접근할 수 있는 wavefront 숫자를 제한하는 데에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이걸 탐지하기 위해 CCWS는 memory stage에 속하는 L1 data cache와 victim tag array(VTA)로부터 feedback을 받습니다.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받은 feedback으로 ‘dynamic locality scoring system’을 구축하여 scheduling 판단의 기반으로 삼습니다.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Figure 6.에서 왜 locality scoring system을 구축해야 하는지에 대한 이유를 찾을 수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각 wavefront마다 얼마나 intra-wavefront locality를 잃었는지에 기반하여 점수(Lost locality score, 이하 LLS, LSS의 max heap에 저장되어 있음)를 매깁니다.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가장 높은 점수를 가진 wavefront들은 스택의 아래쪽으로 내려가게 되며(예: T1 시점의 W2), 그 결과 점수가 낮은 wavefront들(예: T1 시점의 W3)은 cutoff 위쪽으로 밀려 올라가 L1 data cache에 접근하지 못하게 됩니다.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LLS는 시간이 지남 따라 낮아지지만, LLD가 LSS로 VTA hit signal을 보내면 해당 wavefront의 LLS가 상승합니다.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locality scoring system은 intra-wavefront locality를 가장 많이 잃고 있는 wavefront에게 더 많은 L1 data cache 접근 기회를 제공하기 위해, 가장 작은 LLS를 가진 wavefront들이 load instruction을 issue하지 못하도록 합니다.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정렬된 heap(15번에 있는게 max heap)에서 cumulative LLS cutoff(a in Figure 6)보다 위에 위치한 wavefront들은 load를 issue하지 못하도록 제한된다.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cumulative LLS cutoff 값은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NumActiveWaves × BaseLocalityScore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로 정의되며, 여기서 NumActiveWaves는 현재 이 코어에 할당된 wavefront의 개수이다.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6" name="Google Shape;306;g3decae371a3_14_4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6b707ee1b_2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g3d6b707ee1b_2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L1 data cache miss가 다른 wavefront로 인해 evict되지 않았다면 hit였을 수 있다는 걸 밝히기 위해 victim tag array(VTA)를 사용합니다.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VTA의 set들은 이 코어에서 지원되는 모든 wavefront context들 사이에 나뉘어 할당됩니다다. 이를 통해 각 wavefront는 VTA(12)를 가지게 됩니다. </a:t>
            </a:r>
            <a:r>
              <a:rPr lang="en-US" sz="1200">
                <a:solidFill>
                  <a:schemeClr val="dk1"/>
                </a:solidFill>
              </a:rPr>
              <a:t>이때 VTA는 오직 cache tag만 저장한다.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*</a:t>
            </a:r>
            <a:r>
              <a:rPr lang="en-US" sz="1200">
                <a:solidFill>
                  <a:schemeClr val="dk1"/>
                </a:solidFill>
              </a:rPr>
              <a:t>VTA는 victim cache의 변형된 형태.</a:t>
            </a:r>
            <a:r>
              <a:rPr lang="en-US" sz="1200">
                <a:solidFill>
                  <a:schemeClr val="dk1"/>
                </a:solidFill>
              </a:rPr>
              <a:t>victim cache는 작은 fully-associative cache로, 상위 cache의 replacement victim으로 지정되어 evict되는 cache line을 임시로 저장한다.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L1 data cache에서 miss가 발생하고 새로운 cache line이 예약될 때, 해당 line을 예약한 wavefront의 ID(WID)가 tag와 함께 기록된다(13).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이후 해당 cache line이 cache에서 eviction되면, 그 tag 정보는 해당 wavefront에 할당된 VTA 영역에 기록된다.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L1 data cache에서 miss가 발생할 때마다 VTA를 탐색하고, 해당 tag가 해당 wavefront의 VTA 영역에서 발견된다면, LLD는 locality scoring system에 VTA hit 신호를 보냅니다(14).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한 번 L1 data cache로 들어왔다가 evict된 캐시를 또 불러와야 하는 상황을 탐지할 수 있으므로, LLS 점수에 반영할 수 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0" name="Google Shape;320;g3d6b707ee1b_2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6b707ee1b_2_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d6b707ee1b_2_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VTA hit일 때 wavefront의 LLS에 LLDS 값만큼 반영하게 됩니다.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기본적으로 총 VTA hit 수를 issue된 instruction 수로 나눈 값입니다. 이는 instruction마다 VTA hit 빈도라고 말할 수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이 값이 높으면 자연스럽게 다른 wavefront에 의해 evict된 횟수가 많다는 뜻이므로, locality를 자주 잃는다는 뜻입니다.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이러면 LLS값이 거의 항상 높아지면서  다른 wavefront의 L1 data cache 접근을 막아 locality를 잃지 않으며 load 명령을 처리할 수 있게 합니다.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Kthrottle은 상수 값으로, 얼마나 throttling을 적용할건지를 의미합니다. 숫자가 크면 다른 wavefront가 더 cutoff line에 걸리기 쉽게 됩니다.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CumLLSCutoff 값은 cumulative LLS cutoff 값으로 active waves가 적어지면 자연스럽게 적어져 active wave에 맞는 throttling 값을 적용하도록 합니다.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33" name="Google Shape;333;g3d6b707ee1b_2_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ecae371a3_14_2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g3decae371a3_14_2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캐시 민감한 BFS, Kmeans 같은 워크로드를 HCS, 중간 정도는 MCS, cache insensitive는 CI로 세 워크로드 그룹을 짜 성능을 측정했습니다.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43" name="Google Shape;343;g3decae371a3_14_2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ecae371a3_14_2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g3decae371a3_14_2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loose round robin(round-robin이지만, 당장 돌릴 수 없는 wavefront를 만날 경우, 다음 순서의 wavefront를 수행), GTO(oldest한 wavefront부터 우선적으로 실행. wavefront stall 나면 그때 switch), 2lvl-gto(그룹 별로 gto, 그룹 내부에선 round-robin으로 wavefront switch함), best-swl(SWL 사용한 것. 사용자가 항상 최적의 wavefront limit을 걸었다고 추정함, SWL 내에선 GTO로 스케줄링), ccws, 각 scheduler+belady-optimal cache replacement policy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총 10개의 조합으로 성능을 측정하였습니다.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53" name="Google Shape;353;g3decae371a3_14_2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6b707ee1b_2_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g3d6b707ee1b_2_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앞선 Figure 7.에서 볼 수 있듯, HCS 워크로드 그룹에서 CCWS가 Best-SWL에 근접한 성능을 내고 있다는 것을 볼 수 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실제로 </a:t>
            </a:r>
            <a:r>
              <a:rPr lang="en-US" sz="1200">
                <a:solidFill>
                  <a:schemeClr val="dk1"/>
                </a:solidFill>
              </a:rPr>
              <a:t>Miss per kilo instruction 측정에서 두 조합이 가장 낮은 MPKI를 보인다.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 MCS, CI의 경우 ccws가 평소엔 다른 스케줄링 policy와 비슷한 성능을 내고 있음을 보여준다.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63" name="Google Shape;363;g3d6b707ee1b_2_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d6b707ee1b_2_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g3d6b707ee1b_2_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LRR이 상대적으로 낮은 성능을 보이는 가운데 </a:t>
            </a:r>
            <a:r>
              <a:rPr lang="en-US" sz="1200">
                <a:solidFill>
                  <a:schemeClr val="dk1"/>
                </a:solidFill>
              </a:rPr>
              <a:t>CCWS가 </a:t>
            </a:r>
            <a:r>
              <a:rPr lang="en-US" sz="1200">
                <a:solidFill>
                  <a:schemeClr val="dk1"/>
                </a:solidFill>
              </a:rPr>
              <a:t>Best-SWL 수준의 성능을 낸 것은 wavefront 간 cache 간섭을 줄임으로써 intra-wavefront locality를 효과적으로 보존하고, 그 결과 miss를 감소시킨 데에 있음을 위 도표에서 확인할 수 있다.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72" name="Google Shape;372;g3d6b707ee1b_2_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ecae371a3_14_2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g3decae371a3_14_27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Input size와 cache size에  따른 HCS에서 gto와 ccws 성능 차이입니다.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input size가 커질 수록 적은 cache 용량에서 gto와 CCWS의 격차가 더 큼을 알 수 있습니다.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input size가 커질수록, gto는 모든 input size에서 성능이 비슷하지만, CCWS는 input size가 커지면 커질수록 상대적으로 더 나은 성능(ipc)을 입니다.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81" name="Google Shape;381;g3decae371a3_14_27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6b707ee1b_2_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g3d6b707ee1b_2_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VTA가 지나치게 커질 경우 eviction 추적이 너무 빈번해져 throttling 효과가 약화되고, 더 많은 wavefront가 동시에 load issue에 참여하게 되어 intra-wavefront locality가 훼손되며 성능이 저하된다.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이 외에도 논문에서 CCWS의 옵션을 변경해가면서 측정한 도표가 있다.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추후에 우리 팀이 schedulder를 새로 개발하게 되면, 본 논문처럼 주요 병목 지점 뿐만 아니라, 다양한 configuration과 에서의 성능을 측정하여 결과에 설득력을 주는 것이 타당하다고 생각한다.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91" name="Google Shape;391;g3d6b707ee1b_2_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ecae371a3_0_10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g3decae371a3_0_1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decae371a3_0_1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ecae371a3_0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g3decae371a3_0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decae371a3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ecae371a3_0_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g3decae371a3_0_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GTO는 같은 warp를 연속 실행 → 해당 warp가 방금 load한 graph node의 neighbor 데이터가 아직 L1에 있을 때 계속 작업 → load latency 48→44 cycles 감소 → 전체 cycles 단축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ibuffer stalls가 늘어난 이유: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Greedy : 특정 워프만 우선 인출(Fetch)하여 나머지 워프의 I-buffer Stall 증가 (+17%p)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정상적으로 gto가 동작하긴 함.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33" name="Google Shape;433;g3decae371a3_0_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ecae371a3_0_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decae371a3_0_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스케줄러 정책은 여러 ready warp중 어떤 것을 고를까 결정하는 로직인데, 선택지 자체가 없으니 어떤 정책을 써도 결과가 같음. 즉, 스케줄러가 의미가 없는 상황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43" name="Google Shape;443;g3decae371a3_0_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decae371a3_0_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g3decae371a3_0_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Synchronization : Work Group 내 모든 Warp가 연산을 완료해야만 코어 Commit 가능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Bottleneck : 가장 늦게 끝나는 1개의 Warp가 전체 Work Group의 대기 시간을 지배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3" name="Google Shape;463;g3decae371a3_0_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ecae371a3_0_1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5" name="Google Shape;475;g3decae371a3_0_1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nInst * w.CPIavg(명령어 수 격차를 '예상 실행 시간'으로 환산)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decae371a3_0_1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ecae371a3_0_1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g3decae371a3_0_1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decae371a3_0_1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ecae371a3_0_1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decae371a3_0_1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누가(PC), 어디(주소)를 호출했는지 256-entry 카운터로 기록하여 캐시 히트 여부를 예측.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Cache Partitioning :</a:t>
            </a:r>
            <a:r>
              <a:rPr lang="en-US" sz="1500">
                <a:solidFill>
                  <a:schemeClr val="dk1"/>
                </a:solidFill>
              </a:rPr>
              <a:t> L1 데이터 캐시를 분할 -&gt; </a:t>
            </a:r>
            <a:r>
              <a:rPr b="1" lang="en-US" sz="1500">
                <a:solidFill>
                  <a:schemeClr val="dk1"/>
                </a:solidFill>
              </a:rPr>
              <a:t>Critical Warp 전용 캐시</a:t>
            </a:r>
            <a:r>
              <a:rPr lang="en-US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96" name="Google Shape;496;g3decae371a3_0_1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ecae371a3_0_2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3decae371a3_0_2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CCBP는 **"critical warp가 쓸 데이터냐"**만 신경 쓰고, SHiP는 **"누구든 쓸 데이터냐"**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decae371a3_0_2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ecae371a3_0_19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g3decae371a3_0_1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decae371a3_0_1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ecae371a3_0_28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0" name="Google Shape;520;g3decae371a3_0_2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CCBP는 **"critical warp가 쓸 데이터냐"**만 신경 쓰고, SHiP는 **"누구든 쓸 데이터냐"**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decae371a3_0_2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ecae371a3_0_3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g3decae371a3_0_3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decae371a3_0_3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ecae371a3_5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g3decae371a3_5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GPU 워크로드에서 GTO가 더 성능이 잘 나오는 경우도 있고 RR이 성능이 더 잘나오는 경우도 있음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그러나 단순 캐시 히트로만 판단하기엔 예외적 병목 현상이 존재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50" name="Google Shape;550;g3decae371a3_5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ecae371a3_5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g3decae371a3_5_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선호 워크로드를 판단하기 위해 instruction issue 패턴을 확인, 첫 번째 워프가 실행될 때까지 지속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GTO friendly는 GTO로 실행하면 특정 워프만 더 실행하므로 그래프로 그릴 시 concave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RR friendly는 GTO로 실행해도 어느정도 균일하게, convex하게 그려짐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비교 지표인 inst_threshold 기준(그래프 삼각형) 이 영역보다 많이 실행되면 RR, 적으면 GTO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61" name="Google Shape;561;g3decae371a3_5_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d6b707ee1b_1_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d6b707ee1b_1_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앞서 본 식을 그대로 적용하면 그래프 (a)와 같이 잘못 판단하는 경우가 생김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oldest지만 issue되지 않은 명령어를 카운트해서 WOI(warp of interest)를 확인, 이 이전 워프는 고려하지 않음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barrier synchronization, 즉 __syncthreads같이 동기화를 위해 stall하는 경우 왜곡됨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barrier를 만나 기다리는 시간을 score에 합산해서 계산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ecae371a3_5_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g3decae371a3_5_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GTO로 판단 시 recover를 거치지 않고 계속 실행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RR로 판단되면 recover 단계에서 least issued warp를 우선하여 이슈 비율을 맞춤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84" name="Google Shape;584;g3decae371a3_5_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d6b707ee1b_1_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g3d6b707ee1b_1_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iPAWS는 RR friendly workload를, 맞지 않는 GTO를 사용했을때 대비 70%의 성능 향상을 보임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RR-GTO 조합 외에도 CCWS(cache aware), MASCAR(메모리 aware) 조합에서도 좋은 성능을 냄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범용 GPU로서의 좋은 성능을 낼 수 있다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앞서 소개한 두 논문의 아이디어를 조합하여 구현해보는 것을 초안으로 잡고 있음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실행 초기 패턴을 확인해서 워크로드 성향을 예측하는 방법을 고민해보기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3" name="Google Shape;593;g3d6b707ee1b_1_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RP_MASTER">
  <p:cSld name="URP_MASTER">
    <p:bg>
      <p:bgPr>
        <a:solidFill>
          <a:srgbClr val="FFFFF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" name="Google Shape;10;p3"/>
          <p:cNvCxnSpPr/>
          <p:nvPr/>
        </p:nvCxnSpPr>
        <p:spPr>
          <a:xfrm>
            <a:off x="658368" y="658368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3"/>
          <p:cNvSpPr/>
          <p:nvPr/>
        </p:nvSpPr>
        <p:spPr>
          <a:xfrm>
            <a:off x="658368" y="256032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Malgun Gothic"/>
              <a:buNone/>
            </a:pPr>
            <a:r>
              <a:rPr b="1" lang="en-US" sz="85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URP MEETING</a:t>
            </a:r>
            <a:endParaRPr sz="8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spcBef>
                <a:spcPts val="0"/>
              </a:spcBef>
              <a:buNone/>
              <a:defRPr b="0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spcBef>
                <a:spcPts val="0"/>
              </a:spcBef>
              <a:buNone/>
              <a:defRPr b="0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spcBef>
                <a:spcPts val="0"/>
              </a:spcBef>
              <a:buNone/>
              <a:defRPr b="0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spcBef>
                <a:spcPts val="0"/>
              </a:spcBef>
              <a:buNone/>
              <a:defRPr b="0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spcBef>
                <a:spcPts val="0"/>
              </a:spcBef>
              <a:buNone/>
              <a:defRPr b="0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spcBef>
                <a:spcPts val="0"/>
              </a:spcBef>
              <a:buNone/>
              <a:defRPr b="0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spcBef>
                <a:spcPts val="0"/>
              </a:spcBef>
              <a:buNone/>
              <a:defRPr b="0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spcBef>
                <a:spcPts val="0"/>
              </a:spcBef>
              <a:buNone/>
              <a:defRPr b="0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Relationship Id="rId4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Relationship Id="rId4" Type="http://schemas.openxmlformats.org/officeDocument/2006/relationships/image" Target="../media/image19.png"/><Relationship Id="rId5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Relationship Id="rId4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0.png"/><Relationship Id="rId4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0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2.png"/><Relationship Id="rId4" Type="http://schemas.openxmlformats.org/officeDocument/2006/relationships/image" Target="../media/image5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46.png"/><Relationship Id="rId6" Type="http://schemas.openxmlformats.org/officeDocument/2006/relationships/image" Target="../media/image3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841248" y="1481328"/>
            <a:ext cx="91440" cy="208483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1188720" y="1389888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Progress Review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188720" y="2084832"/>
            <a:ext cx="569682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Vortex-based Microarchitectural Benchmarking: Scheduler &amp; Cache</a:t>
            </a:r>
            <a:endParaRPr sz="1600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1188720" y="276148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4/17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658368" y="859536"/>
            <a:ext cx="6217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658368" y="1737360"/>
            <a:ext cx="10546080" cy="4187952"/>
          </a:xfrm>
          <a:prstGeom prst="roundRect">
            <a:avLst>
              <a:gd fmla="val 305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987552" y="2029968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1780057" y="2029968"/>
            <a:ext cx="420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Configuration 선정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2" name="Google Shape;32;p5"/>
          <p:cNvCxnSpPr/>
          <p:nvPr/>
        </p:nvCxnSpPr>
        <p:spPr>
          <a:xfrm>
            <a:off x="987550" y="2680624"/>
            <a:ext cx="9209253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5"/>
          <p:cNvSpPr/>
          <p:nvPr/>
        </p:nvSpPr>
        <p:spPr>
          <a:xfrm>
            <a:off x="987552" y="3136392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" name="Google Shape;34;p5"/>
          <p:cNvCxnSpPr/>
          <p:nvPr/>
        </p:nvCxnSpPr>
        <p:spPr>
          <a:xfrm>
            <a:off x="987550" y="3831336"/>
            <a:ext cx="9209253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5"/>
          <p:cNvSpPr/>
          <p:nvPr/>
        </p:nvSpPr>
        <p:spPr>
          <a:xfrm>
            <a:off x="987552" y="4190082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58368" y="647395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Malgun Gothic"/>
              <a:buNone/>
            </a:pPr>
            <a:r>
              <a:rPr lang="en-US" sz="80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[팀명] · [작성자]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5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8" name="Google Shape;38;p5"/>
          <p:cNvCxnSpPr/>
          <p:nvPr/>
        </p:nvCxnSpPr>
        <p:spPr>
          <a:xfrm>
            <a:off x="987550" y="4860128"/>
            <a:ext cx="9209253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5"/>
          <p:cNvSpPr/>
          <p:nvPr/>
        </p:nvSpPr>
        <p:spPr>
          <a:xfrm>
            <a:off x="987552" y="5237567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780032" y="3145543"/>
            <a:ext cx="420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GTO/RR 구현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780057" y="4317781"/>
            <a:ext cx="420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논문 리뷰 : CAWA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780032" y="5224368"/>
            <a:ext cx="420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논문 리뷰 : iPAWS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0" y="0"/>
            <a:ext cx="121917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41248" y="2066544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000"/>
              <a:buFont typeface="Malgun Gothic"/>
              <a:buNone/>
            </a:pPr>
            <a:r>
              <a:rPr b="1" lang="en-US" sz="10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[SECTION]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41248" y="2359152"/>
            <a:ext cx="5943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[Configuration </a:t>
            </a:r>
            <a:r>
              <a:rPr b="1" lang="en-US" sz="28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선정</a:t>
            </a:r>
            <a:r>
              <a:rPr b="1" lang="en-US" sz="28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" name="Google Shape;51;p6"/>
          <p:cNvCxnSpPr/>
          <p:nvPr/>
        </p:nvCxnSpPr>
        <p:spPr>
          <a:xfrm>
            <a:off x="841248" y="3785616"/>
            <a:ext cx="1042410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658368" y="1719072"/>
            <a:ext cx="104058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선정 배경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8539150" y="2212975"/>
            <a:ext cx="21609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7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75" y="2345226"/>
            <a:ext cx="4211400" cy="315628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7"/>
          <p:cNvSpPr txBox="1"/>
          <p:nvPr/>
        </p:nvSpPr>
        <p:spPr>
          <a:xfrm>
            <a:off x="658375" y="5633750"/>
            <a:ext cx="42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CCWS </a:t>
            </a:r>
            <a:r>
              <a:rPr lang="en-US"/>
              <a:t>논문에서 사용된 config (GTX285)</a:t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5492300" y="5633750"/>
            <a:ext cx="42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Tesla </a:t>
            </a:r>
            <a:r>
              <a:rPr lang="en-US"/>
              <a:t>아키텍처 스펙</a:t>
            </a:r>
            <a:r>
              <a:rPr lang="en-US"/>
              <a:t>(GTX285)</a:t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4816575" y="6331050"/>
            <a:ext cx="793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white paper: [</a:t>
            </a:r>
            <a:r>
              <a:rPr lang="en-US"/>
              <a:t>NVIDIA’s Next Generation Compute Architecture: Fermi]</a:t>
            </a:r>
            <a:endParaRPr/>
          </a:p>
        </p:txBody>
      </p:sp>
      <p:pic>
        <p:nvPicPr>
          <p:cNvPr id="66" name="Google Shape;6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7925" y="2464638"/>
            <a:ext cx="5648325" cy="29527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" name="Google Shape;67;p7"/>
          <p:cNvSpPr/>
          <p:nvPr/>
        </p:nvSpPr>
        <p:spPr>
          <a:xfrm>
            <a:off x="7854550" y="2578300"/>
            <a:ext cx="1255500" cy="2785500"/>
          </a:xfrm>
          <a:prstGeom prst="rect">
            <a:avLst/>
          </a:prstGeom>
          <a:solidFill>
            <a:srgbClr val="2F6BFF">
              <a:alpha val="0"/>
            </a:srgbClr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760775" y="6331050"/>
            <a:ext cx="502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r>
              <a:rPr lang="en-US"/>
              <a:t>Cache-Conscious Wavefront Scheduling]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658368" y="1719072"/>
            <a:ext cx="104058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선정 배경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8539150" y="2212975"/>
            <a:ext cx="21609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8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0" y="2433125"/>
            <a:ext cx="3991724" cy="29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 txBox="1"/>
          <p:nvPr/>
        </p:nvSpPr>
        <p:spPr>
          <a:xfrm>
            <a:off x="748000" y="5316825"/>
            <a:ext cx="42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CAWS 논문에서 사용된 config (GTX480)</a:t>
            </a:r>
            <a:endParaRPr/>
          </a:p>
        </p:txBody>
      </p:sp>
      <p:pic>
        <p:nvPicPr>
          <p:cNvPr id="81" name="Google Shape;8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9400" y="2364063"/>
            <a:ext cx="5648325" cy="29527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" name="Google Shape;82;p8"/>
          <p:cNvSpPr/>
          <p:nvPr/>
        </p:nvSpPr>
        <p:spPr>
          <a:xfrm>
            <a:off x="9174250" y="2381800"/>
            <a:ext cx="1362300" cy="2935200"/>
          </a:xfrm>
          <a:prstGeom prst="rect">
            <a:avLst/>
          </a:prstGeom>
          <a:solidFill>
            <a:srgbClr val="2F6BFF">
              <a:alpha val="0"/>
            </a:srgbClr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 txBox="1"/>
          <p:nvPr/>
        </p:nvSpPr>
        <p:spPr>
          <a:xfrm>
            <a:off x="4816575" y="6331050"/>
            <a:ext cx="793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white paper: [NVIDIA’s Next Generation Compute Architecture: Fermi] GF100 (GTX480)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658368" y="1719072"/>
            <a:ext cx="104058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선정 배경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539150" y="2212975"/>
            <a:ext cx="21609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9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914400" y="5460200"/>
            <a:ext cx="680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Downscaled GPU on vortex. 1/12 TFLOPS, maintaining compute-memory ratio</a:t>
            </a:r>
            <a:endParaRPr/>
          </a:p>
        </p:txBody>
      </p:sp>
      <p:sp>
        <p:nvSpPr>
          <p:cNvPr id="95" name="Google Shape;95;p9"/>
          <p:cNvSpPr txBox="1"/>
          <p:nvPr/>
        </p:nvSpPr>
        <p:spPr>
          <a:xfrm>
            <a:off x="658375" y="6300025"/>
            <a:ext cx="812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C3ache, Xiaojie Li et al.</a:t>
            </a:r>
            <a:endParaRPr/>
          </a:p>
        </p:txBody>
      </p:sp>
      <p:pic>
        <p:nvPicPr>
          <p:cNvPr id="96" name="Google Shape;9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3090438"/>
            <a:ext cx="4774399" cy="170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4100" y="3500738"/>
            <a:ext cx="4918200" cy="114865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658368" y="1719072"/>
            <a:ext cx="104058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선정 배경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8539150" y="2212975"/>
            <a:ext cx="21609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0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10"/>
          <p:cNvSpPr txBox="1"/>
          <p:nvPr/>
        </p:nvSpPr>
        <p:spPr>
          <a:xfrm>
            <a:off x="658375" y="6300025"/>
            <a:ext cx="812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C3ache, Xiaojie Li et al.</a:t>
            </a:r>
            <a:endParaRPr/>
          </a:p>
        </p:txBody>
      </p:sp>
      <p:pic>
        <p:nvPicPr>
          <p:cNvPr id="109" name="Google Shape;10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477" y="1815541"/>
            <a:ext cx="9145035" cy="4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658368" y="1719072"/>
            <a:ext cx="104058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선정 배경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8539150" y="2212975"/>
            <a:ext cx="21609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70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RTX 3090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1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0" name="Google Shape;12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588" y="2212975"/>
            <a:ext cx="5713580" cy="44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658368" y="1719072"/>
            <a:ext cx="104058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선정 배경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7364825" y="2212975"/>
            <a:ext cx="33351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70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SM는 4개의 process block으로 구성.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각 process block은 32의 SIMD width를 가지고 있음.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 내에서 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128kB L1 data cache 공유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총 4(process block)* 32(FPU in process block)*82(SM)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10496개의 FPU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128kB * 82 = 10496kB의 SharedMem/L1 data cache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FPU당 1kB의 L1 data cache를 점유하고 있음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2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1218375" y="6297025"/>
            <a:ext cx="421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 </a:t>
            </a:r>
            <a:r>
              <a:rPr lang="en-US"/>
              <a:t>및 하위 </a:t>
            </a:r>
            <a:r>
              <a:rPr lang="en-US"/>
              <a:t>Process block </a:t>
            </a:r>
            <a:r>
              <a:rPr lang="en-US"/>
              <a:t>구성</a:t>
            </a:r>
            <a:endParaRPr/>
          </a:p>
        </p:txBody>
      </p:sp>
      <p:pic>
        <p:nvPicPr>
          <p:cNvPr id="132" name="Google Shape;13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271" y="2361613"/>
            <a:ext cx="2549125" cy="35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2"/>
          <p:cNvPicPr preferRelativeResize="0"/>
          <p:nvPr/>
        </p:nvPicPr>
        <p:blipFill rotWithShape="1">
          <a:blip r:embed="rId3">
            <a:alphaModFix/>
          </a:blip>
          <a:srcRect b="61285" l="0" r="50908" t="0"/>
          <a:stretch/>
        </p:blipFill>
        <p:spPr>
          <a:xfrm>
            <a:off x="857623" y="2304825"/>
            <a:ext cx="3335220" cy="3685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9163475" y="2293175"/>
            <a:ext cx="24129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한계점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NVIDIA는 pure GPU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Vortex는 CPU-modified GPU.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코어 구성부터 메모리 계층까지 설계 철학이 다르다.</a:t>
            </a:r>
            <a:b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선정 배경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3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691336" y="6351550"/>
            <a:ext cx="78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Vortex: Extending the RISC-V ISA for GPGPU and 3D-GraphicsResearch</a:t>
            </a:r>
            <a:endParaRPr/>
          </a:p>
        </p:txBody>
      </p:sp>
      <p:pic>
        <p:nvPicPr>
          <p:cNvPr id="145" name="Google Shape;14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9500" y="2789050"/>
            <a:ext cx="2689425" cy="7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350" y="3618601"/>
            <a:ext cx="7887101" cy="18093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9503" y="2478250"/>
            <a:ext cx="5449958" cy="3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9163475" y="2293175"/>
            <a:ext cx="24129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선정 배경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4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2172161" y="5617175"/>
            <a:ext cx="78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1/20 downscaled </a:t>
            </a:r>
            <a:r>
              <a:rPr lang="en-US"/>
              <a:t>from</a:t>
            </a:r>
            <a:r>
              <a:rPr lang="en-US"/>
              <a:t> RTX 3090</a:t>
            </a:r>
            <a:endParaRPr/>
          </a:p>
        </p:txBody>
      </p:sp>
      <p:graphicFrame>
        <p:nvGraphicFramePr>
          <p:cNvPr id="159" name="Google Shape;159;p14"/>
          <p:cNvGraphicFramePr/>
          <p:nvPr/>
        </p:nvGraphicFramePr>
        <p:xfrm>
          <a:off x="1824725" y="2903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{A22B6A38-1F2F-4F4A-AC78-256B8F9747E1}</a:tableStyleId>
              </a:tblPr>
              <a:tblGrid>
                <a:gridCol w="3623475"/>
                <a:gridCol w="49190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cluster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lane(thread number)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warp size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L1 data cache (per socket(4 cores))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128KB, 128B line, 16 MSHR, Write through, 8 ways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L3 Unified cache (per cluster)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256kB, 128B line, 16 MSHR, Write back, 16 ways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</a:t>
            </a: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한계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5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691336" y="6351550"/>
            <a:ext cx="78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Vortex: Extending the RISC-V ISA for GPGPU and 3D-GraphicsResearch</a:t>
            </a:r>
            <a:endParaRPr/>
          </a:p>
        </p:txBody>
      </p:sp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44321" l="0" r="0" t="0"/>
          <a:stretch/>
        </p:blipFill>
        <p:spPr>
          <a:xfrm>
            <a:off x="2544825" y="3110625"/>
            <a:ext cx="6381925" cy="25463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" name="Google Shape;171;p15"/>
          <p:cNvSpPr txBox="1"/>
          <p:nvPr/>
        </p:nvSpPr>
        <p:spPr>
          <a:xfrm>
            <a:off x="1079061" y="2574025"/>
            <a:ext cx="784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--app=sgemm3  --cores=8 --threads=32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9163475" y="2293175"/>
            <a:ext cx="24129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한계점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compute-bound로 여겨지는 sgemm3에서조차 잦은 L1 data cache miss로 인해 MSHR이 마비됨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시뮬레이션에 걸리는 시간이 너무 오래 걸림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(멀티코어를 사용할 수 있는지는 확인해봐야 함)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9163475" y="2293175"/>
            <a:ext cx="24129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한계점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compute-bound로 여겨지는 sgemm3에서조차 잦은 L1 data cache miss로 인해 MSHR이 마비됨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그에 반해 memory bank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는 최대로 활용되고 있음을 볼 수 있음.</a:t>
            </a:r>
            <a:b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한계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6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691336" y="6351550"/>
            <a:ext cx="78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Vortex: Extending the RISC-V ISA for GPGPU and 3D-GraphicsResearch</a:t>
            </a:r>
            <a:endParaRPr/>
          </a:p>
        </p:txBody>
      </p:sp>
      <p:pic>
        <p:nvPicPr>
          <p:cNvPr id="184" name="Google Shape;184;p16"/>
          <p:cNvPicPr preferRelativeResize="0"/>
          <p:nvPr/>
        </p:nvPicPr>
        <p:blipFill rotWithShape="1">
          <a:blip r:embed="rId3">
            <a:alphaModFix/>
          </a:blip>
          <a:srcRect b="0" l="0" r="0" t="55379"/>
          <a:stretch/>
        </p:blipFill>
        <p:spPr>
          <a:xfrm>
            <a:off x="1669230" y="3054323"/>
            <a:ext cx="7294100" cy="23323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" name="Google Shape;185;p16"/>
          <p:cNvSpPr txBox="1"/>
          <p:nvPr/>
        </p:nvSpPr>
        <p:spPr>
          <a:xfrm>
            <a:off x="1079061" y="2574025"/>
            <a:ext cx="784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--app=sgemm3  --cores=8 --threads=32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9163475" y="2293175"/>
            <a:ext cx="24129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결론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상용 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를 모델링하여 현실성을 얻고자 하는 부분의 취지는 좋았으나, 저조한 L1 data cache hit ratio로 인해 memory bound, compute bound workload 모두에서 memory 병목이 일어나고 있음.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상용 GPU의 아키텍처 뿐만 아니라 메모리 시스템 규모 또한 반영해야 함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한계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7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691336" y="6351550"/>
            <a:ext cx="78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Vortex: Extending the RISC-V ISA for GPGPU and 3D-GraphicsResearch</a:t>
            </a:r>
            <a:endParaRPr/>
          </a:p>
        </p:txBody>
      </p:sp>
      <p:pic>
        <p:nvPicPr>
          <p:cNvPr id="197" name="Google Shape;1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163" y="3274123"/>
            <a:ext cx="5465475" cy="27885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8" name="Google Shape;198;p17"/>
          <p:cNvSpPr txBox="1"/>
          <p:nvPr/>
        </p:nvSpPr>
        <p:spPr>
          <a:xfrm>
            <a:off x="1079061" y="2574025"/>
            <a:ext cx="784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--cores=16 --warps=4 --threads=4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/>
          <p:nvPr/>
        </p:nvSpPr>
        <p:spPr>
          <a:xfrm>
            <a:off x="0" y="0"/>
            <a:ext cx="121917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841248" y="1533144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000"/>
              <a:buFont typeface="Malgun Gothic"/>
              <a:buNone/>
            </a:pPr>
            <a:r>
              <a:rPr b="1" lang="en-US" sz="10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[SECTION]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841248" y="2019302"/>
            <a:ext cx="5943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Times New Roman"/>
              <a:buNone/>
            </a:pPr>
            <a:r>
              <a:rPr b="1" lang="en-US" sz="31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[논문 리뷰]</a:t>
            </a:r>
            <a:endParaRPr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841252" y="3072376"/>
            <a:ext cx="8821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Times New Roman"/>
              <a:buNone/>
            </a:pPr>
            <a:r>
              <a:rPr lang="en-US" sz="16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Cache-Conscious Wavefront Scheduling. Timothy G. Rogers et al. </a:t>
            </a:r>
            <a:endParaRPr sz="16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8" name="Google Shape;208;p18"/>
          <p:cNvCxnSpPr/>
          <p:nvPr/>
        </p:nvCxnSpPr>
        <p:spPr>
          <a:xfrm>
            <a:off x="841248" y="3925316"/>
            <a:ext cx="1042410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논문이 해결하고자 하는 병목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9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8" name="Google Shape;2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125" y="2289788"/>
            <a:ext cx="5667750" cy="34048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Intra/Inter wavefront locality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0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8" name="Google Shape;2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75" y="2461513"/>
            <a:ext cx="5539695" cy="36931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9" name="Google Shape;2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750" y="2461525"/>
            <a:ext cx="5539699" cy="3693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논문이 해결하고자 하는 병목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1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9" name="Google Shape;2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88" y="2829814"/>
            <a:ext cx="11205374" cy="23248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0" name="Google Shape;240;p21"/>
          <p:cNvSpPr txBox="1"/>
          <p:nvPr/>
        </p:nvSpPr>
        <p:spPr>
          <a:xfrm>
            <a:off x="3266884" y="5154650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HCS </a:t>
            </a:r>
            <a:r>
              <a:rPr lang="en-US"/>
              <a:t>그룹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8567209" y="5154650"/>
            <a:ext cx="10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</a:t>
            </a:r>
            <a:r>
              <a:rPr lang="en-US"/>
              <a:t>CS 그룹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논문이 </a:t>
            </a: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주목한 부분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2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1" name="Google Shape;2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404" y="2521054"/>
            <a:ext cx="6032951" cy="36931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논문이 주목한 부분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3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1" name="Google Shape;2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404" y="2521054"/>
            <a:ext cx="6032951" cy="36931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실험환경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4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1" name="Google Shape;2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2600" y="1640231"/>
            <a:ext cx="7176075" cy="47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주요 변경 사항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25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81" name="Google Shape;281;p25"/>
          <p:cNvPicPr preferRelativeResize="0"/>
          <p:nvPr/>
        </p:nvPicPr>
        <p:blipFill rotWithShape="1">
          <a:blip r:embed="rId3">
            <a:alphaModFix/>
          </a:blip>
          <a:srcRect b="0" l="30891" r="0" t="0"/>
          <a:stretch/>
        </p:blipFill>
        <p:spPr>
          <a:xfrm>
            <a:off x="5899000" y="1086825"/>
            <a:ext cx="3100601" cy="566005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2" name="Google Shape;28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0450" y="1830810"/>
            <a:ext cx="1291075" cy="38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스케줄링 예시: bfs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6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92" name="Google Shape;2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216" y="2458300"/>
            <a:ext cx="7639575" cy="3303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Wavefront Limiting (SWL)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7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02" name="Google Shape;30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325" y="2370800"/>
            <a:ext cx="6229350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CCWS - 목표와 high-level 구현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8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12" name="Google Shape;312;p28"/>
          <p:cNvPicPr preferRelativeResize="0"/>
          <p:nvPr/>
        </p:nvPicPr>
        <p:blipFill rotWithShape="1">
          <a:blip r:embed="rId3">
            <a:alphaModFix/>
          </a:blip>
          <a:srcRect b="15994" l="30166" r="6869" t="45184"/>
          <a:stretch/>
        </p:blipFill>
        <p:spPr>
          <a:xfrm>
            <a:off x="963325" y="2648275"/>
            <a:ext cx="4221325" cy="328322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3" name="Google Shape;31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588" y="1801475"/>
            <a:ext cx="6200775" cy="4381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4" name="Google Shape;314;p28"/>
          <p:cNvSpPr/>
          <p:nvPr/>
        </p:nvSpPr>
        <p:spPr>
          <a:xfrm>
            <a:off x="6970575" y="4131100"/>
            <a:ext cx="389700" cy="1374600"/>
          </a:xfrm>
          <a:prstGeom prst="rect">
            <a:avLst/>
          </a:prstGeom>
          <a:solidFill>
            <a:srgbClr val="2F6BFF">
              <a:alpha val="0"/>
            </a:srgbClr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8"/>
          <p:cNvSpPr/>
          <p:nvPr/>
        </p:nvSpPr>
        <p:spPr>
          <a:xfrm>
            <a:off x="6970575" y="2648275"/>
            <a:ext cx="389700" cy="496500"/>
          </a:xfrm>
          <a:prstGeom prst="rect">
            <a:avLst/>
          </a:prstGeom>
          <a:solidFill>
            <a:srgbClr val="2F6BFF">
              <a:alpha val="0"/>
            </a:srgbClr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6" name="Google Shape;31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5500" y="2706350"/>
            <a:ext cx="2705100" cy="2571750"/>
          </a:xfrm>
          <a:prstGeom prst="rect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CCWS - Lost Intra-Wavefront Locality Detector(LLD)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9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6" name="Google Shape;326;p29"/>
          <p:cNvPicPr preferRelativeResize="0"/>
          <p:nvPr/>
        </p:nvPicPr>
        <p:blipFill rotWithShape="1">
          <a:blip r:embed="rId3">
            <a:alphaModFix/>
          </a:blip>
          <a:srcRect b="15994" l="30166" r="6869" t="45184"/>
          <a:stretch/>
        </p:blipFill>
        <p:spPr>
          <a:xfrm>
            <a:off x="963325" y="2648275"/>
            <a:ext cx="4221325" cy="328322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588" y="1801475"/>
            <a:ext cx="6200775" cy="4381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8" name="Google Shape;328;p29"/>
          <p:cNvSpPr/>
          <p:nvPr/>
        </p:nvSpPr>
        <p:spPr>
          <a:xfrm>
            <a:off x="6970575" y="4131100"/>
            <a:ext cx="389700" cy="1374600"/>
          </a:xfrm>
          <a:prstGeom prst="rect">
            <a:avLst/>
          </a:prstGeom>
          <a:solidFill>
            <a:srgbClr val="2F6BFF">
              <a:alpha val="0"/>
            </a:srgbClr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9"/>
          <p:cNvSpPr/>
          <p:nvPr/>
        </p:nvSpPr>
        <p:spPr>
          <a:xfrm>
            <a:off x="6970575" y="2648275"/>
            <a:ext cx="389700" cy="496500"/>
          </a:xfrm>
          <a:prstGeom prst="rect">
            <a:avLst/>
          </a:prstGeom>
          <a:solidFill>
            <a:srgbClr val="2F6BFF">
              <a:alpha val="0"/>
            </a:srgbClr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CCWS - Lost-Locality Detected(LLDS)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30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541" y="3640528"/>
            <a:ext cx="5132925" cy="703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스케줄러 성능을 측정하기 위한 워크로드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31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9" name="Google Shape;3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8638" y="2462825"/>
            <a:ext cx="7394724" cy="39031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LRR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2LVL-GTO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Best-SWL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CCWS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&lt;Scheduler&gt;-BEL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7" name="Google Shape;357;p32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스케줄러 성능을 측정하기 위한 워크로드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9" name="Google Shape;3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825" y="2150525"/>
            <a:ext cx="6922501" cy="3683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p33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68" name="Google Shape;3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350" y="1770275"/>
            <a:ext cx="10097300" cy="460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p34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77" name="Google Shape;3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0099" y="361788"/>
            <a:ext cx="5179550" cy="613442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35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p35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86" name="Google Shape;3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800" y="2344400"/>
            <a:ext cx="624840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5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번외: input size </a:t>
            </a: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변화에 따른 GTO vs CCWS</a:t>
            </a: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36"/>
          <p:cNvSpPr/>
          <p:nvPr/>
        </p:nvSpPr>
        <p:spPr>
          <a:xfrm>
            <a:off x="658375" y="1770275"/>
            <a:ext cx="108630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p36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96" name="Google Shape;3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62" y="2830776"/>
            <a:ext cx="10453024" cy="23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6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번외: VTA 변화에 따른 CCWS 성능 변화: 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7"/>
          <p:cNvSpPr/>
          <p:nvPr/>
        </p:nvSpPr>
        <p:spPr>
          <a:xfrm>
            <a:off x="0" y="0"/>
            <a:ext cx="121917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841248" y="2066544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000"/>
              <a:buFont typeface="Malgun Gothic"/>
              <a:buNone/>
            </a:pPr>
            <a:r>
              <a:rPr b="1" lang="en-US" sz="10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[SECTION]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p37"/>
          <p:cNvSpPr/>
          <p:nvPr/>
        </p:nvSpPr>
        <p:spPr>
          <a:xfrm>
            <a:off x="841248" y="2359152"/>
            <a:ext cx="5943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[GTO/RR Scheduler </a:t>
            </a:r>
            <a:r>
              <a:rPr b="1" lang="en-US" sz="28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구현</a:t>
            </a:r>
            <a:r>
              <a:rPr b="1" lang="en-US" sz="28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6" name="Google Shape;406;p37"/>
          <p:cNvCxnSpPr/>
          <p:nvPr/>
        </p:nvCxnSpPr>
        <p:spPr>
          <a:xfrm>
            <a:off x="841248" y="3785616"/>
            <a:ext cx="1042410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진행 현황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658368" y="1719072"/>
            <a:ext cx="104058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p38"/>
          <p:cNvSpPr/>
          <p:nvPr/>
        </p:nvSpPr>
        <p:spPr>
          <a:xfrm>
            <a:off x="914400" y="2011680"/>
            <a:ext cx="4918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Times New Roman"/>
              <a:buNone/>
            </a:pPr>
            <a:r>
              <a:rPr b="1" lang="en-US" sz="135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did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38"/>
          <p:cNvSpPr/>
          <p:nvPr/>
        </p:nvSpPr>
        <p:spPr>
          <a:xfrm>
            <a:off x="8551849" y="2593975"/>
            <a:ext cx="216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70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GTO, RR 구현.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취사 선택 가능.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38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17" name="Google Shape;41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275" y="2451100"/>
            <a:ext cx="7734676" cy="34251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"/>
          <p:cNvSpPr/>
          <p:nvPr/>
        </p:nvSpPr>
        <p:spPr>
          <a:xfrm>
            <a:off x="658368" y="859536"/>
            <a:ext cx="6217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Malgun Gothic"/>
              <a:buNone/>
            </a:pPr>
            <a:r>
              <a:rPr b="1" lang="en-US" sz="2600">
                <a:solidFill>
                  <a:srgbClr val="111827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Configuration</a:t>
            </a:r>
            <a:endParaRPr sz="2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4" name="Google Shape;424;p39"/>
          <p:cNvSpPr/>
          <p:nvPr/>
        </p:nvSpPr>
        <p:spPr>
          <a:xfrm>
            <a:off x="658375" y="1447800"/>
            <a:ext cx="10405800" cy="47154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5" name="Google Shape;425;p39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6" name="Google Shape;426;p39"/>
          <p:cNvSpPr txBox="1"/>
          <p:nvPr/>
        </p:nvSpPr>
        <p:spPr>
          <a:xfrm>
            <a:off x="1244950" y="1447800"/>
            <a:ext cx="229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&lt;</a:t>
            </a:r>
            <a:r>
              <a:rPr lang="en-US" sz="1700"/>
              <a:t>configuration 설정값&gt;</a:t>
            </a:r>
            <a:endParaRPr sz="1700"/>
          </a:p>
        </p:txBody>
      </p:sp>
      <p:pic>
        <p:nvPicPr>
          <p:cNvPr id="427" name="Google Shape;4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600" y="1841500"/>
            <a:ext cx="3060700" cy="432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2075" y="2081475"/>
            <a:ext cx="4381500" cy="34480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9" name="Google Shape;429;p39"/>
          <p:cNvSpPr txBox="1"/>
          <p:nvPr/>
        </p:nvSpPr>
        <p:spPr>
          <a:xfrm>
            <a:off x="6213825" y="1628413"/>
            <a:ext cx="229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&lt;bfs&gt;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0"/>
          <p:cNvSpPr/>
          <p:nvPr/>
        </p:nvSpPr>
        <p:spPr>
          <a:xfrm>
            <a:off x="658377" y="859525"/>
            <a:ext cx="8121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벤치마킹 결과 : BFS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40"/>
          <p:cNvSpPr/>
          <p:nvPr/>
        </p:nvSpPr>
        <p:spPr>
          <a:xfrm>
            <a:off x="658368" y="1719072"/>
            <a:ext cx="104058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p40"/>
          <p:cNvSpPr/>
          <p:nvPr/>
        </p:nvSpPr>
        <p:spPr>
          <a:xfrm>
            <a:off x="6629400" y="2140800"/>
            <a:ext cx="4434900" cy="3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GTO와 RR이 정상적으로 구현되었음.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</a:rPr>
              <a:t> Load Latency 8.3% 감소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Greedy : I-buffer Stall 증가 (+17%p)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scheduler idle : 87%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Times New Roman"/>
              <a:buChar char="●"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LSU scoreboard Stall : 95%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Times New Roman"/>
              <a:buNone/>
            </a:pPr>
            <a:r>
              <a:t/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Times New Roman"/>
              <a:buNone/>
            </a:pPr>
            <a:r>
              <a:t/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40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39" name="Google Shape;43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" y="1988400"/>
            <a:ext cx="5781675" cy="40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1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문제점 분석 : Configuration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41"/>
          <p:cNvSpPr/>
          <p:nvPr/>
        </p:nvSpPr>
        <p:spPr>
          <a:xfrm>
            <a:off x="6543300" y="1691425"/>
            <a:ext cx="5342400" cy="48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47" name="Google Shape;447;p41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48" name="Google Shape;44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600" y="1877375"/>
            <a:ext cx="5981700" cy="411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1"/>
          <p:cNvSpPr txBox="1"/>
          <p:nvPr/>
        </p:nvSpPr>
        <p:spPr>
          <a:xfrm>
            <a:off x="6605550" y="1170325"/>
            <a:ext cx="5217900" cy="467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memory bandwidth 문제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-US" sz="1700"/>
              <a:t>스케줄러가 관여할 시간이 없음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-US" sz="1700"/>
              <a:t>configuration 조정 필요</a:t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Irregular memory access 문제</a:t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a. 	bfs workload의 특성 - </a:t>
            </a:r>
            <a:r>
              <a:rPr lang="en-US" sz="1700">
                <a:solidFill>
                  <a:schemeClr val="dk1"/>
                </a:solidFill>
              </a:rPr>
              <a:t>uncoalesced</a:t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b. 	cache miss 방지를 위한 정책 필요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6" name="Google Shape;456;p42"/>
          <p:cNvSpPr/>
          <p:nvPr/>
        </p:nvSpPr>
        <p:spPr>
          <a:xfrm>
            <a:off x="841248" y="1533144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000"/>
              <a:buFont typeface="Malgun Gothic"/>
              <a:buNone/>
            </a:pPr>
            <a:r>
              <a:rPr b="1" lang="en-US" sz="10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[SECTION]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7" name="Google Shape;457;p42"/>
          <p:cNvSpPr/>
          <p:nvPr/>
        </p:nvSpPr>
        <p:spPr>
          <a:xfrm>
            <a:off x="841248" y="2019302"/>
            <a:ext cx="5943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Times New Roman"/>
              <a:buNone/>
            </a:pPr>
            <a:r>
              <a:rPr b="1" lang="en-US" sz="31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1" lang="en-US" sz="31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논문 리뷰</a:t>
            </a:r>
            <a:r>
              <a:rPr b="1" lang="en-US" sz="31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42"/>
          <p:cNvSpPr/>
          <p:nvPr/>
        </p:nvSpPr>
        <p:spPr>
          <a:xfrm>
            <a:off x="841252" y="3072376"/>
            <a:ext cx="8821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CAWA: Coordinated Warp Scheduling and Cache Prioritization for Critical Warp</a:t>
            </a:r>
            <a:endParaRPr sz="16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Times New Roman"/>
              <a:buNone/>
            </a:pPr>
            <a:r>
              <a:rPr lang="en-US" sz="16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Acceleration of GPGPU Workloads</a:t>
            </a:r>
            <a:endParaRPr sz="16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9" name="Google Shape;459;p42"/>
          <p:cNvCxnSpPr/>
          <p:nvPr/>
        </p:nvCxnSpPr>
        <p:spPr>
          <a:xfrm>
            <a:off x="841248" y="3925316"/>
            <a:ext cx="1042410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3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43"/>
          <p:cNvSpPr/>
          <p:nvPr/>
        </p:nvSpPr>
        <p:spPr>
          <a:xfrm>
            <a:off x="658368" y="1719072"/>
            <a:ext cx="104058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7" name="Google Shape;467;p43"/>
          <p:cNvSpPr/>
          <p:nvPr/>
        </p:nvSpPr>
        <p:spPr>
          <a:xfrm>
            <a:off x="5909975" y="1833375"/>
            <a:ext cx="46716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Group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Synchronization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Commit 후 새로운 Work group dispatch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Bottleneck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68" name="Google Shape;468;p43"/>
          <p:cNvCxnSpPr/>
          <p:nvPr/>
        </p:nvCxnSpPr>
        <p:spPr>
          <a:xfrm>
            <a:off x="914400" y="5138928"/>
            <a:ext cx="880110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43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70" name="Google Shape;47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75" y="1833374"/>
            <a:ext cx="5068100" cy="43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3"/>
          <p:cNvSpPr txBox="1"/>
          <p:nvPr/>
        </p:nvSpPr>
        <p:spPr>
          <a:xfrm>
            <a:off x="1562100" y="1833375"/>
            <a:ext cx="180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Group&gt;</a:t>
            </a:r>
            <a:endParaRPr/>
          </a:p>
        </p:txBody>
      </p:sp>
      <p:sp>
        <p:nvSpPr>
          <p:cNvPr id="472" name="Google Shape;472;p43"/>
          <p:cNvSpPr txBox="1"/>
          <p:nvPr/>
        </p:nvSpPr>
        <p:spPr>
          <a:xfrm>
            <a:off x="787400" y="1719075"/>
            <a:ext cx="10224000" cy="43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파이프라인 지연을 유발하는 Critical Warp 식별 및 최적화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4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CPL ( Criticality Prediction Logic )</a:t>
            </a:r>
            <a:endParaRPr b="1" sz="2600">
              <a:solidFill>
                <a:srgbClr val="11182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44"/>
          <p:cNvSpPr/>
          <p:nvPr/>
        </p:nvSpPr>
        <p:spPr>
          <a:xfrm>
            <a:off x="658368" y="1719072"/>
            <a:ext cx="104058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0" name="Google Shape;480;p44"/>
          <p:cNvSpPr/>
          <p:nvPr/>
        </p:nvSpPr>
        <p:spPr>
          <a:xfrm>
            <a:off x="1735800" y="3745100"/>
            <a:ext cx="84156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riticality 카운터로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런타임중에 Ciritical warp를 예측.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nInst: 워크로드 불균형 및 Branch divergence 로 인해 발생한 명령어 수 격차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w.CPIavg​: 워프당 평균 CPI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nStall: resource contention 등으로 인해 발생한 Stall cycle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Times New Roman"/>
              <a:buNone/>
            </a:pPr>
            <a:r>
              <a:t/>
            </a:r>
            <a:endParaRPr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44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82" name="Google Shape;48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700" y="2011175"/>
            <a:ext cx="9427668" cy="124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5"/>
          <p:cNvSpPr/>
          <p:nvPr/>
        </p:nvSpPr>
        <p:spPr>
          <a:xfrm>
            <a:off x="658378" y="859525"/>
            <a:ext cx="8727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gCAWS ( </a:t>
            </a: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Criticality-Aware Warp Scheduler ) 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45"/>
          <p:cNvSpPr/>
          <p:nvPr/>
        </p:nvSpPr>
        <p:spPr>
          <a:xfrm>
            <a:off x="658368" y="1719072"/>
            <a:ext cx="10405800" cy="4443900"/>
          </a:xfrm>
          <a:prstGeom prst="roundRect">
            <a:avLst>
              <a:gd fmla="val 348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736600" y="1866425"/>
            <a:ext cx="9664800" cy="3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87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Times New Roman"/>
              <a:buChar char="●"/>
            </a:pPr>
            <a:r>
              <a:rPr lang="en-US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gto + caws ( criticality aware scheduler )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imes New Roman"/>
              <a:buChar char="○"/>
            </a:pPr>
            <a:r>
              <a:rPr lang="en-US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: CPL 점수가 가장 높은 warp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imes New Roman"/>
              <a:buChar char="■"/>
            </a:pPr>
            <a:r>
              <a:rPr lang="en-US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 : oldest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Times New Roman"/>
              <a:buChar char="○"/>
            </a:pPr>
            <a:r>
              <a:rPr lang="en-US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Execution : 더 긴 Time Slice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45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2" name="Google Shape;492;p45"/>
          <p:cNvSpPr txBox="1"/>
          <p:nvPr/>
        </p:nvSpPr>
        <p:spPr>
          <a:xfrm>
            <a:off x="658375" y="1719075"/>
            <a:ext cx="10405800" cy="444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Warp를 더 자주 , 더 길게 실행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6"/>
          <p:cNvSpPr/>
          <p:nvPr/>
        </p:nvSpPr>
        <p:spPr>
          <a:xfrm>
            <a:off x="658380" y="859525"/>
            <a:ext cx="1072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CACP ( Criticality-Aware Cache Prioritization )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46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00" name="Google Shape;5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4375" y="1409700"/>
            <a:ext cx="8028925" cy="53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7"/>
          <p:cNvSpPr/>
          <p:nvPr/>
        </p:nvSpPr>
        <p:spPr>
          <a:xfrm>
            <a:off x="620278" y="910325"/>
            <a:ext cx="924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CACP ( Criticality-Aware Cache Prioritization )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t/>
            </a:r>
            <a:endParaRPr b="1" sz="2600">
              <a:solidFill>
                <a:srgbClr val="11182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47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08" name="Google Shape;508;p47"/>
          <p:cNvPicPr preferRelativeResize="0"/>
          <p:nvPr/>
        </p:nvPicPr>
        <p:blipFill rotWithShape="1">
          <a:blip r:embed="rId3">
            <a:alphaModFix/>
          </a:blip>
          <a:srcRect b="4500" l="-3210" r="3210" t="-4500"/>
          <a:stretch/>
        </p:blipFill>
        <p:spPr>
          <a:xfrm>
            <a:off x="-522625" y="2446525"/>
            <a:ext cx="12651126" cy="29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8"/>
          <p:cNvSpPr/>
          <p:nvPr/>
        </p:nvSpPr>
        <p:spPr>
          <a:xfrm>
            <a:off x="660400" y="950500"/>
            <a:ext cx="101727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CACP ( Criticality-Aware Cache Prioritization )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t/>
            </a:r>
            <a:endParaRPr b="1" sz="2600">
              <a:solidFill>
                <a:srgbClr val="11182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48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6" name="Google Shape;516;p48"/>
          <p:cNvSpPr txBox="1"/>
          <p:nvPr/>
        </p:nvSpPr>
        <p:spPr>
          <a:xfrm>
            <a:off x="7761750" y="1930400"/>
            <a:ext cx="4299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signature =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PC[7:0] XOR addr[7:0]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CCBP : </a:t>
            </a:r>
            <a:r>
              <a:rPr lang="en-US" sz="1500">
                <a:solidFill>
                  <a:schemeClr val="dk1"/>
                </a:solidFill>
              </a:rPr>
              <a:t>어느 </a:t>
            </a:r>
            <a:r>
              <a:rPr b="1" lang="en-US" sz="1500">
                <a:solidFill>
                  <a:schemeClr val="dk1"/>
                </a:solidFill>
              </a:rPr>
              <a:t>파티션</a:t>
            </a:r>
            <a:r>
              <a:rPr lang="en-US" sz="1500">
                <a:solidFill>
                  <a:schemeClr val="dk1"/>
                </a:solidFill>
              </a:rPr>
              <a:t>에 넣을지 결정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SHiP : 파티션 내 우선순위 결정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517" name="Google Shape;5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100" y="1358900"/>
            <a:ext cx="7469651" cy="549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9"/>
          <p:cNvSpPr/>
          <p:nvPr/>
        </p:nvSpPr>
        <p:spPr>
          <a:xfrm>
            <a:off x="645679" y="1037325"/>
            <a:ext cx="957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CAWA</a:t>
            </a:r>
            <a:endParaRPr b="1" sz="28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t/>
            </a:r>
            <a:endParaRPr b="1" sz="2600">
              <a:solidFill>
                <a:srgbClr val="11182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49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5" name="Google Shape;525;p49"/>
          <p:cNvSpPr txBox="1"/>
          <p:nvPr/>
        </p:nvSpPr>
        <p:spPr>
          <a:xfrm>
            <a:off x="7759450" y="2298700"/>
            <a:ext cx="4508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대부분의 workload에서의 성능 향상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baseline(RR) 대비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가장 높은 IPC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향상 달성.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kmeans 의 경우 약 3배 향상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6" name="Google Shape;52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00" y="1457025"/>
            <a:ext cx="7403113" cy="52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0"/>
          <p:cNvSpPr/>
          <p:nvPr/>
        </p:nvSpPr>
        <p:spPr>
          <a:xfrm>
            <a:off x="658377" y="859525"/>
            <a:ext cx="828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논문 의의</a:t>
            </a:r>
            <a:endParaRPr b="1" sz="28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3" name="Google Shape;533;p50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34" name="Google Shape;53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75" y="1386225"/>
            <a:ext cx="721995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0"/>
          <p:cNvSpPr txBox="1"/>
          <p:nvPr/>
        </p:nvSpPr>
        <p:spPr>
          <a:xfrm>
            <a:off x="8077200" y="3683000"/>
            <a:ext cx="397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스케줄러(gCAWS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) +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캐시(CACP)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–&gt; 최적화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50"/>
          <p:cNvSpPr txBox="1"/>
          <p:nvPr/>
        </p:nvSpPr>
        <p:spPr>
          <a:xfrm>
            <a:off x="8077200" y="301437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bfs의 irregular memory access 완화</a:t>
            </a:r>
            <a:endParaRPr sz="16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3" name="Google Shape;543;p51"/>
          <p:cNvSpPr/>
          <p:nvPr/>
        </p:nvSpPr>
        <p:spPr>
          <a:xfrm>
            <a:off x="841248" y="2066544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1000"/>
              <a:buFont typeface="Malgun Gothic"/>
              <a:buNone/>
            </a:pPr>
            <a:r>
              <a:rPr b="1" lang="en-US" sz="1000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[SECTION]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4" name="Google Shape;544;p51"/>
          <p:cNvSpPr/>
          <p:nvPr/>
        </p:nvSpPr>
        <p:spPr>
          <a:xfrm>
            <a:off x="841248" y="2359152"/>
            <a:ext cx="5943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Times New Roman"/>
              <a:buNone/>
            </a:pPr>
            <a:r>
              <a:rPr b="1" lang="en-US" sz="31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[논문 리뷰]</a:t>
            </a:r>
            <a:endParaRPr b="1" sz="2800">
              <a:solidFill>
                <a:srgbClr val="11182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51"/>
          <p:cNvSpPr/>
          <p:nvPr/>
        </p:nvSpPr>
        <p:spPr>
          <a:xfrm>
            <a:off x="841250" y="3072370"/>
            <a:ext cx="49377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iPAWS : Instruction-Issue Pattern-based</a:t>
            </a:r>
            <a:endParaRPr sz="13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Warp Scheduling for GPGPUs</a:t>
            </a:r>
            <a:endParaRPr sz="13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46" name="Google Shape;546;p51"/>
          <p:cNvCxnSpPr/>
          <p:nvPr/>
        </p:nvCxnSpPr>
        <p:spPr>
          <a:xfrm>
            <a:off x="841248" y="3785616"/>
            <a:ext cx="1042416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2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review: iPAWS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3" name="Google Shape;553;p52"/>
          <p:cNvSpPr/>
          <p:nvPr/>
        </p:nvSpPr>
        <p:spPr>
          <a:xfrm>
            <a:off x="585650" y="1327850"/>
            <a:ext cx="62178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08"/>
              <a:buFont typeface="Times New Roman"/>
              <a:buNone/>
            </a:pPr>
            <a:r>
              <a:rPr b="1" lang="en-US" sz="20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Instruction-Issue Pattern based</a:t>
            </a:r>
            <a:endParaRPr b="1" sz="2000">
              <a:solidFill>
                <a:srgbClr val="11182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508"/>
              <a:buFont typeface="Times New Roman"/>
              <a:buNone/>
            </a:pPr>
            <a:r>
              <a:rPr b="1" lang="en-US" sz="20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Warp Scheduling</a:t>
            </a:r>
            <a:endParaRPr b="1" sz="2000">
              <a:solidFill>
                <a:srgbClr val="11182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4" name="Google Shape;554;p52"/>
          <p:cNvSpPr/>
          <p:nvPr/>
        </p:nvSpPr>
        <p:spPr>
          <a:xfrm>
            <a:off x="954750" y="5185225"/>
            <a:ext cx="107607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GTO, RR중 워크로드마다 선호되는 정책이 존재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그러나 Cache hit Rate 외 병목 존재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Times New Roman"/>
              <a:buChar char="-"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DRAM 접근 패턴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Times New Roman"/>
              <a:buChar char="-"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Row-buffer locality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Times New Roman"/>
              <a:buChar char="-"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warp간 load imbalance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5" name="Google Shape;555;p52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56" name="Google Shape;556;p52"/>
          <p:cNvPicPr preferRelativeResize="0"/>
          <p:nvPr/>
        </p:nvPicPr>
        <p:blipFill rotWithShape="1">
          <a:blip r:embed="rId3">
            <a:alphaModFix/>
          </a:blip>
          <a:srcRect b="28459" l="0" r="0" t="0"/>
          <a:stretch/>
        </p:blipFill>
        <p:spPr>
          <a:xfrm>
            <a:off x="363325" y="2255025"/>
            <a:ext cx="5656850" cy="262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1200" y="1889525"/>
            <a:ext cx="5096674" cy="298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3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review: iPAWS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4" name="Google Shape;564;p53"/>
          <p:cNvSpPr/>
          <p:nvPr/>
        </p:nvSpPr>
        <p:spPr>
          <a:xfrm>
            <a:off x="1103650" y="4208650"/>
            <a:ext cx="6217800" cy="22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Issue pattern을 통해 선호 정책을 파악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GTO-Friendly한 워크로드는 이슈 패턴이 concave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RR-Friendly한 워크로드는 이슈 패턴이 convex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t/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첫 번째 워프의 실행이 완료된 시점에서 이슈 패턴을 파악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53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6" name="Google Shape;56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950" y="1555975"/>
            <a:ext cx="5401600" cy="26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5254" y="2735397"/>
            <a:ext cx="4612025" cy="8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53"/>
          <p:cNvSpPr/>
          <p:nvPr/>
        </p:nvSpPr>
        <p:spPr>
          <a:xfrm>
            <a:off x="3802700" y="2064901"/>
            <a:ext cx="1572600" cy="1324800"/>
          </a:xfrm>
          <a:prstGeom prst="rtTriangl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9" name="Google Shape;569;p53"/>
          <p:cNvCxnSpPr/>
          <p:nvPr/>
        </p:nvCxnSpPr>
        <p:spPr>
          <a:xfrm>
            <a:off x="5146125" y="3203601"/>
            <a:ext cx="8490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4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review: iPAWS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54"/>
          <p:cNvSpPr/>
          <p:nvPr/>
        </p:nvSpPr>
        <p:spPr>
          <a:xfrm>
            <a:off x="528775" y="4515900"/>
            <a:ext cx="6217800" cy="19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convex-concave 파악 시 inst_max 사용 시 불일치 발생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(b)와 같이 oldest이지만 issue가 안된 횟수 파악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가장 큰 값을 가진 워프를 WOI(Warp of Interest) 기준으로 삼음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6" name="Google Shape;5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175" y="2410186"/>
            <a:ext cx="64770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176" y="1475624"/>
            <a:ext cx="3618100" cy="62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8568" y="2557350"/>
            <a:ext cx="465772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4"/>
          <p:cNvSpPr/>
          <p:nvPr/>
        </p:nvSpPr>
        <p:spPr>
          <a:xfrm>
            <a:off x="6746575" y="4515900"/>
            <a:ext cx="51159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barrier synchronization 존재 시 워프가 고르게 분포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왜곡을 최소화하기 위해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barrier로 인한 stall 시간을 score에 합산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0" name="Google Shape;580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8574" y="1054100"/>
            <a:ext cx="3138345" cy="135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5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review: iPAWS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55"/>
          <p:cNvSpPr/>
          <p:nvPr/>
        </p:nvSpPr>
        <p:spPr>
          <a:xfrm>
            <a:off x="939450" y="5008250"/>
            <a:ext cx="86808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GTO로 판단되면 계속 실행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RR로 판단되면 Recover Phase에서 least instruction-issued 워프 우선, 균형을 맞춤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" name="Google Shape;588;p55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89" name="Google Shape;58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77" y="2153877"/>
            <a:ext cx="7013875" cy="24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6"/>
          <p:cNvSpPr/>
          <p:nvPr/>
        </p:nvSpPr>
        <p:spPr>
          <a:xfrm>
            <a:off x="658368" y="859536"/>
            <a:ext cx="621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review: iPAWS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56"/>
          <p:cNvSpPr/>
          <p:nvPr/>
        </p:nvSpPr>
        <p:spPr>
          <a:xfrm>
            <a:off x="4601125" y="4430500"/>
            <a:ext cx="70140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RR-GTO 뿐만이 아닌 CCWS, MASCAR 등 타 워프 스케줄러와 조합 가능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CCWS 단독 사용보다 성능 평균 40% 향상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범용 GPU로서의 성능 향상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7" name="Google Shape;597;p56"/>
          <p:cNvSpPr txBox="1"/>
          <p:nvPr>
            <p:ph idx="4294967295" type="sldNum"/>
          </p:nvPr>
        </p:nvSpPr>
        <p:spPr>
          <a:xfrm>
            <a:off x="11064240" y="21945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50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50">
              <a:solidFill>
                <a:srgbClr val="9CA3A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98" name="Google Shape;598;p56"/>
          <p:cNvPicPr preferRelativeResize="0"/>
          <p:nvPr/>
        </p:nvPicPr>
        <p:blipFill rotWithShape="1">
          <a:blip r:embed="rId3">
            <a:alphaModFix/>
          </a:blip>
          <a:srcRect b="18923" l="0" r="0" t="0"/>
          <a:stretch/>
        </p:blipFill>
        <p:spPr>
          <a:xfrm>
            <a:off x="331000" y="4430499"/>
            <a:ext cx="4091525" cy="210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98" y="1541727"/>
            <a:ext cx="3837925" cy="20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6"/>
          <p:cNvSpPr/>
          <p:nvPr/>
        </p:nvSpPr>
        <p:spPr>
          <a:xfrm>
            <a:off x="4601125" y="1541725"/>
            <a:ext cx="70140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37"/>
              <a:buFont typeface="Times New Roman"/>
              <a:buNone/>
            </a:pPr>
            <a:r>
              <a:rPr lang="en-US" sz="1800">
                <a:solidFill>
                  <a:srgbClr val="6B72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RR-Friendly workload가 GTO 대비 약 70% 성능 향상</a:t>
            </a:r>
            <a:endParaRPr sz="1800">
              <a:solidFill>
                <a:srgbClr val="6B72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