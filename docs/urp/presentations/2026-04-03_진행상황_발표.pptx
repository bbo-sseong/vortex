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381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381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381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381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381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381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7F9FC"/>
          </a:solidFill>
        </a:fill>
      </a:tcStyle>
    </a:band2H>
    <a:firstCol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7F9FC"/>
          </a:solidFill>
        </a:fill>
      </a:tcStyle>
    </a:lastRow>
    <a:fir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38100" cap="flat">
              <a:solidFill>
                <a:srgbClr val="F7F9FC"/>
              </a:solidFill>
              <a:prstDash val="solid"/>
              <a:round/>
            </a:ln>
          </a:top>
          <a:bottom>
            <a:ln w="127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7F9FC"/>
        </a:fontRef>
        <a:srgbClr val="F7F9FC"/>
      </a:tcTxStyle>
      <a:tcStyle>
        <a:tcBdr>
          <a:left>
            <a:ln w="12700" cap="flat">
              <a:solidFill>
                <a:srgbClr val="F7F9FC"/>
              </a:solidFill>
              <a:prstDash val="solid"/>
              <a:round/>
            </a:ln>
          </a:left>
          <a:right>
            <a:ln w="12700" cap="flat">
              <a:solidFill>
                <a:srgbClr val="F7F9FC"/>
              </a:solidFill>
              <a:prstDash val="solid"/>
              <a:round/>
            </a:ln>
          </a:right>
          <a:top>
            <a:ln w="12700" cap="flat">
              <a:solidFill>
                <a:srgbClr val="F7F9FC"/>
              </a:solidFill>
              <a:prstDash val="solid"/>
              <a:round/>
            </a:ln>
          </a:top>
          <a:bottom>
            <a:ln w="38100" cap="flat">
              <a:solidFill>
                <a:srgbClr val="F7F9FC"/>
              </a:solidFill>
              <a:prstDash val="solid"/>
              <a:round/>
            </a:ln>
          </a:bottom>
          <a:insideH>
            <a:ln w="12700" cap="flat">
              <a:solidFill>
                <a:srgbClr val="F7F9FC"/>
              </a:solidFill>
              <a:prstDash val="solid"/>
              <a:round/>
            </a:ln>
          </a:insideH>
          <a:insideV>
            <a:ln w="12700" cap="flat">
              <a:solidFill>
                <a:srgbClr val="F7F9FC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29" autoAdjust="0"/>
  </p:normalViewPr>
  <p:slideViewPr>
    <p:cSldViewPr snapToGrid="0">
      <p:cViewPr>
        <p:scale>
          <a:sx n="100" d="100"/>
          <a:sy n="100" d="100"/>
        </p:scale>
        <p:origin x="36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" name="Shape 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73" name="Shape 4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Sgemm이란 floating point를 요소로 갖는 두 행렬을 곱하는 연산입니다.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4" name="Shape 5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행렬곱은 ai 워크로드에서 상당 부분을 차지하는 연산입니다. 도표를 보시면 LLM의 기반이 되는 transformer 워크로드에서 행렬곱이 상당한 비중을 차지하는 걸 볼 수 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52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9" name="Shape 5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행렬곱은 ai 워크로드에서 상당 부분을 차지하는 연산입니다. 도표를 보시면 LLM의 기반이 되는 transformer 워크로드에서 행렬곱이 상당한 비중을 차지하는 걸 볼 수 있습니다.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5" name="Shape 5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SpMV(Sparse Matrix-Vector Multiplication)는 대부분의 원소가 0인 sparse-matrix와 vector를 곱하는 연산입니다. Sparse matrix는 0이 아닌 원소만 저장하는 방식으로 표현하는 경우가 많으며, 이를 통해 메모리 사용량과 메모리 접근량을 줄일 수 있습니다.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5" name="Shape 5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Sparse matrix의 0이 아닌 원소만 추려서 나타내는 형식은 다음과 같습니다. </a:t>
            </a:r>
          </a:p>
          <a:p>
            <a:r>
              <a:t>JDS는 row를 non-zero 개수 기준으로 재정렬한 뒤, 각 row의 같은 순번의 non-zero element들을 diagonal 단위로 묶어 저장하는 format입니다. </a:t>
            </a:r>
          </a:p>
          <a:p>
            <a:r>
              <a:t>이 방식은 matrix 데이터 접근을 더 연속적으로 만들어 coalescing을 돕지만, vector access의 irregularity는 그대로 남습니다.</a:t>
            </a:r>
          </a:p>
          <a:p>
            <a:endParaRPr/>
          </a:p>
          <a:p>
            <a:r>
              <a:t>*</a:t>
            </a:r>
          </a:p>
          <a:p>
            <a:r>
              <a:t>data: nonzero 많은 순부터 정렬</a:t>
            </a:r>
          </a:p>
          <a:p>
            <a:r>
              <a:t>Col_index: 해당 원소의 열 좌표</a:t>
            </a:r>
          </a:p>
          <a:p>
            <a:r>
              <a:t>Jds_row_index: none zero 많은 순서대로 row index</a:t>
            </a:r>
          </a:p>
          <a:p>
            <a:r>
              <a:t>Section pointer: 실제 1차원 배열에서 가지는 좌표. 0~2, 3~4, 마지막 원소는 마지막 index+1값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9" name="Shape 61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Vortex에서 구현한 spmv는 jds format을 사용합니다. nonzero당 대략 </a:t>
            </a:r>
            <a:r>
              <a:rPr b="1"/>
              <a:t>2 FLOPs</a:t>
            </a:r>
            <a:r>
              <a:t> 최소 </a:t>
            </a:r>
            <a:r>
              <a:rPr b="1"/>
              <a:t>16B 정도</a:t>
            </a:r>
            <a:r>
              <a:t>의 메모리 접근이 있음.(그러나 jds 배열 접근은 연속적임)  </a:t>
            </a:r>
          </a:p>
          <a:p>
            <a:r>
              <a:t>벡터 원소는 non zero column만 접근해야 하므로 연속적이지 않은 메모리 참조가 있습니다.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5" name="Shape 6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BFS는 그래프를 너비 우선으로 탐색하는 알고리즘입니다. </a:t>
            </a:r>
          </a:p>
          <a:p>
            <a:r>
              <a:t>시작 노드를 cost = 0으로 두고, 현재 frontier에 속한 노드의 outgoing edge를 따라 아직 방문되지 않은 이웃 노드에 대해 이전 노드의 cost + 1 값을 할당합니다. </a:t>
            </a:r>
          </a:p>
          <a:p>
            <a:r>
              <a:t>이 과정을 반복하여 그래프를 level 단위로 탐색합니다.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Shape 6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7" name="Shape 6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Mask를 통해 현재 frontier에 속한 노드를 선택한 뒤, 각 노드의 outgoing edge를 순회하며 cost를 갱신하고 다음 frontier를 구성합니다. </a:t>
            </a:r>
          </a:p>
          <a:p>
            <a:r>
              <a:t>이 과정에서 node별 edge 수 차이와 visited 여부에 따라 branch divergence가 발생하며, 연산량에 비해 메모리 접근 비중이 커 memory-bound 가능성이 높은 특성을 보입니다.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9" name="Shape 6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bfs_2는 bfs_1에서 표시된 노드들을 다음 frontier로 반영하고, 탐색 지속 여부를 갱신하는 커널입니다. 연산이 단순하고 노드당 일회성 메모리 접근만 수행하므로 실행시간 비중은 크지 않습니다.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5" name="Shape 7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Vortex는 configurable open-source GPU simulator이므로, workload 특성뿐만 아니라 architectural configuration 또한 scheduler policy의 성능에 영향을 줄 수 있습니다. 따라서 본 연구에서는 몇 가지 configuration 조합을 구성하고, 각 환경에서 scheduler의 성능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7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1" name="Shape 7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최종 보고서에서는 여러 configuration에 대한 attainable compute performance와 attainable memory bandwidth를 측정하고, 각 workload의 operational intensity를 함께 분석하여 configuration별 Roofline model을 구성하고자 합니다.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51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_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9" name="Text 1"/>
          <p:cNvSpPr txBox="1"/>
          <p:nvPr/>
        </p:nvSpPr>
        <p:spPr>
          <a:xfrm>
            <a:off x="685800" y="241615"/>
            <a:ext cx="3657600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2026-1 URP 계획</a:t>
            </a:r>
          </a:p>
        </p:txBody>
      </p:sp>
      <p:sp>
        <p:nvSpPr>
          <p:cNvPr id="20" name="Text 2"/>
          <p:cNvSpPr txBox="1"/>
          <p:nvPr/>
        </p:nvSpPr>
        <p:spPr>
          <a:xfrm>
            <a:off x="8275318" y="241615"/>
            <a:ext cx="3200402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Vortex GPU 마이크로아키텍처 최적화</a:t>
            </a:r>
          </a:p>
        </p:txBody>
      </p:sp>
      <p:sp>
        <p:nvSpPr>
          <p:cNvPr id="2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텍스트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29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8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463946" y="6221731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HCR Batang"/>
          <a:ea typeface="HCR Batang"/>
          <a:cs typeface="HCR Batang"/>
          <a:sym typeface="HCR Batang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CR Dotum"/>
          <a:ea typeface="HCR Dotum"/>
          <a:cs typeface="HCR Dotum"/>
          <a:sym typeface="HCR Dotum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CR Dot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9" name="Shape 1"/>
          <p:cNvSpPr/>
          <p:nvPr/>
        </p:nvSpPr>
        <p:spPr>
          <a:xfrm>
            <a:off x="685800" y="868678"/>
            <a:ext cx="109728" cy="3520443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0" name="Text 2"/>
          <p:cNvSpPr txBox="1"/>
          <p:nvPr/>
        </p:nvSpPr>
        <p:spPr>
          <a:xfrm>
            <a:off x="960118" y="965453"/>
            <a:ext cx="118872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94A3B8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2026-1</a:t>
            </a:r>
          </a:p>
        </p:txBody>
      </p:sp>
      <p:sp>
        <p:nvSpPr>
          <p:cNvPr id="51" name="Text 3"/>
          <p:cNvSpPr txBox="1"/>
          <p:nvPr/>
        </p:nvSpPr>
        <p:spPr>
          <a:xfrm>
            <a:off x="1005838" y="1497203"/>
            <a:ext cx="5303523" cy="562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URP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계획서</a:t>
            </a:r>
          </a:p>
        </p:txBody>
      </p:sp>
      <p:sp>
        <p:nvSpPr>
          <p:cNvPr id="52" name="Text 4"/>
          <p:cNvSpPr txBox="1"/>
          <p:nvPr/>
        </p:nvSpPr>
        <p:spPr>
          <a:xfrm>
            <a:off x="960118" y="2467606"/>
            <a:ext cx="5673948" cy="322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000" b="1">
                <a:solidFill>
                  <a:srgbClr val="CBD5E1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GPU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마이크로아키텍처 최적화 연구 로드맵</a:t>
            </a:r>
          </a:p>
        </p:txBody>
      </p:sp>
      <p:sp>
        <p:nvSpPr>
          <p:cNvPr id="53" name="Shape 6"/>
          <p:cNvSpPr/>
          <p:nvPr/>
        </p:nvSpPr>
        <p:spPr>
          <a:xfrm>
            <a:off x="960119" y="4005071"/>
            <a:ext cx="1965962" cy="402338"/>
          </a:xfrm>
          <a:prstGeom prst="roundRect">
            <a:avLst>
              <a:gd name="adj" fmla="val 18182"/>
            </a:avLst>
          </a:prstGeom>
          <a:solidFill>
            <a:srgbClr val="13273D"/>
          </a:solidFill>
          <a:ln w="12700">
            <a:solidFill>
              <a:srgbClr val="2DD4B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4" name="Text 7"/>
          <p:cNvSpPr txBox="1"/>
          <p:nvPr/>
        </p:nvSpPr>
        <p:spPr>
          <a:xfrm>
            <a:off x="1115567" y="4118102"/>
            <a:ext cx="166420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CCFBF1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Full-stack Optimization</a:t>
            </a:r>
          </a:p>
        </p:txBody>
      </p:sp>
      <p:pic>
        <p:nvPicPr>
          <p:cNvPr id="5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02919"/>
            <a:ext cx="4846322" cy="5440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Image 1" descr="Image 1"/>
          <p:cNvPicPr>
            <a:picLocks noChangeAspect="1"/>
          </p:cNvPicPr>
          <p:nvPr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7452359" y="1234438"/>
            <a:ext cx="1005842" cy="1005843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8"/>
          <p:cNvSpPr txBox="1"/>
          <p:nvPr/>
        </p:nvSpPr>
        <p:spPr>
          <a:xfrm>
            <a:off x="10424159" y="6084568"/>
            <a:ext cx="73152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400" b="1">
                <a:solidFill>
                  <a:srgbClr val="0F172A"/>
                </a:solidFill>
                <a:latin typeface="HCR Batang"/>
                <a:ea typeface="HCR Batang"/>
                <a:cs typeface="HCR Batang"/>
                <a:sym typeface="HCR Batang"/>
              </a:defRPr>
            </a:lvl1pPr>
          </a:lstStyle>
          <a:p>
            <a:r>
              <a:t>연구 목표</a:t>
            </a:r>
          </a:p>
        </p:txBody>
      </p:sp>
      <p:sp>
        <p:nvSpPr>
          <p:cNvPr id="60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Research Focus &amp; Optimization Scope</a:t>
            </a:r>
          </a:p>
        </p:txBody>
      </p:sp>
      <p:sp>
        <p:nvSpPr>
          <p:cNvPr id="61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2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Goal</a:t>
            </a:r>
          </a:p>
        </p:txBody>
      </p:sp>
      <p:sp>
        <p:nvSpPr>
          <p:cNvPr id="63" name="Shape 4"/>
          <p:cNvSpPr/>
          <p:nvPr/>
        </p:nvSpPr>
        <p:spPr>
          <a:xfrm>
            <a:off x="749808" y="1353311"/>
            <a:ext cx="10716770" cy="4526282"/>
          </a:xfrm>
          <a:prstGeom prst="roundRect">
            <a:avLst>
              <a:gd name="adj" fmla="val 16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4" name="Shape 5"/>
          <p:cNvSpPr/>
          <p:nvPr/>
        </p:nvSpPr>
        <p:spPr>
          <a:xfrm>
            <a:off x="960119" y="1600200"/>
            <a:ext cx="4434843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19050" dir="2700000" rotWithShape="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5" name="Shape 6"/>
          <p:cNvSpPr/>
          <p:nvPr/>
        </p:nvSpPr>
        <p:spPr>
          <a:xfrm>
            <a:off x="960119" y="1600200"/>
            <a:ext cx="109730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6" name="Text 7"/>
          <p:cNvSpPr txBox="1"/>
          <p:nvPr/>
        </p:nvSpPr>
        <p:spPr>
          <a:xfrm>
            <a:off x="1188719" y="1773682"/>
            <a:ext cx="45720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4B8A6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01</a:t>
            </a:r>
          </a:p>
        </p:txBody>
      </p:sp>
      <p:sp>
        <p:nvSpPr>
          <p:cNvPr id="67" name="Text 8"/>
          <p:cNvSpPr txBox="1"/>
          <p:nvPr/>
        </p:nvSpPr>
        <p:spPr>
          <a:xfrm>
            <a:off x="1673350" y="1708528"/>
            <a:ext cx="3291844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172A"/>
                </a:solidFill>
                <a:latin typeface="HCR Batang"/>
                <a:ea typeface="HCR Batang"/>
                <a:cs typeface="HCR Batang"/>
                <a:sym typeface="HCR Batang"/>
              </a:defRPr>
            </a:lvl1pPr>
          </a:lstStyle>
          <a:p>
            <a:r>
              <a:t>연구 배경 및 문제 정의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1234438" y="2130550"/>
            <a:ext cx="3794761" cy="84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Vortex GPU</a:t>
            </a:r>
            <a:r>
              <a:t>의 기본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스케줄링 방식이 가지는 Memory Latency’ hiding 한계와 파이프라인 정체 현상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69" name="Shape 10"/>
          <p:cNvSpPr/>
          <p:nvPr/>
        </p:nvSpPr>
        <p:spPr>
          <a:xfrm>
            <a:off x="5715000" y="1600200"/>
            <a:ext cx="4434841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19050" dir="2700000" rotWithShape="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0" name="Shape 11"/>
          <p:cNvSpPr/>
          <p:nvPr/>
        </p:nvSpPr>
        <p:spPr>
          <a:xfrm>
            <a:off x="5715000" y="1600200"/>
            <a:ext cx="10972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1" name="Text 12"/>
          <p:cNvSpPr txBox="1"/>
          <p:nvPr/>
        </p:nvSpPr>
        <p:spPr>
          <a:xfrm>
            <a:off x="5943600" y="1773682"/>
            <a:ext cx="4572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2563E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02</a:t>
            </a:r>
          </a:p>
        </p:txBody>
      </p:sp>
      <p:sp>
        <p:nvSpPr>
          <p:cNvPr id="72" name="Text 13"/>
          <p:cNvSpPr txBox="1"/>
          <p:nvPr/>
        </p:nvSpPr>
        <p:spPr>
          <a:xfrm>
            <a:off x="6428230" y="1708528"/>
            <a:ext cx="3291843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172A"/>
                </a:solidFill>
                <a:latin typeface="HCR Batang"/>
                <a:ea typeface="HCR Batang"/>
                <a:cs typeface="HCR Batang"/>
                <a:sym typeface="HCR Batang"/>
              </a:defRPr>
            </a:lvl1pPr>
          </a:lstStyle>
          <a:p>
            <a:r>
              <a:t>핵심 연구 목표</a:t>
            </a:r>
          </a:p>
        </p:txBody>
      </p:sp>
      <p:sp>
        <p:nvSpPr>
          <p:cNvPr id="73" name="Text 14"/>
          <p:cNvSpPr txBox="1"/>
          <p:nvPr/>
        </p:nvSpPr>
        <p:spPr>
          <a:xfrm>
            <a:off x="5989320" y="2143250"/>
            <a:ext cx="3794760" cy="84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Warp Scheduler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정책을 변경해 하드웨어 자원 병목을 줄이고 전체 시스템 성능</a:t>
            </a:r>
            <a:r>
              <a:t>(IPC)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을 높입니다</a:t>
            </a:r>
            <a:r>
              <a:t>.</a:t>
            </a:r>
          </a:p>
        </p:txBody>
      </p:sp>
      <p:sp>
        <p:nvSpPr>
          <p:cNvPr id="74" name="Shape 15"/>
          <p:cNvSpPr/>
          <p:nvPr/>
        </p:nvSpPr>
        <p:spPr>
          <a:xfrm>
            <a:off x="960119" y="3730752"/>
            <a:ext cx="4434843" cy="1691642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19050" dir="2700000" rotWithShape="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5" name="Shape 16"/>
          <p:cNvSpPr/>
          <p:nvPr/>
        </p:nvSpPr>
        <p:spPr>
          <a:xfrm>
            <a:off x="960119" y="3730752"/>
            <a:ext cx="109730" cy="16916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6" name="Text 17"/>
          <p:cNvSpPr txBox="1"/>
          <p:nvPr/>
        </p:nvSpPr>
        <p:spPr>
          <a:xfrm>
            <a:off x="1188719" y="3904234"/>
            <a:ext cx="45720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7C3AED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03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1673350" y="3839080"/>
            <a:ext cx="3291844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172A"/>
                </a:solidFill>
                <a:latin typeface="HCR Batang"/>
                <a:ea typeface="HCR Batang"/>
                <a:cs typeface="HCR Batang"/>
                <a:sym typeface="HCR Batang"/>
              </a:defRPr>
            </a:lvl1pPr>
          </a:lstStyle>
          <a:p>
            <a:r>
              <a:t>최적화 및 구현 범위</a:t>
            </a:r>
          </a:p>
        </p:txBody>
      </p:sp>
      <p:sp>
        <p:nvSpPr>
          <p:cNvPr id="78" name="Text 19"/>
          <p:cNvSpPr txBox="1"/>
          <p:nvPr/>
        </p:nvSpPr>
        <p:spPr>
          <a:xfrm>
            <a:off x="1234438" y="4261103"/>
            <a:ext cx="3794761" cy="84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워크로드 특성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(Compute-bound / Memory-bound)</a:t>
            </a:r>
            <a:r>
              <a:t>에 따라 가장 적합한 스케줄링 정책을 도출합니다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79" name="Shape 20"/>
          <p:cNvSpPr/>
          <p:nvPr/>
        </p:nvSpPr>
        <p:spPr>
          <a:xfrm>
            <a:off x="5715000" y="3730752"/>
            <a:ext cx="4434841" cy="1691642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19050" dir="2700000" rotWithShape="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0" name="Shape 21"/>
          <p:cNvSpPr/>
          <p:nvPr/>
        </p:nvSpPr>
        <p:spPr>
          <a:xfrm>
            <a:off x="5715000" y="3730752"/>
            <a:ext cx="109728" cy="169164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1" name="Text 22"/>
          <p:cNvSpPr txBox="1"/>
          <p:nvPr/>
        </p:nvSpPr>
        <p:spPr>
          <a:xfrm>
            <a:off x="5943600" y="3904234"/>
            <a:ext cx="4572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0B981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04</a:t>
            </a:r>
          </a:p>
        </p:txBody>
      </p:sp>
      <p:sp>
        <p:nvSpPr>
          <p:cNvPr id="82" name="Text 23"/>
          <p:cNvSpPr txBox="1"/>
          <p:nvPr/>
        </p:nvSpPr>
        <p:spPr>
          <a:xfrm>
            <a:off x="6428230" y="3845431"/>
            <a:ext cx="3291843" cy="282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Full-stack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최적화</a:t>
            </a:r>
          </a:p>
        </p:txBody>
      </p:sp>
      <p:sp>
        <p:nvSpPr>
          <p:cNvPr id="83" name="Text 24"/>
          <p:cNvSpPr txBox="1"/>
          <p:nvPr/>
        </p:nvSpPr>
        <p:spPr>
          <a:xfrm>
            <a:off x="5989320" y="4261103"/>
            <a:ext cx="3794760" cy="84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C++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시뮬레이터</a:t>
            </a:r>
            <a:r>
              <a:t>(simx)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검증을 넘어 실제 하드웨어</a:t>
            </a:r>
            <a:r>
              <a:t>(Verilog RTL)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설계 수정까지 연결합니다</a:t>
            </a:r>
            <a:r>
              <a:t>.</a:t>
            </a:r>
          </a:p>
        </p:txBody>
      </p:sp>
      <p:sp>
        <p:nvSpPr>
          <p:cNvPr id="84" name="Text 25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주차 </a:t>
            </a:r>
            <a:r>
              <a:t>: Vortex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아키텍처 학습 및 환경 설정</a:t>
            </a:r>
          </a:p>
        </p:txBody>
      </p:sp>
      <p:sp>
        <p:nvSpPr>
          <p:cNvPr id="87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Study &amp; Setup</a:t>
            </a:r>
          </a:p>
        </p:txBody>
      </p:sp>
      <p:sp>
        <p:nvSpPr>
          <p:cNvPr id="88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9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Stage 1</a:t>
            </a:r>
          </a:p>
        </p:txBody>
      </p:sp>
      <p:sp>
        <p:nvSpPr>
          <p:cNvPr id="90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91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92" name="Text 6"/>
          <p:cNvSpPr txBox="1"/>
          <p:nvPr/>
        </p:nvSpPr>
        <p:spPr>
          <a:xfrm>
            <a:off x="1234438" y="1763775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93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수행 내용</a:t>
            </a:r>
          </a:p>
        </p:txBody>
      </p:sp>
      <p:sp>
        <p:nvSpPr>
          <p:cNvPr id="94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95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96" name="Text 10"/>
          <p:cNvSpPr txBox="1"/>
          <p:nvPr/>
        </p:nvSpPr>
        <p:spPr>
          <a:xfrm>
            <a:off x="1170432" y="25316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97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아키텍처 스터디</a:t>
            </a:r>
            <a:r>
              <a:t>: GPU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가 여러 개의 워프</a:t>
            </a:r>
            <a:r>
              <a:t>(Warp)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를 어떻게 관리하는지</a:t>
            </a:r>
            <a:r>
              <a:t>,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파이프라인</a:t>
            </a:r>
            <a:r>
              <a:t>(Fetch-Decode-Issue-Execute)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단계를 학습</a:t>
            </a:r>
            <a:r>
              <a:t>.</a:t>
            </a:r>
          </a:p>
        </p:txBody>
      </p:sp>
      <p:sp>
        <p:nvSpPr>
          <p:cNvPr id="98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99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00" name="Text 14"/>
          <p:cNvSpPr txBox="1"/>
          <p:nvPr/>
        </p:nvSpPr>
        <p:spPr>
          <a:xfrm>
            <a:off x="1170432" y="36106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101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환경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설정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Ubuntu </a:t>
            </a:r>
            <a:r>
              <a:t>환경에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Vortex </a:t>
            </a:r>
            <a:r>
              <a:t>시뮬레이터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툴체인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구축 및 기본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테스트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구동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확인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102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03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04" name="Text 18"/>
          <p:cNvSpPr txBox="1"/>
          <p:nvPr/>
        </p:nvSpPr>
        <p:spPr>
          <a:xfrm>
            <a:off x="1170432" y="46896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105" name="Text 19"/>
          <p:cNvSpPr txBox="1"/>
          <p:nvPr/>
        </p:nvSpPr>
        <p:spPr>
          <a:xfrm>
            <a:off x="1737360" y="454456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워크로드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특성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분석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SGEMM </a:t>
            </a:r>
            <a:r>
              <a:t>등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Vortex </a:t>
            </a:r>
            <a:r>
              <a:t>내장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워크로드를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분석하여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GPU </a:t>
            </a:r>
            <a:r>
              <a:t>자원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(ALU, </a:t>
            </a:r>
            <a:r>
              <a:t>메모리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대역폭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) </a:t>
            </a:r>
            <a:r>
              <a:t>사용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특성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(Compute-bound vs Memory-bound) </a:t>
            </a:r>
            <a:r>
              <a:t>분류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106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07" name="Text 21"/>
          <p:cNvSpPr txBox="1"/>
          <p:nvPr/>
        </p:nvSpPr>
        <p:spPr>
          <a:xfrm>
            <a:off x="777238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08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09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10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11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12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13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14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15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16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17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18" name="Text 32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t>구조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Vortex Structure</a:t>
            </a:r>
          </a:p>
        </p:txBody>
      </p:sp>
      <p:sp>
        <p:nvSpPr>
          <p:cNvPr id="122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23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124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25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26" name="Text 6"/>
          <p:cNvSpPr txBox="1"/>
          <p:nvPr/>
        </p:nvSpPr>
        <p:spPr>
          <a:xfrm>
            <a:off x="1620669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127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확인 내용</a:t>
            </a:r>
          </a:p>
        </p:txBody>
      </p:sp>
      <p:sp>
        <p:nvSpPr>
          <p:cNvPr id="128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29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30" name="Text 10"/>
          <p:cNvSpPr txBox="1"/>
          <p:nvPr/>
        </p:nvSpPr>
        <p:spPr>
          <a:xfrm>
            <a:off x="1310132" y="25824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131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는 </a:t>
            </a:r>
            <a:r>
              <a:t>thread → warp(wavefront) → core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구조로 동작</a:t>
            </a:r>
            <a:r>
              <a:t>.</a:t>
            </a:r>
          </a:p>
        </p:txBody>
      </p:sp>
      <p:sp>
        <p:nvSpPr>
          <p:cNvPr id="132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33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34" name="Text 14"/>
          <p:cNvSpPr txBox="1"/>
          <p:nvPr/>
        </p:nvSpPr>
        <p:spPr>
          <a:xfrm>
            <a:off x="1310132" y="36614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135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실제 실행과 스케줄링의 기본 단위는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warp.</a:t>
            </a:r>
          </a:p>
        </p:txBody>
      </p:sp>
      <p:sp>
        <p:nvSpPr>
          <p:cNvPr id="136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37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38" name="Text 18"/>
          <p:cNvSpPr txBox="1"/>
          <p:nvPr/>
        </p:nvSpPr>
        <p:spPr>
          <a:xfrm>
            <a:off x="1310132" y="47404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139" name="Text 19"/>
          <p:cNvSpPr txBox="1"/>
          <p:nvPr/>
        </p:nvSpPr>
        <p:spPr>
          <a:xfrm>
            <a:off x="1737360" y="454456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SIMT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방식으로 여러 </a:t>
            </a:r>
            <a:r>
              <a:t>thread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가 같은 명령 흐름 아래 병렬 실행</a:t>
            </a:r>
            <a:r>
              <a:t>.</a:t>
            </a:r>
          </a:p>
        </p:txBody>
      </p:sp>
      <p:sp>
        <p:nvSpPr>
          <p:cNvPr id="140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41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142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43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44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45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46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47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48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49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50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51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52" name="Text 32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04</a:t>
            </a:r>
          </a:p>
        </p:txBody>
      </p:sp>
      <p:pic>
        <p:nvPicPr>
          <p:cNvPr id="153" name="unnamed(1).png" descr="unname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950" y="26581"/>
            <a:ext cx="12192000" cy="68048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t>파이프라인</a:t>
            </a:r>
          </a:p>
        </p:txBody>
      </p:sp>
      <p:sp>
        <p:nvSpPr>
          <p:cNvPr id="156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Pipeline Flow</a:t>
            </a:r>
          </a:p>
        </p:txBody>
      </p:sp>
      <p:sp>
        <p:nvSpPr>
          <p:cNvPr id="157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58" name="Text 3"/>
          <p:cNvSpPr txBox="1"/>
          <p:nvPr/>
        </p:nvSpPr>
        <p:spPr>
          <a:xfrm>
            <a:off x="10465920" y="58953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2</a:t>
            </a:r>
          </a:p>
        </p:txBody>
      </p:sp>
      <p:sp>
        <p:nvSpPr>
          <p:cNvPr id="159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60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61" name="Text 6"/>
          <p:cNvSpPr txBox="1"/>
          <p:nvPr/>
        </p:nvSpPr>
        <p:spPr>
          <a:xfrm>
            <a:off x="1569171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162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확인 내용</a:t>
            </a:r>
          </a:p>
        </p:txBody>
      </p:sp>
      <p:sp>
        <p:nvSpPr>
          <p:cNvPr id="163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64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65" name="Text 10"/>
          <p:cNvSpPr txBox="1"/>
          <p:nvPr/>
        </p:nvSpPr>
        <p:spPr>
          <a:xfrm>
            <a:off x="1310132" y="25824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166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simx/core.cpp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기준 파이프라인은 </a:t>
            </a:r>
            <a:r>
              <a:t>schedule → fetch → decode → issue → execute → commit.</a:t>
            </a:r>
          </a:p>
        </p:txBody>
      </p:sp>
      <p:sp>
        <p:nvSpPr>
          <p:cNvPr id="167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68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69" name="Text 14"/>
          <p:cNvSpPr txBox="1"/>
          <p:nvPr/>
        </p:nvSpPr>
        <p:spPr>
          <a:xfrm>
            <a:off x="1310132" y="36614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170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schedule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단계에서는 </a:t>
            </a:r>
            <a:r>
              <a:t>emulator_.step()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이 다음 </a:t>
            </a:r>
            <a:r>
              <a:t>warp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를 고르고</a:t>
            </a:r>
            <a:r>
              <a:t>, core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가 이를 </a:t>
            </a:r>
            <a:r>
              <a:t>fetch stage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로 넘김</a:t>
            </a:r>
            <a:r>
              <a:t>.</a:t>
            </a:r>
          </a:p>
        </p:txBody>
      </p:sp>
      <p:sp>
        <p:nvSpPr>
          <p:cNvPr id="171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72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73" name="Text 18"/>
          <p:cNvSpPr txBox="1"/>
          <p:nvPr/>
        </p:nvSpPr>
        <p:spPr>
          <a:xfrm>
            <a:off x="1310132" y="47404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174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75" name="Text 21"/>
          <p:cNvSpPr txBox="1"/>
          <p:nvPr/>
        </p:nvSpPr>
        <p:spPr>
          <a:xfrm>
            <a:off x="1330835" y="6303517"/>
            <a:ext cx="1684023" cy="134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176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77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78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79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80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81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82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83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84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85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186" name="Text 32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05</a:t>
            </a:r>
          </a:p>
        </p:txBody>
      </p:sp>
      <p:sp>
        <p:nvSpPr>
          <p:cNvPr id="187" name="Text 11"/>
          <p:cNvSpPr txBox="1"/>
          <p:nvPr/>
        </p:nvSpPr>
        <p:spPr>
          <a:xfrm>
            <a:off x="1737360" y="4526279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Emulator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t>단계는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warp ID 0</a:t>
            </a:r>
            <a:r>
              <a:t>번부터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ready warp</a:t>
            </a:r>
            <a:r>
              <a:t>를 찾는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fixed-priority </a:t>
            </a:r>
            <a:r>
              <a:t>방식으로 동작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pic>
        <p:nvPicPr>
          <p:cNvPr id="188" name="붙여넣은 동영상.png" descr="붙여넣은 동영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5" y="2241159"/>
            <a:ext cx="11050707" cy="29146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Schedule()</a:t>
            </a:r>
          </a:p>
        </p:txBody>
      </p:sp>
      <p:sp>
        <p:nvSpPr>
          <p:cNvPr id="191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Schedule Stage</a:t>
            </a:r>
          </a:p>
        </p:txBody>
      </p:sp>
      <p:sp>
        <p:nvSpPr>
          <p:cNvPr id="192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93" name="Text 3"/>
          <p:cNvSpPr txBox="1"/>
          <p:nvPr/>
        </p:nvSpPr>
        <p:spPr>
          <a:xfrm>
            <a:off x="10375800" y="597660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3</a:t>
            </a:r>
          </a:p>
        </p:txBody>
      </p:sp>
      <p:sp>
        <p:nvSpPr>
          <p:cNvPr id="194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95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96" name="Text 6"/>
          <p:cNvSpPr txBox="1"/>
          <p:nvPr/>
        </p:nvSpPr>
        <p:spPr>
          <a:xfrm>
            <a:off x="1620147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확인 내용</a:t>
            </a:r>
          </a:p>
        </p:txBody>
      </p:sp>
      <p:sp>
        <p:nvSpPr>
          <p:cNvPr id="198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199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00" name="Text 10"/>
          <p:cNvSpPr txBox="1"/>
          <p:nvPr/>
        </p:nvSpPr>
        <p:spPr>
          <a:xfrm>
            <a:off x="1284732" y="25824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Vortex</a:t>
            </a:r>
            <a:r>
              <a:t>의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schedule </a:t>
            </a:r>
            <a:r>
              <a:t>단계는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warp ID 0</a:t>
            </a:r>
            <a:r>
              <a:t>번부터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ready warp</a:t>
            </a:r>
            <a:r>
              <a:t>를 찾는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fixed-priority </a:t>
            </a:r>
            <a:r>
              <a:t>방식으로 동작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202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03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04" name="Text 14"/>
          <p:cNvSpPr txBox="1"/>
          <p:nvPr/>
        </p:nvSpPr>
        <p:spPr>
          <a:xfrm>
            <a:off x="1284732" y="36614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205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active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이면서 </a:t>
            </a:r>
            <a:r>
              <a:t>stalled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가 아닌 첫 번째 </a:t>
            </a:r>
            <a:r>
              <a:t>warp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를 선택하는 단순한 </a:t>
            </a:r>
            <a:r>
              <a:t>baseline scheduler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구조</a:t>
            </a:r>
            <a:r>
              <a:t>.</a:t>
            </a:r>
          </a:p>
        </p:txBody>
      </p:sp>
      <p:sp>
        <p:nvSpPr>
          <p:cNvPr id="206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07" name="Text 21"/>
          <p:cNvSpPr txBox="1"/>
          <p:nvPr/>
        </p:nvSpPr>
        <p:spPr>
          <a:xfrm>
            <a:off x="1382159" y="6306310"/>
            <a:ext cx="1684022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08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09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10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11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12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13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14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15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16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17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18" name="Text 32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파이프라인</a:t>
            </a:r>
          </a:p>
        </p:txBody>
      </p:sp>
      <p:sp>
        <p:nvSpPr>
          <p:cNvPr id="221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Issue Stage</a:t>
            </a:r>
          </a:p>
        </p:txBody>
      </p:sp>
      <p:sp>
        <p:nvSpPr>
          <p:cNvPr id="222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23" name="Text 3"/>
          <p:cNvSpPr txBox="1"/>
          <p:nvPr/>
        </p:nvSpPr>
        <p:spPr>
          <a:xfrm>
            <a:off x="10388673" y="58953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4</a:t>
            </a:r>
          </a:p>
        </p:txBody>
      </p:sp>
      <p:sp>
        <p:nvSpPr>
          <p:cNvPr id="224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25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26" name="Text 6"/>
          <p:cNvSpPr txBox="1"/>
          <p:nvPr/>
        </p:nvSpPr>
        <p:spPr>
          <a:xfrm>
            <a:off x="1633544" y="1762821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27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확인 내용</a:t>
            </a:r>
          </a:p>
        </p:txBody>
      </p:sp>
      <p:sp>
        <p:nvSpPr>
          <p:cNvPr id="228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29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30" name="Text 10"/>
          <p:cNvSpPr txBox="1"/>
          <p:nvPr/>
        </p:nvSpPr>
        <p:spPr>
          <a:xfrm>
            <a:off x="1310132" y="25824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231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issue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단계 내부 선택은 </a:t>
            </a:r>
            <a:r>
              <a:t>ArbiterType::RoundRobin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으로 구현</a:t>
            </a:r>
            <a:r>
              <a:t>.</a:t>
            </a:r>
          </a:p>
        </p:txBody>
      </p:sp>
      <p:sp>
        <p:nvSpPr>
          <p:cNvPr id="232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33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34" name="Text 14"/>
          <p:cNvSpPr txBox="1"/>
          <p:nvPr/>
        </p:nvSpPr>
        <p:spPr>
          <a:xfrm>
            <a:off x="1310132" y="36614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235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ready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한 </a:t>
            </a:r>
            <a:r>
              <a:t>warp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들 사이에서 </a:t>
            </a:r>
            <a:r>
              <a:t>Round Robin arbitration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수행</a:t>
            </a:r>
            <a:r>
              <a:t>.</a:t>
            </a:r>
          </a:p>
        </p:txBody>
      </p:sp>
      <p:sp>
        <p:nvSpPr>
          <p:cNvPr id="236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37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38" name="Text 18"/>
          <p:cNvSpPr txBox="1"/>
          <p:nvPr/>
        </p:nvSpPr>
        <p:spPr>
          <a:xfrm>
            <a:off x="1310132" y="47404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239" name="Text 19"/>
          <p:cNvSpPr txBox="1"/>
          <p:nvPr/>
        </p:nvSpPr>
        <p:spPr>
          <a:xfrm>
            <a:off x="1737360" y="454456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따라서 현재 스케줄링이 관여하는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구조는 </a:t>
            </a:r>
            <a:r>
              <a:t>schedule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단계 </a:t>
            </a:r>
            <a:r>
              <a:t>=&gt; fixed priority, issue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단계 </a:t>
            </a:r>
            <a:r>
              <a:t>=&gt; Round Robin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으로 이원화</a:t>
            </a:r>
            <a:r>
              <a:t>.</a:t>
            </a:r>
          </a:p>
        </p:txBody>
      </p:sp>
      <p:sp>
        <p:nvSpPr>
          <p:cNvPr id="240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41" name="Text 21"/>
          <p:cNvSpPr txBox="1"/>
          <p:nvPr/>
        </p:nvSpPr>
        <p:spPr>
          <a:xfrm>
            <a:off x="1472453" y="6303517"/>
            <a:ext cx="1684023" cy="134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42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43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44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45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46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47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48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49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50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51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52" name="Text 32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07</a:t>
            </a:r>
          </a:p>
        </p:txBody>
      </p:sp>
      <p:pic>
        <p:nvPicPr>
          <p:cNvPr id="253" name="붙여넣은 동영상.png" descr="붙여넣은 동영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969" y="2312193"/>
            <a:ext cx="8026973" cy="7665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1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Issue Bottlenecks</a:t>
            </a:r>
          </a:p>
        </p:txBody>
      </p:sp>
      <p:sp>
        <p:nvSpPr>
          <p:cNvPr id="256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57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5</a:t>
            </a:r>
          </a:p>
        </p:txBody>
      </p:sp>
      <p:sp>
        <p:nvSpPr>
          <p:cNvPr id="258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59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60" name="Text 6"/>
          <p:cNvSpPr txBox="1"/>
          <p:nvPr/>
        </p:nvSpPr>
        <p:spPr>
          <a:xfrm>
            <a:off x="1631800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61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확인 내용</a:t>
            </a:r>
          </a:p>
        </p:txBody>
      </p:sp>
      <p:sp>
        <p:nvSpPr>
          <p:cNvPr id="262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63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64" name="Text 10"/>
          <p:cNvSpPr txBox="1"/>
          <p:nvPr/>
        </p:nvSpPr>
        <p:spPr>
          <a:xfrm>
            <a:off x="1297432" y="25697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265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scoreboard dependency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때문에 </a:t>
            </a:r>
            <a:r>
              <a:t>ready 상태 warp 가 부족해서 candidate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자체가 부족한 경우</a:t>
            </a:r>
            <a:r>
              <a:t>.</a:t>
            </a:r>
          </a:p>
        </p:txBody>
      </p:sp>
      <p:sp>
        <p:nvSpPr>
          <p:cNvPr id="266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67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68" name="Text 14"/>
          <p:cNvSpPr txBox="1"/>
          <p:nvPr/>
        </p:nvSpPr>
        <p:spPr>
          <a:xfrm>
            <a:off x="1297432" y="36487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269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ready warp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가 여러 개인데도 </a:t>
            </a:r>
            <a:r>
              <a:t>Round Robin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이 최적 선택이 아닐 수 있는 경우</a:t>
            </a:r>
            <a:r>
              <a:t>.</a:t>
            </a:r>
          </a:p>
        </p:txBody>
      </p:sp>
      <p:sp>
        <p:nvSpPr>
          <p:cNvPr id="270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71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72" name="Text 18"/>
          <p:cNvSpPr txBox="1"/>
          <p:nvPr/>
        </p:nvSpPr>
        <p:spPr>
          <a:xfrm>
            <a:off x="1297432" y="47277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273" name="Text 19"/>
          <p:cNvSpPr txBox="1"/>
          <p:nvPr/>
        </p:nvSpPr>
        <p:spPr>
          <a:xfrm>
            <a:off x="1737360" y="454456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Round Robin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과 다른 </a:t>
            </a:r>
            <a:r>
              <a:t>policy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를 적용해 </a:t>
            </a:r>
            <a:r>
              <a:t>issue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효율이 개선되는지 확인 예정</a:t>
            </a:r>
            <a:r>
              <a:t>.</a:t>
            </a:r>
          </a:p>
        </p:txBody>
      </p:sp>
      <p:sp>
        <p:nvSpPr>
          <p:cNvPr id="274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75" name="Text 21"/>
          <p:cNvSpPr txBox="1"/>
          <p:nvPr/>
        </p:nvSpPr>
        <p:spPr>
          <a:xfrm>
            <a:off x="1369459" y="6306310"/>
            <a:ext cx="1684022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76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77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78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79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80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81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82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83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84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85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286" name="Text 32"/>
          <p:cNvSpPr txBox="1"/>
          <p:nvPr/>
        </p:nvSpPr>
        <p:spPr>
          <a:xfrm>
            <a:off x="11109959" y="890777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08</a:t>
            </a:r>
          </a:p>
        </p:txBody>
      </p:sp>
      <p:sp>
        <p:nvSpPr>
          <p:cNvPr id="287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파이프라인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t>워프 스케줄러</a:t>
            </a:r>
          </a:p>
        </p:txBody>
      </p:sp>
      <p:sp>
        <p:nvSpPr>
          <p:cNvPr id="290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Vortex Structure</a:t>
            </a:r>
          </a:p>
        </p:txBody>
      </p:sp>
      <p:sp>
        <p:nvSpPr>
          <p:cNvPr id="291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92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293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94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95" name="Text 6"/>
          <p:cNvSpPr txBox="1"/>
          <p:nvPr/>
        </p:nvSpPr>
        <p:spPr>
          <a:xfrm>
            <a:off x="1620669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96" name="Text 7"/>
          <p:cNvSpPr txBox="1"/>
          <p:nvPr/>
        </p:nvSpPr>
        <p:spPr>
          <a:xfrm>
            <a:off x="3337559" y="1749008"/>
            <a:ext cx="2560966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보틀넥의 원인</a:t>
            </a:r>
          </a:p>
        </p:txBody>
      </p:sp>
      <p:sp>
        <p:nvSpPr>
          <p:cNvPr id="297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298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299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00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01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02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03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04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05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06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07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08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09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09</a:t>
            </a:r>
          </a:p>
        </p:txBody>
      </p:sp>
      <p:pic>
        <p:nvPicPr>
          <p:cNvPr id="310" name="그림 36" descr="그림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388" y="2562667"/>
            <a:ext cx="3297812" cy="3147533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Shape 16"/>
          <p:cNvSpPr/>
          <p:nvPr/>
        </p:nvSpPr>
        <p:spPr>
          <a:xfrm>
            <a:off x="777240" y="2394774"/>
            <a:ext cx="1997349" cy="558739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pic>
        <p:nvPicPr>
          <p:cNvPr id="312" name="그림 37" descr="그림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565" y="2562667"/>
            <a:ext cx="2728782" cy="3306512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Text 11"/>
          <p:cNvSpPr txBox="1"/>
          <p:nvPr/>
        </p:nvSpPr>
        <p:spPr>
          <a:xfrm>
            <a:off x="957587" y="2386583"/>
            <a:ext cx="1828801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Branch Divergence</a:t>
            </a:r>
          </a:p>
        </p:txBody>
      </p:sp>
      <p:sp>
        <p:nvSpPr>
          <p:cNvPr id="314" name="Shape 16"/>
          <p:cNvSpPr/>
          <p:nvPr/>
        </p:nvSpPr>
        <p:spPr>
          <a:xfrm>
            <a:off x="6096000" y="2394774"/>
            <a:ext cx="1997349" cy="558739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15" name="Text 11"/>
          <p:cNvSpPr txBox="1"/>
          <p:nvPr/>
        </p:nvSpPr>
        <p:spPr>
          <a:xfrm>
            <a:off x="6219897" y="2386583"/>
            <a:ext cx="1828802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Memory Latency Stall</a:t>
            </a:r>
          </a:p>
        </p:txBody>
      </p:sp>
      <p:sp>
        <p:nvSpPr>
          <p:cNvPr id="316" name="Text 11"/>
          <p:cNvSpPr txBox="1"/>
          <p:nvPr/>
        </p:nvSpPr>
        <p:spPr>
          <a:xfrm>
            <a:off x="6219897" y="3043488"/>
            <a:ext cx="2227669" cy="1146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모든 워프가 메모리 응답 기다리면</a:t>
            </a:r>
          </a:p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idle 상태로 들어가 stall이 생김</a:t>
            </a:r>
          </a:p>
        </p:txBody>
      </p:sp>
      <p:sp>
        <p:nvSpPr>
          <p:cNvPr id="317" name="Text 11"/>
          <p:cNvSpPr txBox="1"/>
          <p:nvPr/>
        </p:nvSpPr>
        <p:spPr>
          <a:xfrm>
            <a:off x="835571" y="3043488"/>
            <a:ext cx="2227670" cy="1146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if-else 등 분기문에서</a:t>
            </a:r>
          </a:p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active mask를 이용해</a:t>
            </a:r>
          </a:p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실행하는 스레드의 명령어 실행</a:t>
            </a:r>
          </a:p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연산 유닛의 실행률 감소</a:t>
            </a:r>
          </a:p>
        </p:txBody>
      </p:sp>
      <p:sp>
        <p:nvSpPr>
          <p:cNvPr id="318" name="직사각형 45"/>
          <p:cNvSpPr/>
          <p:nvPr/>
        </p:nvSpPr>
        <p:spPr>
          <a:xfrm>
            <a:off x="6095999" y="2273300"/>
            <a:ext cx="5358795" cy="3595879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7F9FC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21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t>워프 스케줄러</a:t>
            </a:r>
          </a:p>
        </p:txBody>
      </p:sp>
      <p:sp>
        <p:nvSpPr>
          <p:cNvPr id="322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Warp Scheduler</a:t>
            </a:r>
          </a:p>
        </p:txBody>
      </p:sp>
      <p:sp>
        <p:nvSpPr>
          <p:cNvPr id="323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24" name="Text 3"/>
          <p:cNvSpPr txBox="1"/>
          <p:nvPr/>
        </p:nvSpPr>
        <p:spPr>
          <a:xfrm>
            <a:off x="10465920" y="58953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2</a:t>
            </a:r>
          </a:p>
        </p:txBody>
      </p:sp>
      <p:sp>
        <p:nvSpPr>
          <p:cNvPr id="325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26" name="Text 6"/>
          <p:cNvSpPr txBox="1"/>
          <p:nvPr/>
        </p:nvSpPr>
        <p:spPr>
          <a:xfrm>
            <a:off x="1569171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327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28" name="Text 21"/>
          <p:cNvSpPr txBox="1"/>
          <p:nvPr/>
        </p:nvSpPr>
        <p:spPr>
          <a:xfrm>
            <a:off x="1330835" y="6303517"/>
            <a:ext cx="1684023" cy="134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329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30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31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32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33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34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35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36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37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38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39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10</a:t>
            </a:r>
          </a:p>
        </p:txBody>
      </p:sp>
      <p:pic>
        <p:nvPicPr>
          <p:cNvPr id="340" name="그림 71" descr="그림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15" y="2282207"/>
            <a:ext cx="5015756" cy="1967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그림 72" descr="그림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08" y="2054174"/>
            <a:ext cx="4676679" cy="22945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" name="그림 73" descr="그림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4567097"/>
            <a:ext cx="5216654" cy="1209480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 11"/>
          <p:cNvSpPr txBox="1"/>
          <p:nvPr/>
        </p:nvSpPr>
        <p:spPr>
          <a:xfrm>
            <a:off x="963613" y="4496051"/>
            <a:ext cx="5002846" cy="1036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Fixed Priority 방식</a:t>
            </a:r>
          </a:p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id=0인 워프부터 순차 탐색하여 active이고 memory stall되지 않은 워프를  찾으면 바로 그 워프를 선택</a:t>
            </a:r>
          </a:p>
        </p:txBody>
      </p:sp>
      <p:sp>
        <p:nvSpPr>
          <p:cNvPr id="344" name="Text 7"/>
          <p:cNvSpPr txBox="1"/>
          <p:nvPr/>
        </p:nvSpPr>
        <p:spPr>
          <a:xfrm>
            <a:off x="3337559" y="1662809"/>
            <a:ext cx="3192031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Vortex의 워프 스케줄러 구현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47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t>워프 스케줄러</a:t>
            </a:r>
          </a:p>
        </p:txBody>
      </p:sp>
      <p:sp>
        <p:nvSpPr>
          <p:cNvPr id="348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Warp Scheduler</a:t>
            </a:r>
          </a:p>
        </p:txBody>
      </p:sp>
      <p:sp>
        <p:nvSpPr>
          <p:cNvPr id="349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50" name="Text 3"/>
          <p:cNvSpPr txBox="1"/>
          <p:nvPr/>
        </p:nvSpPr>
        <p:spPr>
          <a:xfrm>
            <a:off x="10465920" y="58953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2</a:t>
            </a:r>
          </a:p>
        </p:txBody>
      </p:sp>
      <p:sp>
        <p:nvSpPr>
          <p:cNvPr id="351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52" name="Text 6"/>
          <p:cNvSpPr txBox="1"/>
          <p:nvPr/>
        </p:nvSpPr>
        <p:spPr>
          <a:xfrm>
            <a:off x="1569171" y="1767139"/>
            <a:ext cx="1554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353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54" name="Text 21"/>
          <p:cNvSpPr txBox="1"/>
          <p:nvPr/>
        </p:nvSpPr>
        <p:spPr>
          <a:xfrm>
            <a:off x="1330835" y="6303517"/>
            <a:ext cx="1684023" cy="134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355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56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57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58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59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60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61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62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63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64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65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11</a:t>
            </a:r>
          </a:p>
        </p:txBody>
      </p:sp>
      <p:pic>
        <p:nvPicPr>
          <p:cNvPr id="366" name="그림 52" descr="그림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65" y="2164926"/>
            <a:ext cx="7328399" cy="1648544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 11"/>
          <p:cNvSpPr txBox="1"/>
          <p:nvPr/>
        </p:nvSpPr>
        <p:spPr>
          <a:xfrm>
            <a:off x="1381083" y="4025791"/>
            <a:ext cx="8182017" cy="268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특정 워프를 우선하여 선택하는 정책 (Fixed priority, Greedy-then-Oldest 등)은</a:t>
            </a:r>
          </a:p>
        </p:txBody>
      </p:sp>
      <p:sp>
        <p:nvSpPr>
          <p:cNvPr id="368" name="Text 7"/>
          <p:cNvSpPr txBox="1"/>
          <p:nvPr/>
        </p:nvSpPr>
        <p:spPr>
          <a:xfrm>
            <a:off x="3337559" y="1662810"/>
            <a:ext cx="2470814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고정 우선순위의 한계</a:t>
            </a:r>
          </a:p>
        </p:txBody>
      </p:sp>
      <p:sp>
        <p:nvSpPr>
          <p:cNvPr id="369" name="TextBox 56"/>
          <p:cNvSpPr txBox="1"/>
          <p:nvPr/>
        </p:nvSpPr>
        <p:spPr>
          <a:xfrm>
            <a:off x="1664969" y="4374034"/>
            <a:ext cx="7943852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- Starvation 발생 (나머지 warp가 계속 대기하게 됨)</a:t>
            </a:r>
            <a:endParaRPr sz="120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- Cache locality 감소 (한 워프에 의해 열린 row buffer는 다음 워프에서 재사용)</a:t>
            </a:r>
            <a:endParaRPr sz="1200"/>
          </a:p>
        </p:txBody>
      </p:sp>
      <p:sp>
        <p:nvSpPr>
          <p:cNvPr id="370" name="Text 11"/>
          <p:cNvSpPr txBox="1"/>
          <p:nvPr/>
        </p:nvSpPr>
        <p:spPr>
          <a:xfrm>
            <a:off x="1381083" y="5057935"/>
            <a:ext cx="8182017" cy="268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등의 문제 발생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t>워프 스케줄러 정책 조사</a:t>
            </a:r>
          </a:p>
        </p:txBody>
      </p:sp>
      <p:sp>
        <p:nvSpPr>
          <p:cNvPr id="373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Vortex Structure</a:t>
            </a:r>
          </a:p>
        </p:txBody>
      </p:sp>
      <p:sp>
        <p:nvSpPr>
          <p:cNvPr id="374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75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376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379" name="Shape 5"/>
          <p:cNvGrpSpPr/>
          <p:nvPr/>
        </p:nvGrpSpPr>
        <p:grpSpPr>
          <a:xfrm>
            <a:off x="978408" y="1627632"/>
            <a:ext cx="3349751" cy="493778"/>
            <a:chOff x="0" y="0"/>
            <a:chExt cx="3349750" cy="493776"/>
          </a:xfrm>
        </p:grpSpPr>
        <p:sp>
          <p:nvSpPr>
            <p:cNvPr id="377" name="모서리가 둥근 직사각형"/>
            <p:cNvSpPr/>
            <p:nvPr/>
          </p:nvSpPr>
          <p:spPr>
            <a:xfrm>
              <a:off x="0" y="0"/>
              <a:ext cx="3349751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HCR Dotum"/>
                  <a:ea typeface="HCR Dotum"/>
                  <a:cs typeface="HCR Dotum"/>
                  <a:sym typeface="HCR Dotum"/>
                </a:defRPr>
              </a:pPr>
              <a:endParaRPr/>
            </a:p>
          </p:txBody>
        </p:sp>
        <p:sp>
          <p:nvSpPr>
            <p:cNvPr id="378" name="Two-level Warp Scheduling"/>
            <p:cNvSpPr txBox="1"/>
            <p:nvPr/>
          </p:nvSpPr>
          <p:spPr>
            <a:xfrm>
              <a:off x="27776" y="61469"/>
              <a:ext cx="3294199" cy="370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HCR Dotum"/>
                  <a:ea typeface="HCR Dotum"/>
                  <a:cs typeface="HCR Dotum"/>
                  <a:sym typeface="HCR Dotum"/>
                </a:defRPr>
              </a:lvl1pPr>
            </a:lstStyle>
            <a:p>
              <a:r>
                <a:t>Two-level Warp Scheduling</a:t>
              </a:r>
            </a:p>
          </p:txBody>
        </p:sp>
      </p:grpSp>
      <p:sp>
        <p:nvSpPr>
          <p:cNvPr id="380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81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382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83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84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85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86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87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88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89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90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391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392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12</a:t>
            </a:r>
          </a:p>
        </p:txBody>
      </p:sp>
      <p:pic>
        <p:nvPicPr>
          <p:cNvPr id="393" name="그림 32" descr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" y="2510790"/>
            <a:ext cx="5346328" cy="2225802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Text 11"/>
          <p:cNvSpPr txBox="1"/>
          <p:nvPr/>
        </p:nvSpPr>
        <p:spPr>
          <a:xfrm>
            <a:off x="6350261" y="2631824"/>
            <a:ext cx="4965437" cy="1526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워프를</a:t>
            </a:r>
            <a:r>
              <a:rPr dirty="0"/>
              <a:t> </a:t>
            </a:r>
            <a:r>
              <a:rPr dirty="0" err="1"/>
              <a:t>그룹별로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,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그룹만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/ </a:t>
            </a:r>
            <a:r>
              <a:rPr dirty="0" err="1"/>
              <a:t>그룹</a:t>
            </a:r>
            <a:r>
              <a:rPr dirty="0"/>
              <a:t> 내 RR</a:t>
            </a:r>
            <a:endParaRPr sz="1200"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워프</a:t>
            </a:r>
            <a:r>
              <a:rPr dirty="0"/>
              <a:t> </a:t>
            </a:r>
            <a:r>
              <a:rPr dirty="0" err="1"/>
              <a:t>그룹만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</a:t>
            </a:r>
            <a:r>
              <a:rPr dirty="0" err="1"/>
              <a:t>실행해서</a:t>
            </a:r>
            <a:r>
              <a:rPr dirty="0"/>
              <a:t> </a:t>
            </a:r>
            <a:r>
              <a:rPr dirty="0" err="1"/>
              <a:t>불균형을</a:t>
            </a:r>
            <a:r>
              <a:rPr dirty="0"/>
              <a:t> </a:t>
            </a:r>
            <a:r>
              <a:rPr dirty="0" err="1"/>
              <a:t>만들면</a:t>
            </a:r>
            <a:endParaRPr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워프가</a:t>
            </a:r>
            <a:r>
              <a:rPr dirty="0"/>
              <a:t> </a:t>
            </a:r>
            <a:r>
              <a:rPr dirty="0" err="1"/>
              <a:t>멈추는</a:t>
            </a:r>
            <a:r>
              <a:rPr dirty="0"/>
              <a:t> </a:t>
            </a:r>
            <a:r>
              <a:rPr dirty="0" err="1"/>
              <a:t>상황</a:t>
            </a:r>
            <a:r>
              <a:rPr dirty="0"/>
              <a:t> </a:t>
            </a:r>
            <a:r>
              <a:rPr dirty="0" err="1"/>
              <a:t>방지</a:t>
            </a:r>
            <a:endParaRPr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워프</a:t>
            </a:r>
            <a:r>
              <a:rPr dirty="0"/>
              <a:t>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내에서는</a:t>
            </a:r>
            <a:r>
              <a:rPr dirty="0"/>
              <a:t> cache </a:t>
            </a:r>
            <a:r>
              <a:rPr dirty="0" err="1"/>
              <a:t>locality가</a:t>
            </a:r>
            <a:r>
              <a:rPr dirty="0"/>
              <a:t> </a:t>
            </a:r>
            <a:r>
              <a:rPr dirty="0" err="1"/>
              <a:t>높음</a:t>
            </a:r>
            <a:endParaRPr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stall을</a:t>
            </a:r>
            <a:r>
              <a:rPr dirty="0"/>
              <a:t> </a:t>
            </a:r>
            <a:r>
              <a:rPr dirty="0" err="1"/>
              <a:t>방지하고</a:t>
            </a:r>
            <a:r>
              <a:rPr dirty="0"/>
              <a:t> cache locality </a:t>
            </a:r>
            <a:r>
              <a:rPr dirty="0" err="1"/>
              <a:t>개선</a:t>
            </a:r>
            <a:endParaRPr dirty="0"/>
          </a:p>
        </p:txBody>
      </p:sp>
      <p:sp>
        <p:nvSpPr>
          <p:cNvPr id="395" name="Text 11"/>
          <p:cNvSpPr txBox="1"/>
          <p:nvPr/>
        </p:nvSpPr>
        <p:spPr>
          <a:xfrm>
            <a:off x="1106111" y="5423317"/>
            <a:ext cx="10031594" cy="370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804672">
              <a:defRPr sz="704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V. Narasiman, M. Shebanow, C. J. Lee, R. Miftakhutdinov, O. Mutlu and Y. N. Patt, "Improving GPU performance via large warps and two-level warp scheduling," 2011 44th Annual IEEE/ACM International Symposium on Microarchitecture (MICRO), Porto Alegre, Brazil, 2011, pp. 308-317. keywords: {Graphics processing units;Instruction sets;Processor scheduling;Pipelines;Registers;Benchmark testing;Scheduling;GPGPU;SIMD;Divergence;Warp Scheduling},</a:t>
            </a:r>
            <a:endParaRPr sz="1056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t>워프 스케줄러 정책 조사</a:t>
            </a:r>
          </a:p>
        </p:txBody>
      </p:sp>
      <p:sp>
        <p:nvSpPr>
          <p:cNvPr id="398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Vortex Structure</a:t>
            </a:r>
          </a:p>
        </p:txBody>
      </p:sp>
      <p:sp>
        <p:nvSpPr>
          <p:cNvPr id="399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00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401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404" name="Shape 5"/>
          <p:cNvGrpSpPr/>
          <p:nvPr/>
        </p:nvGrpSpPr>
        <p:grpSpPr>
          <a:xfrm>
            <a:off x="978408" y="1549401"/>
            <a:ext cx="4416553" cy="650239"/>
            <a:chOff x="0" y="0"/>
            <a:chExt cx="4416552" cy="650238"/>
          </a:xfrm>
        </p:grpSpPr>
        <p:sp>
          <p:nvSpPr>
            <p:cNvPr id="402" name="모서리가 둥근 직사각형"/>
            <p:cNvSpPr/>
            <p:nvPr/>
          </p:nvSpPr>
          <p:spPr>
            <a:xfrm>
              <a:off x="0" y="78230"/>
              <a:ext cx="4416553" cy="493778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HCR Dotum"/>
                  <a:ea typeface="HCR Dotum"/>
                  <a:cs typeface="HCR Dotum"/>
                  <a:sym typeface="HCR Dotum"/>
                </a:defRPr>
              </a:pPr>
              <a:endParaRPr/>
            </a:p>
          </p:txBody>
        </p:sp>
        <p:sp>
          <p:nvSpPr>
            <p:cNvPr id="403" name="Cache-Conscious Wavefront Scheduling"/>
            <p:cNvSpPr txBox="1"/>
            <p:nvPr/>
          </p:nvSpPr>
          <p:spPr>
            <a:xfrm>
              <a:off x="27775" y="0"/>
              <a:ext cx="4361003" cy="6502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HCR Dotum"/>
                  <a:ea typeface="HCR Dotum"/>
                  <a:cs typeface="HCR Dotum"/>
                  <a:sym typeface="HCR Dotum"/>
                </a:defRPr>
              </a:lvl1pPr>
            </a:lstStyle>
            <a:p>
              <a:r>
                <a:t>Cache-Conscious Wavefront Scheduling</a:t>
              </a:r>
            </a:p>
          </p:txBody>
        </p:sp>
      </p:grpSp>
      <p:sp>
        <p:nvSpPr>
          <p:cNvPr id="405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06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407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08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09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10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11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12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13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14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15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16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17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13</a:t>
            </a:r>
          </a:p>
        </p:txBody>
      </p:sp>
      <p:pic>
        <p:nvPicPr>
          <p:cNvPr id="418" name="그림 26" descr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9" y="2258066"/>
            <a:ext cx="7984984" cy="1971034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Text 11"/>
          <p:cNvSpPr txBox="1"/>
          <p:nvPr/>
        </p:nvSpPr>
        <p:spPr>
          <a:xfrm>
            <a:off x="1156470" y="4505264"/>
            <a:ext cx="9219331" cy="106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실행하는</a:t>
            </a:r>
            <a:r>
              <a:rPr dirty="0"/>
              <a:t> wavefront(warp) </a:t>
            </a:r>
            <a:r>
              <a:rPr dirty="0" err="1"/>
              <a:t>수를</a:t>
            </a:r>
            <a:r>
              <a:rPr dirty="0"/>
              <a:t> </a:t>
            </a:r>
            <a:r>
              <a:rPr dirty="0" err="1"/>
              <a:t>유동적으로</a:t>
            </a:r>
            <a:r>
              <a:rPr dirty="0"/>
              <a:t> </a:t>
            </a:r>
            <a:r>
              <a:rPr dirty="0" err="1"/>
              <a:t>증감</a:t>
            </a:r>
            <a:endParaRPr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워프의</a:t>
            </a:r>
            <a:r>
              <a:rPr dirty="0"/>
              <a:t> </a:t>
            </a:r>
            <a:r>
              <a:rPr dirty="0" err="1"/>
              <a:t>개수가</a:t>
            </a:r>
            <a:r>
              <a:rPr dirty="0"/>
              <a:t> </a:t>
            </a:r>
            <a:r>
              <a:rPr dirty="0" err="1"/>
              <a:t>너무</a:t>
            </a:r>
            <a:r>
              <a:rPr dirty="0"/>
              <a:t> </a:t>
            </a:r>
            <a:r>
              <a:rPr dirty="0" err="1"/>
              <a:t>많으면</a:t>
            </a:r>
            <a:r>
              <a:rPr dirty="0"/>
              <a:t> cache thrashing </a:t>
            </a:r>
            <a:r>
              <a:rPr dirty="0" err="1"/>
              <a:t>발생률이</a:t>
            </a:r>
            <a:r>
              <a:rPr dirty="0"/>
              <a:t> </a:t>
            </a:r>
            <a:r>
              <a:rPr dirty="0" err="1"/>
              <a:t>높음</a:t>
            </a:r>
            <a:endParaRPr dirty="0"/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 err="1"/>
              <a:t>캐시</a:t>
            </a:r>
            <a:r>
              <a:rPr dirty="0"/>
              <a:t> hit </a:t>
            </a:r>
            <a:r>
              <a:rPr dirty="0" err="1"/>
              <a:t>rate율이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파라미터를</a:t>
            </a:r>
            <a:r>
              <a:rPr dirty="0"/>
              <a:t> </a:t>
            </a:r>
            <a:r>
              <a:rPr dirty="0" err="1"/>
              <a:t>찾아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향상</a:t>
            </a:r>
            <a:endParaRPr dirty="0"/>
          </a:p>
        </p:txBody>
      </p:sp>
      <p:sp>
        <p:nvSpPr>
          <p:cNvPr id="420" name="Text 11"/>
          <p:cNvSpPr txBox="1"/>
          <p:nvPr/>
        </p:nvSpPr>
        <p:spPr>
          <a:xfrm>
            <a:off x="883164" y="5710939"/>
            <a:ext cx="10934194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8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Do, C.T., Choi, H.J., Chung, S.W. et al. A novel warp scheduling scheme considering long-latency operations for high-performance GPUs. J Supercomput 76, 3043–3062 (2020). https://doi.org/10.1007/s11227-019-03091-2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t>워프 스케줄러 정책 조사</a:t>
            </a:r>
          </a:p>
        </p:txBody>
      </p:sp>
      <p:sp>
        <p:nvSpPr>
          <p:cNvPr id="423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Vortex Structure</a:t>
            </a:r>
          </a:p>
        </p:txBody>
      </p:sp>
      <p:sp>
        <p:nvSpPr>
          <p:cNvPr id="424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25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426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429" name="Shape 5"/>
          <p:cNvGrpSpPr/>
          <p:nvPr/>
        </p:nvGrpSpPr>
        <p:grpSpPr>
          <a:xfrm>
            <a:off x="978408" y="1627632"/>
            <a:ext cx="2949649" cy="493778"/>
            <a:chOff x="0" y="0"/>
            <a:chExt cx="2949648" cy="493776"/>
          </a:xfrm>
        </p:grpSpPr>
        <p:sp>
          <p:nvSpPr>
            <p:cNvPr id="427" name="모서리가 둥근 직사각형"/>
            <p:cNvSpPr/>
            <p:nvPr/>
          </p:nvSpPr>
          <p:spPr>
            <a:xfrm>
              <a:off x="0" y="0"/>
              <a:ext cx="2949649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28" name="WPS-Aware Scheduling"/>
            <p:cNvSpPr txBox="1"/>
            <p:nvPr/>
          </p:nvSpPr>
          <p:spPr>
            <a:xfrm>
              <a:off x="27775" y="67818"/>
              <a:ext cx="289409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WPS-Aware Scheduling</a:t>
              </a:r>
            </a:p>
          </p:txBody>
        </p:sp>
      </p:grpSp>
      <p:sp>
        <p:nvSpPr>
          <p:cNvPr id="430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31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432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33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34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35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36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37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38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39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40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41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42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14</a:t>
            </a:r>
          </a:p>
        </p:txBody>
      </p:sp>
      <p:sp>
        <p:nvSpPr>
          <p:cNvPr id="443" name="Text 11"/>
          <p:cNvSpPr txBox="1"/>
          <p:nvPr/>
        </p:nvSpPr>
        <p:spPr>
          <a:xfrm>
            <a:off x="1156470" y="4505264"/>
            <a:ext cx="8605716" cy="708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Stall로 인한 warp 진행의 불균형은 Cache Miss를 유발함</a:t>
            </a:r>
          </a:p>
          <a:p>
            <a:pPr>
              <a:defRPr sz="14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Warp Progress Similarity (WPS)를 도입하여 심하게 차이나지 않도록 제한</a:t>
            </a:r>
          </a:p>
        </p:txBody>
      </p:sp>
      <p:sp>
        <p:nvSpPr>
          <p:cNvPr id="444" name="TextBox 30"/>
          <p:cNvSpPr txBox="1"/>
          <p:nvPr/>
        </p:nvSpPr>
        <p:spPr>
          <a:xfrm>
            <a:off x="822960" y="5567867"/>
            <a:ext cx="1065276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C. Zhang, H. Tabkhi and G. Schirner, "Studying Inter-Warp Divergence Aware Execution on GPUs," in IEEE Computer Architecture Letters, vol. 15, no. 2, pp. 117-120, 1 July-Dec. 2016, doi: 10.1109/LCA.2015.2478778. keywords: {Benchmark testing;Throughput;Computer architecture;Measurement;Processor scheduling;Histograms;Graphics processing units;Inter-warp divergence;warp progression similarity (WPS);GPU scheduler},</a:t>
            </a:r>
            <a:endParaRPr>
              <a:latin typeface="HCR Dotum"/>
              <a:ea typeface="HCR Dotum"/>
              <a:cs typeface="HCR Dotum"/>
              <a:sym typeface="HCR Dotum"/>
            </a:endParaRPr>
          </a:p>
          <a:p>
            <a:pPr>
              <a:defRPr sz="800" b="1">
                <a:latin typeface="나눔고딕"/>
                <a:ea typeface="나눔고딕"/>
                <a:cs typeface="나눔고딕"/>
                <a:sym typeface="나눔고딕"/>
              </a:defRPr>
            </a:pPr>
            <a:br>
              <a:rPr>
                <a:latin typeface="HCR Dotum"/>
                <a:ea typeface="HCR Dotum"/>
                <a:cs typeface="HCR Dotum"/>
                <a:sym typeface="HCR Dotum"/>
              </a:rPr>
            </a:br>
            <a:endParaRPr>
              <a:latin typeface="HCR Dotum"/>
              <a:ea typeface="HCR Dotum"/>
              <a:cs typeface="HCR Dotum"/>
              <a:sym typeface="HCR Dotum"/>
            </a:endParaRPr>
          </a:p>
        </p:txBody>
      </p:sp>
      <p:pic>
        <p:nvPicPr>
          <p:cNvPr id="445" name="그림 34" descr="그림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642" y="2220591"/>
            <a:ext cx="3343812" cy="210239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그림 36" descr="그림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470" y="2255773"/>
            <a:ext cx="3200849" cy="20672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449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450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51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452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455" name="Shape 5"/>
          <p:cNvGrpSpPr/>
          <p:nvPr/>
        </p:nvGrpSpPr>
        <p:grpSpPr>
          <a:xfrm>
            <a:off x="978408" y="1627632"/>
            <a:ext cx="1574292" cy="493778"/>
            <a:chOff x="0" y="0"/>
            <a:chExt cx="1574291" cy="493776"/>
          </a:xfrm>
        </p:grpSpPr>
        <p:sp>
          <p:nvSpPr>
            <p:cNvPr id="453" name="모서리가 둥근 직사각형"/>
            <p:cNvSpPr/>
            <p:nvPr/>
          </p:nvSpPr>
          <p:spPr>
            <a:xfrm>
              <a:off x="0" y="0"/>
              <a:ext cx="1574292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4" name="SGEMM"/>
            <p:cNvSpPr txBox="1"/>
            <p:nvPr/>
          </p:nvSpPr>
          <p:spPr>
            <a:xfrm>
              <a:off x="27776" y="67818"/>
              <a:ext cx="151873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SGEMM</a:t>
              </a:r>
            </a:p>
          </p:txBody>
        </p:sp>
      </p:grpSp>
      <p:sp>
        <p:nvSpPr>
          <p:cNvPr id="456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57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458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59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60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61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62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63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64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65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66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67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68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15</a:t>
            </a:r>
          </a:p>
        </p:txBody>
      </p:sp>
      <p:sp>
        <p:nvSpPr>
          <p:cNvPr id="469" name="Text 7"/>
          <p:cNvSpPr txBox="1"/>
          <p:nvPr/>
        </p:nvSpPr>
        <p:spPr>
          <a:xfrm>
            <a:off x="2756893" y="1799181"/>
            <a:ext cx="325528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Single Precision general matrix multiply</a:t>
            </a:r>
          </a:p>
        </p:txBody>
      </p:sp>
      <p:pic>
        <p:nvPicPr>
          <p:cNvPr id="470" name="그림 27" descr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662" y="2177476"/>
            <a:ext cx="4156676" cy="3342246"/>
          </a:xfrm>
          <a:prstGeom prst="rect">
            <a:avLst/>
          </a:prstGeom>
          <a:ln w="12700">
            <a:miter lim="400000"/>
          </a:ln>
        </p:spPr>
      </p:pic>
      <p:sp>
        <p:nvSpPr>
          <p:cNvPr id="471" name="내용 개체 틀 2"/>
          <p:cNvSpPr txBox="1">
            <a:spLocks noGrp="1"/>
          </p:cNvSpPr>
          <p:nvPr>
            <p:ph type="body" sz="quarter" idx="1"/>
          </p:nvPr>
        </p:nvSpPr>
        <p:spPr>
          <a:xfrm>
            <a:off x="969081" y="5608930"/>
            <a:ext cx="7752010" cy="320449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1200"/>
            </a:lvl1pPr>
          </a:lstStyle>
          <a:p>
            <a:r>
              <a:t>Fig 6. The Journal of Supercomputing (2022) 78:13393–13408 https://doi.org/10.1007/s11227-022-04336-3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76" name="Google Shape;70;p15"/>
          <p:cNvSpPr txBox="1"/>
          <p:nvPr/>
        </p:nvSpPr>
        <p:spPr>
          <a:xfrm>
            <a:off x="6506239" y="4215169"/>
            <a:ext cx="5176116" cy="46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https://ieeexplore.ieee.org/document/9065523</a:t>
            </a:r>
          </a:p>
        </p:txBody>
      </p:sp>
      <p:sp>
        <p:nvSpPr>
          <p:cNvPr id="477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478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479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80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grpSp>
        <p:nvGrpSpPr>
          <p:cNvPr id="483" name="Shape 5"/>
          <p:cNvGrpSpPr/>
          <p:nvPr/>
        </p:nvGrpSpPr>
        <p:grpSpPr>
          <a:xfrm>
            <a:off x="978408" y="1627632"/>
            <a:ext cx="1574292" cy="493778"/>
            <a:chOff x="0" y="0"/>
            <a:chExt cx="1574291" cy="493776"/>
          </a:xfrm>
        </p:grpSpPr>
        <p:sp>
          <p:nvSpPr>
            <p:cNvPr id="481" name="모서리가 둥근 직사각형"/>
            <p:cNvSpPr/>
            <p:nvPr/>
          </p:nvSpPr>
          <p:spPr>
            <a:xfrm>
              <a:off x="0" y="0"/>
              <a:ext cx="1574292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2" name="AI Revolution"/>
            <p:cNvSpPr txBox="1"/>
            <p:nvPr/>
          </p:nvSpPr>
          <p:spPr>
            <a:xfrm>
              <a:off x="27776" y="67818"/>
              <a:ext cx="151873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AI Revolution</a:t>
              </a:r>
            </a:p>
          </p:txBody>
        </p:sp>
      </p:grpSp>
      <p:sp>
        <p:nvSpPr>
          <p:cNvPr id="484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85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486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87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88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89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90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91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92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93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94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495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496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16</a:t>
            </a:r>
          </a:p>
        </p:txBody>
      </p:sp>
      <p:pic>
        <p:nvPicPr>
          <p:cNvPr id="497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533" y="1491810"/>
            <a:ext cx="915044" cy="915044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" name="Google Shape;69;p15" descr="Google Shape;69;p15"/>
          <p:cNvPicPr>
            <a:picLocks noChangeAspect="1"/>
          </p:cNvPicPr>
          <p:nvPr/>
        </p:nvPicPr>
        <p:blipFill>
          <a:blip r:embed="rId4"/>
          <a:srcRect b="17700"/>
          <a:stretch>
            <a:fillRect/>
          </a:stretch>
        </p:blipFill>
        <p:spPr>
          <a:xfrm>
            <a:off x="6434137" y="2511550"/>
            <a:ext cx="4779456" cy="1763049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내용 개체 틀 2"/>
          <p:cNvSpPr txBox="1"/>
          <p:nvPr/>
        </p:nvSpPr>
        <p:spPr>
          <a:xfrm>
            <a:off x="909827" y="2641283"/>
            <a:ext cx="5590350" cy="176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 marL="548640" lvl="1" indent="-274319">
              <a:lnSpc>
                <a:spcPct val="90000"/>
              </a:lnSpc>
              <a:spcBef>
                <a:spcPts val="500"/>
              </a:spcBef>
              <a:buSzPts val="2400"/>
              <a:buFont typeface="Arial"/>
              <a:buChar char="•"/>
              <a:defRPr sz="2400" b="1"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AI Explosion with LLMs</a:t>
            </a:r>
          </a:p>
          <a:p>
            <a:pPr marL="548640" lvl="1" indent="-274319">
              <a:lnSpc>
                <a:spcPct val="90000"/>
              </a:lnSpc>
              <a:spcBef>
                <a:spcPts val="500"/>
              </a:spcBef>
              <a:buSzPts val="2400"/>
              <a:buFont typeface="Arial"/>
              <a:buChar char="•"/>
              <a:defRPr sz="2400" b="1"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MatMul is the core workload</a:t>
            </a:r>
          </a:p>
          <a:p>
            <a:pPr marL="548640" lvl="1" indent="-274319">
              <a:lnSpc>
                <a:spcPct val="90000"/>
              </a:lnSpc>
              <a:spcBef>
                <a:spcPts val="500"/>
              </a:spcBef>
              <a:buSzPts val="2400"/>
              <a:buFont typeface="Arial"/>
              <a:buChar char="•"/>
              <a:defRPr sz="2400" b="1"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70% total runtime in training</a:t>
            </a:r>
          </a:p>
          <a:p>
            <a:pPr marL="548640" lvl="1" indent="-274319">
              <a:lnSpc>
                <a:spcPct val="90000"/>
              </a:lnSpc>
              <a:spcBef>
                <a:spcPts val="500"/>
              </a:spcBef>
              <a:buSzPts val="2400"/>
              <a:buFont typeface="Arial"/>
              <a:buChar char="•"/>
              <a:defRPr sz="2400" b="1"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Need perf. scaling and efficiency</a:t>
            </a:r>
          </a:p>
        </p:txBody>
      </p:sp>
      <p:pic>
        <p:nvPicPr>
          <p:cNvPr id="500" name="그림 30" descr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577" y="1335249"/>
            <a:ext cx="3029206" cy="43751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1" name="그림 31" descr="그림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579" y="1987362"/>
            <a:ext cx="5487201" cy="29714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Picture 2" descr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227" y="2406854"/>
            <a:ext cx="8470008" cy="2823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" grpId="1" animBg="1" advAuto="0"/>
      <p:bldP spid="501" grpId="2" animBg="1" advAuto="0"/>
      <p:bldP spid="502" grpId="3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07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508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509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10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511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12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513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14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15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16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17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18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19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20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21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22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23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17</a:t>
            </a:r>
          </a:p>
        </p:txBody>
      </p:sp>
      <p:grpSp>
        <p:nvGrpSpPr>
          <p:cNvPr id="527" name="그룹 23"/>
          <p:cNvGrpSpPr/>
          <p:nvPr/>
        </p:nvGrpSpPr>
        <p:grpSpPr>
          <a:xfrm>
            <a:off x="3063239" y="1088136"/>
            <a:ext cx="5952804" cy="5492793"/>
            <a:chOff x="0" y="0"/>
            <a:chExt cx="5952802" cy="5492791"/>
          </a:xfrm>
        </p:grpSpPr>
        <p:pic>
          <p:nvPicPr>
            <p:cNvPr id="524" name="그림 1" descr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952803" cy="54927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5" name="직사각형 2"/>
            <p:cNvSpPr/>
            <p:nvPr/>
          </p:nvSpPr>
          <p:spPr>
            <a:xfrm>
              <a:off x="845401" y="2817598"/>
              <a:ext cx="4826538" cy="335671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7F9FC"/>
                  </a:solidFill>
                </a:defRPr>
              </a:pPr>
              <a:endParaRPr/>
            </a:p>
          </p:txBody>
        </p:sp>
        <p:sp>
          <p:nvSpPr>
            <p:cNvPr id="526" name="직사각형 22"/>
            <p:cNvSpPr/>
            <p:nvPr/>
          </p:nvSpPr>
          <p:spPr>
            <a:xfrm>
              <a:off x="845401" y="3900899"/>
              <a:ext cx="5004545" cy="534022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7F9FC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32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533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534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35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536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37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538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39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40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41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42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43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44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45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46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47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48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18</a:t>
            </a:r>
          </a:p>
        </p:txBody>
      </p:sp>
      <p:pic>
        <p:nvPicPr>
          <p:cNvPr id="549" name="내용 개체 틀 9" descr="내용 개체 틀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3665"/>
            <a:ext cx="10515600" cy="291845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2" name="Shape 5"/>
          <p:cNvGrpSpPr/>
          <p:nvPr/>
        </p:nvGrpSpPr>
        <p:grpSpPr>
          <a:xfrm>
            <a:off x="978408" y="1627632"/>
            <a:ext cx="1574292" cy="493778"/>
            <a:chOff x="0" y="0"/>
            <a:chExt cx="1574291" cy="493776"/>
          </a:xfrm>
        </p:grpSpPr>
        <p:sp>
          <p:nvSpPr>
            <p:cNvPr id="550" name="모서리가 둥근 직사각형"/>
            <p:cNvSpPr/>
            <p:nvPr/>
          </p:nvSpPr>
          <p:spPr>
            <a:xfrm>
              <a:off x="0" y="0"/>
              <a:ext cx="1574292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51" name="SpMV"/>
            <p:cNvSpPr txBox="1"/>
            <p:nvPr/>
          </p:nvSpPr>
          <p:spPr>
            <a:xfrm>
              <a:off x="27776" y="67818"/>
              <a:ext cx="151873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SpMV</a:t>
              </a:r>
            </a:p>
          </p:txBody>
        </p:sp>
      </p:grpSp>
      <p:sp>
        <p:nvSpPr>
          <p:cNvPr id="553" name="Text 7"/>
          <p:cNvSpPr txBox="1"/>
          <p:nvPr/>
        </p:nvSpPr>
        <p:spPr>
          <a:xfrm>
            <a:off x="2756893" y="1799181"/>
            <a:ext cx="325528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Sparse Matrix Vector Multiplication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58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559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560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61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562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63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564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65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66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67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68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69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70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71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72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73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574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19</a:t>
            </a:r>
          </a:p>
        </p:txBody>
      </p:sp>
      <p:grpSp>
        <p:nvGrpSpPr>
          <p:cNvPr id="577" name="Shape 5"/>
          <p:cNvGrpSpPr/>
          <p:nvPr/>
        </p:nvGrpSpPr>
        <p:grpSpPr>
          <a:xfrm>
            <a:off x="978408" y="1627632"/>
            <a:ext cx="1574292" cy="493778"/>
            <a:chOff x="0" y="0"/>
            <a:chExt cx="1574291" cy="493776"/>
          </a:xfrm>
        </p:grpSpPr>
        <p:sp>
          <p:nvSpPr>
            <p:cNvPr id="575" name="모서리가 둥근 직사각형"/>
            <p:cNvSpPr/>
            <p:nvPr/>
          </p:nvSpPr>
          <p:spPr>
            <a:xfrm>
              <a:off x="0" y="0"/>
              <a:ext cx="1574292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76" name="SpMV"/>
            <p:cNvSpPr txBox="1"/>
            <p:nvPr/>
          </p:nvSpPr>
          <p:spPr>
            <a:xfrm>
              <a:off x="27776" y="67818"/>
              <a:ext cx="151873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SpMV</a:t>
              </a:r>
            </a:p>
          </p:txBody>
        </p:sp>
      </p:grpSp>
      <p:sp>
        <p:nvSpPr>
          <p:cNvPr id="578" name="Text 7"/>
          <p:cNvSpPr txBox="1"/>
          <p:nvPr/>
        </p:nvSpPr>
        <p:spPr>
          <a:xfrm>
            <a:off x="2756893" y="1799181"/>
            <a:ext cx="325528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Sparse Matrix Vector Multiplication</a:t>
            </a:r>
          </a:p>
        </p:txBody>
      </p:sp>
      <p:pic>
        <p:nvPicPr>
          <p:cNvPr id="579" name="내용 개체 틀 5" descr="내용 개체 틀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52" y="2279049"/>
            <a:ext cx="4958001" cy="131746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" name="그림 23" descr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732" y="2121409"/>
            <a:ext cx="4933881" cy="1176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81" name="그림 26" descr="그림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507" y="3695153"/>
            <a:ext cx="4135668" cy="2122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2" name="그림 28" descr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909" y="2414391"/>
            <a:ext cx="5528239" cy="2649831"/>
          </a:xfrm>
          <a:prstGeom prst="rect">
            <a:avLst/>
          </a:prstGeom>
          <a:ln w="38100" cap="sq">
            <a:solidFill>
              <a:srgbClr val="000000"/>
            </a:solidFill>
            <a:miter/>
          </a:ln>
          <a:effectLst>
            <a:outerShdw blurRad="50800" dist="38100" dir="2700000" rotWithShape="0">
              <a:srgbClr val="000000">
                <a:alpha val="43000"/>
              </a:srgbClr>
            </a:outerShdw>
          </a:effectLst>
        </p:spPr>
      </p:pic>
      <p:pic>
        <p:nvPicPr>
          <p:cNvPr id="583" name="내용 개체 틀 9" descr="내용 개체 틀 9"/>
          <p:cNvPicPr>
            <a:picLocks noChangeAspect="1"/>
          </p:cNvPicPr>
          <p:nvPr/>
        </p:nvPicPr>
        <p:blipFill>
          <a:blip r:embed="rId7"/>
          <a:srcRect l="26429" r="24262" b="35878"/>
          <a:stretch>
            <a:fillRect/>
          </a:stretch>
        </p:blipFill>
        <p:spPr>
          <a:xfrm>
            <a:off x="1424873" y="3004591"/>
            <a:ext cx="4071319" cy="1469433"/>
          </a:xfrm>
          <a:prstGeom prst="rect">
            <a:avLst/>
          </a:prstGeom>
          <a:ln w="38100" cap="sq">
            <a:solidFill>
              <a:srgbClr val="000000"/>
            </a:solidFill>
            <a:miter/>
          </a:ln>
          <a:effectLst>
            <a:outerShdw blurRad="50800" dist="38100" dir="2700000" rotWithShape="0">
              <a:srgbClr val="000000">
                <a:alpha val="43000"/>
              </a:srgbClr>
            </a:outerShdw>
          </a:effectLst>
        </p:spPr>
      </p:pic>
      <p:sp>
        <p:nvSpPr>
          <p:cNvPr id="584" name="TextBox 30"/>
          <p:cNvSpPr txBox="1"/>
          <p:nvPr/>
        </p:nvSpPr>
        <p:spPr>
          <a:xfrm>
            <a:off x="2155742" y="3802807"/>
            <a:ext cx="316965" cy="278766"/>
          </a:xfrm>
          <a:prstGeom prst="rect">
            <a:avLst/>
          </a:prstGeom>
          <a:solidFill>
            <a:srgbClr val="F7F9FC"/>
          </a:solidFill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1st</a:t>
            </a:r>
          </a:p>
        </p:txBody>
      </p:sp>
      <p:sp>
        <p:nvSpPr>
          <p:cNvPr id="585" name="TextBox 31"/>
          <p:cNvSpPr txBox="1"/>
          <p:nvPr/>
        </p:nvSpPr>
        <p:spPr>
          <a:xfrm>
            <a:off x="2155742" y="3495030"/>
            <a:ext cx="325522" cy="278766"/>
          </a:xfrm>
          <a:prstGeom prst="rect">
            <a:avLst/>
          </a:prstGeom>
          <a:solidFill>
            <a:srgbClr val="F7F9FC"/>
          </a:solidFill>
          <a:ln>
            <a:solidFill>
              <a:srgbClr val="7030A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4th</a:t>
            </a:r>
          </a:p>
        </p:txBody>
      </p:sp>
      <p:sp>
        <p:nvSpPr>
          <p:cNvPr id="586" name="TextBox 32"/>
          <p:cNvSpPr txBox="1"/>
          <p:nvPr/>
        </p:nvSpPr>
        <p:spPr>
          <a:xfrm>
            <a:off x="2155742" y="3187252"/>
            <a:ext cx="367938" cy="278766"/>
          </a:xfrm>
          <a:prstGeom prst="rect">
            <a:avLst/>
          </a:prstGeom>
          <a:solidFill>
            <a:srgbClr val="F7F9FC"/>
          </a:solidFill>
          <a:ln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2nd</a:t>
            </a:r>
          </a:p>
        </p:txBody>
      </p:sp>
      <p:sp>
        <p:nvSpPr>
          <p:cNvPr id="587" name="TextBox 33"/>
          <p:cNvSpPr txBox="1"/>
          <p:nvPr/>
        </p:nvSpPr>
        <p:spPr>
          <a:xfrm>
            <a:off x="9619233" y="2206804"/>
            <a:ext cx="350849" cy="316866"/>
          </a:xfrm>
          <a:prstGeom prst="rect">
            <a:avLst/>
          </a:prstGeom>
          <a:solidFill>
            <a:srgbClr val="F7F9FC"/>
          </a:solidFill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1st</a:t>
            </a:r>
          </a:p>
        </p:txBody>
      </p:sp>
      <p:sp>
        <p:nvSpPr>
          <p:cNvPr id="588" name="TextBox 34"/>
          <p:cNvSpPr txBox="1"/>
          <p:nvPr/>
        </p:nvSpPr>
        <p:spPr>
          <a:xfrm>
            <a:off x="10201389" y="2206803"/>
            <a:ext cx="410318" cy="316866"/>
          </a:xfrm>
          <a:prstGeom prst="rect">
            <a:avLst/>
          </a:prstGeom>
          <a:solidFill>
            <a:srgbClr val="F7F9FC"/>
          </a:solidFill>
          <a:ln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2nd</a:t>
            </a:r>
          </a:p>
        </p:txBody>
      </p:sp>
      <p:sp>
        <p:nvSpPr>
          <p:cNvPr id="589" name="TextBox 35"/>
          <p:cNvSpPr txBox="1"/>
          <p:nvPr/>
        </p:nvSpPr>
        <p:spPr>
          <a:xfrm>
            <a:off x="10726588" y="2206803"/>
            <a:ext cx="370643" cy="316866"/>
          </a:xfrm>
          <a:prstGeom prst="rect">
            <a:avLst/>
          </a:prstGeom>
          <a:solidFill>
            <a:srgbClr val="F7F9FC"/>
          </a:solidFill>
          <a:ln>
            <a:solidFill>
              <a:srgbClr val="00B0F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3rd</a:t>
            </a:r>
          </a:p>
        </p:txBody>
      </p:sp>
      <p:sp>
        <p:nvSpPr>
          <p:cNvPr id="590" name="직선 연결선 36"/>
          <p:cNvSpPr/>
          <p:nvPr/>
        </p:nvSpPr>
        <p:spPr>
          <a:xfrm>
            <a:off x="9830633" y="2549015"/>
            <a:ext cx="464345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91" name="직선 연결선 37"/>
          <p:cNvSpPr/>
          <p:nvPr/>
        </p:nvSpPr>
        <p:spPr>
          <a:xfrm>
            <a:off x="10375937" y="2549015"/>
            <a:ext cx="280990" cy="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92" name="직선 연결선 38"/>
          <p:cNvSpPr/>
          <p:nvPr/>
        </p:nvSpPr>
        <p:spPr>
          <a:xfrm>
            <a:off x="10726588" y="2544253"/>
            <a:ext cx="280990" cy="1"/>
          </a:xfrm>
          <a:prstGeom prst="line">
            <a:avLst/>
          </a:prstGeom>
          <a:ln w="25400">
            <a:solidFill>
              <a:srgbClr val="00B0F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93" name="TextBox 39"/>
          <p:cNvSpPr txBox="1"/>
          <p:nvPr/>
        </p:nvSpPr>
        <p:spPr>
          <a:xfrm>
            <a:off x="2155742" y="4124654"/>
            <a:ext cx="333931" cy="278766"/>
          </a:xfrm>
          <a:prstGeom prst="rect">
            <a:avLst/>
          </a:prstGeom>
          <a:solidFill>
            <a:srgbClr val="F7F9FC"/>
          </a:solidFill>
          <a:ln>
            <a:solidFill>
              <a:srgbClr val="00B0F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3rd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" grpId="2" animBg="1" advAuto="0"/>
      <p:bldP spid="583" grpId="1" animBg="1" advAuto="0"/>
      <p:bldP spid="584" grpId="9" animBg="1" advAuto="0"/>
      <p:bldP spid="585" grpId="10" animBg="1" advAuto="0"/>
      <p:bldP spid="586" grpId="11" animBg="1" advAuto="0"/>
      <p:bldP spid="587" grpId="3" animBg="1" advAuto="0"/>
      <p:bldP spid="588" grpId="4" animBg="1" advAuto="0"/>
      <p:bldP spid="589" grpId="5" animBg="1" advAuto="0"/>
      <p:bldP spid="590" grpId="6" animBg="1" advAuto="0"/>
      <p:bldP spid="591" grpId="7" animBg="1" advAuto="0"/>
      <p:bldP spid="592" grpId="8" animBg="1" advAuto="0"/>
      <p:bldP spid="593" grpId="12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598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599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600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01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602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03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604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05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06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07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08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09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10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11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12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13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14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20</a:t>
            </a:r>
          </a:p>
        </p:txBody>
      </p:sp>
      <p:grpSp>
        <p:nvGrpSpPr>
          <p:cNvPr id="617" name="그룹 25"/>
          <p:cNvGrpSpPr/>
          <p:nvPr/>
        </p:nvGrpSpPr>
        <p:grpSpPr>
          <a:xfrm>
            <a:off x="3148019" y="1265974"/>
            <a:ext cx="6786609" cy="4835616"/>
            <a:chOff x="0" y="0"/>
            <a:chExt cx="6786608" cy="4835614"/>
          </a:xfrm>
        </p:grpSpPr>
        <p:pic>
          <p:nvPicPr>
            <p:cNvPr id="615" name="그림 8" descr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158608" cy="48356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16" name="그림 24" descr="그림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7810" y="1363424"/>
              <a:ext cx="3428799" cy="16435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622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623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24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625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628" name="Shape 5"/>
          <p:cNvGrpSpPr/>
          <p:nvPr/>
        </p:nvGrpSpPr>
        <p:grpSpPr>
          <a:xfrm>
            <a:off x="978408" y="1627632"/>
            <a:ext cx="1574292" cy="493778"/>
            <a:chOff x="0" y="0"/>
            <a:chExt cx="1574291" cy="493776"/>
          </a:xfrm>
        </p:grpSpPr>
        <p:sp>
          <p:nvSpPr>
            <p:cNvPr id="626" name="모서리가 둥근 직사각형"/>
            <p:cNvSpPr/>
            <p:nvPr/>
          </p:nvSpPr>
          <p:spPr>
            <a:xfrm>
              <a:off x="0" y="0"/>
              <a:ext cx="1574292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627" name="BFS"/>
            <p:cNvSpPr txBox="1"/>
            <p:nvPr/>
          </p:nvSpPr>
          <p:spPr>
            <a:xfrm>
              <a:off x="27776" y="67818"/>
              <a:ext cx="151873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BFS</a:t>
              </a:r>
            </a:p>
          </p:txBody>
        </p:sp>
      </p:grpSp>
      <p:sp>
        <p:nvSpPr>
          <p:cNvPr id="629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30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631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32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33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34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35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36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37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38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39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40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41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21</a:t>
            </a:r>
          </a:p>
        </p:txBody>
      </p:sp>
      <p:sp>
        <p:nvSpPr>
          <p:cNvPr id="642" name="Text 7"/>
          <p:cNvSpPr txBox="1"/>
          <p:nvPr/>
        </p:nvSpPr>
        <p:spPr>
          <a:xfrm>
            <a:off x="2756893" y="1799181"/>
            <a:ext cx="325528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Breath-First Search</a:t>
            </a:r>
          </a:p>
        </p:txBody>
      </p:sp>
      <p:pic>
        <p:nvPicPr>
          <p:cNvPr id="643" name="그림 1" descr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893" y="2296389"/>
            <a:ext cx="6422573" cy="33298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48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649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650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51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652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53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654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55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56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57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58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59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60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61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62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63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64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22</a:t>
            </a:r>
          </a:p>
        </p:txBody>
      </p:sp>
      <p:pic>
        <p:nvPicPr>
          <p:cNvPr id="665" name="그림 1" descr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08" y="1494264"/>
            <a:ext cx="9677401" cy="39930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70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GPU 워크로드 조사</a:t>
            </a:r>
          </a:p>
        </p:txBody>
      </p:sp>
      <p:sp>
        <p:nvSpPr>
          <p:cNvPr id="671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672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73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674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75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676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77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78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79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80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81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82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83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84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85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686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23</a:t>
            </a:r>
          </a:p>
        </p:txBody>
      </p:sp>
      <p:pic>
        <p:nvPicPr>
          <p:cNvPr id="687" name="그림 2" descr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899" y="1399860"/>
            <a:ext cx="6934203" cy="45163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GPU 구성</a:t>
            </a:r>
          </a:p>
        </p:txBody>
      </p:sp>
      <p:sp>
        <p:nvSpPr>
          <p:cNvPr id="692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693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694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695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698" name="Shape 5"/>
          <p:cNvGrpSpPr/>
          <p:nvPr/>
        </p:nvGrpSpPr>
        <p:grpSpPr>
          <a:xfrm>
            <a:off x="978408" y="1627632"/>
            <a:ext cx="3039255" cy="493778"/>
            <a:chOff x="0" y="0"/>
            <a:chExt cx="3039254" cy="493776"/>
          </a:xfrm>
        </p:grpSpPr>
        <p:sp>
          <p:nvSpPr>
            <p:cNvPr id="696" name="모서리가 둥근 직사각형"/>
            <p:cNvSpPr/>
            <p:nvPr/>
          </p:nvSpPr>
          <p:spPr>
            <a:xfrm>
              <a:off x="0" y="0"/>
              <a:ext cx="3039255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HCR Dotum"/>
                  <a:ea typeface="HCR Dotum"/>
                  <a:cs typeface="HCR Dotum"/>
                  <a:sym typeface="HCR Dotum"/>
                </a:defRPr>
              </a:pPr>
              <a:endParaRPr/>
            </a:p>
          </p:txBody>
        </p:sp>
        <p:sp>
          <p:nvSpPr>
            <p:cNvPr id="697" name="Vortex GPU Configuration"/>
            <p:cNvSpPr txBox="1"/>
            <p:nvPr/>
          </p:nvSpPr>
          <p:spPr>
            <a:xfrm>
              <a:off x="27776" y="67818"/>
              <a:ext cx="2983702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Vortex GPU Configuration</a:t>
              </a:r>
            </a:p>
          </p:txBody>
        </p:sp>
      </p:grpSp>
      <p:sp>
        <p:nvSpPr>
          <p:cNvPr id="699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00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701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02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03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04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05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06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07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08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09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10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11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24</a:t>
            </a:r>
          </a:p>
        </p:txBody>
      </p:sp>
      <p:pic>
        <p:nvPicPr>
          <p:cNvPr id="712" name="그림 22" descr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5" y="2464100"/>
            <a:ext cx="4663444" cy="2988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713" name="그림 23" descr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486" y="2431681"/>
            <a:ext cx="5282474" cy="30207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Text 0"/>
          <p:cNvSpPr txBox="1"/>
          <p:nvPr/>
        </p:nvSpPr>
        <p:spPr>
          <a:xfrm>
            <a:off x="758952" y="500123"/>
            <a:ext cx="7955279" cy="48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현재까지 진행 상황 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Vortex GPU 구성</a:t>
            </a:r>
          </a:p>
        </p:txBody>
      </p:sp>
      <p:sp>
        <p:nvSpPr>
          <p:cNvPr id="718" name="Text 1"/>
          <p:cNvSpPr txBox="1"/>
          <p:nvPr/>
        </p:nvSpPr>
        <p:spPr>
          <a:xfrm>
            <a:off x="731518" y="1018287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Vortex Workload</a:t>
            </a:r>
          </a:p>
        </p:txBody>
      </p:sp>
      <p:sp>
        <p:nvSpPr>
          <p:cNvPr id="719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20" name="Text 3"/>
          <p:cNvSpPr txBox="1"/>
          <p:nvPr/>
        </p:nvSpPr>
        <p:spPr>
          <a:xfrm>
            <a:off x="10375800" y="589533"/>
            <a:ext cx="10789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Progress 1</a:t>
            </a:r>
          </a:p>
        </p:txBody>
      </p:sp>
      <p:sp>
        <p:nvSpPr>
          <p:cNvPr id="721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724" name="Shape 5"/>
          <p:cNvGrpSpPr/>
          <p:nvPr/>
        </p:nvGrpSpPr>
        <p:grpSpPr>
          <a:xfrm>
            <a:off x="978408" y="1627632"/>
            <a:ext cx="2425193" cy="493778"/>
            <a:chOff x="0" y="0"/>
            <a:chExt cx="2425192" cy="493776"/>
          </a:xfrm>
        </p:grpSpPr>
        <p:sp>
          <p:nvSpPr>
            <p:cNvPr id="722" name="모서리가 둥근 직사각형"/>
            <p:cNvSpPr/>
            <p:nvPr/>
          </p:nvSpPr>
          <p:spPr>
            <a:xfrm>
              <a:off x="0" y="0"/>
              <a:ext cx="2425193" cy="493777"/>
            </a:xfrm>
            <a:prstGeom prst="roundRect">
              <a:avLst>
                <a:gd name="adj" fmla="val 14815"/>
              </a:avLst>
            </a:prstGeom>
            <a:solidFill>
              <a:srgbClr val="14B8A6"/>
            </a:solidFill>
            <a:ln w="12700" cap="flat">
              <a:solidFill>
                <a:srgbClr val="14B8A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HCR Dotum"/>
                  <a:ea typeface="HCR Dotum"/>
                  <a:cs typeface="HCR Dotum"/>
                  <a:sym typeface="HCR Dotum"/>
                </a:defRPr>
              </a:pPr>
              <a:endParaRPr/>
            </a:p>
          </p:txBody>
        </p:sp>
        <p:sp>
          <p:nvSpPr>
            <p:cNvPr id="723" name="Roofline Model"/>
            <p:cNvSpPr txBox="1"/>
            <p:nvPr/>
          </p:nvSpPr>
          <p:spPr>
            <a:xfrm>
              <a:off x="27775" y="67818"/>
              <a:ext cx="2369642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F7F9FC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Roofline Model</a:t>
              </a:r>
            </a:p>
          </p:txBody>
        </p:sp>
      </p:grpSp>
      <p:sp>
        <p:nvSpPr>
          <p:cNvPr id="725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26" name="Text 21"/>
          <p:cNvSpPr txBox="1"/>
          <p:nvPr/>
        </p:nvSpPr>
        <p:spPr>
          <a:xfrm>
            <a:off x="1343710" y="6306310"/>
            <a:ext cx="1684023" cy="134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FFFFF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현재 진행</a:t>
            </a:r>
          </a:p>
        </p:txBody>
      </p:sp>
      <p:sp>
        <p:nvSpPr>
          <p:cNvPr id="727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28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29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30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31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32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33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34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35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36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37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25</a:t>
            </a:r>
          </a:p>
        </p:txBody>
      </p:sp>
      <p:sp>
        <p:nvSpPr>
          <p:cNvPr id="738" name="Google Shape;278;p9"/>
          <p:cNvSpPr txBox="1">
            <a:spLocks noGrp="1"/>
          </p:cNvSpPr>
          <p:nvPr>
            <p:ph type="sldNum" sz="quarter" idx="4294967295"/>
          </p:nvPr>
        </p:nvSpPr>
        <p:spPr>
          <a:xfrm>
            <a:off x="11537383" y="5910307"/>
            <a:ext cx="273617" cy="269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t"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pic>
        <p:nvPicPr>
          <p:cNvPr id="739" name="그림 2" descr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602" y="2149707"/>
            <a:ext cx="4998612" cy="369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주차 </a:t>
            </a:r>
            <a:r>
              <a:t>: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소스코드 및 벤치마크</a:t>
            </a:r>
            <a:r>
              <a:t> (Baseline)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분석</a:t>
            </a:r>
          </a:p>
        </p:txBody>
      </p:sp>
      <p:sp>
        <p:nvSpPr>
          <p:cNvPr id="744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Baseline Analysis</a:t>
            </a:r>
          </a:p>
        </p:txBody>
      </p:sp>
      <p:sp>
        <p:nvSpPr>
          <p:cNvPr id="745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46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Stage 2</a:t>
            </a:r>
          </a:p>
        </p:txBody>
      </p:sp>
      <p:sp>
        <p:nvSpPr>
          <p:cNvPr id="747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48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49" name="Text 6"/>
          <p:cNvSpPr txBox="1"/>
          <p:nvPr/>
        </p:nvSpPr>
        <p:spPr>
          <a:xfrm>
            <a:off x="1234438" y="1763775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50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수행 내용</a:t>
            </a:r>
          </a:p>
        </p:txBody>
      </p:sp>
      <p:sp>
        <p:nvSpPr>
          <p:cNvPr id="751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52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53" name="Text 10"/>
          <p:cNvSpPr txBox="1"/>
          <p:nvPr/>
        </p:nvSpPr>
        <p:spPr>
          <a:xfrm>
            <a:off x="1170432" y="25316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754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정책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알고리즘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스터디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GTO (Greedy-Then-Oldest), Two-level warp scheduling </a:t>
            </a:r>
            <a:r>
              <a:rPr dirty="0"/>
              <a:t>등 </a:t>
            </a:r>
            <a:r>
              <a:rPr dirty="0" err="1"/>
              <a:t>최신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스케줄링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기법의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스케줄링 판단 근거 분석 및 하드웨어 구현 가능성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755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56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57" name="Text 14"/>
          <p:cNvSpPr txBox="1"/>
          <p:nvPr/>
        </p:nvSpPr>
        <p:spPr>
          <a:xfrm>
            <a:off x="1170432" y="36106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758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비효율성</a:t>
            </a:r>
            <a:r>
              <a:rPr dirty="0"/>
              <a:t> </a:t>
            </a:r>
            <a:r>
              <a:rPr dirty="0" err="1"/>
              <a:t>진단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다양한 </a:t>
            </a:r>
            <a:r>
              <a:rPr lang="en-US" altLang="ko-KR" dirty="0">
                <a:latin typeface="나눔고딕"/>
                <a:ea typeface="나눔고딕"/>
                <a:cs typeface="나눔고딕"/>
                <a:sym typeface="나눔고딕"/>
              </a:rPr>
              <a:t>Vortex configuration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에서 </a:t>
            </a:r>
            <a:r>
              <a:rPr lang="en-US" altLang="ko-KR" dirty="0">
                <a:latin typeface="나눔고딕"/>
                <a:ea typeface="나눔고딕"/>
                <a:cs typeface="나눔고딕"/>
                <a:sym typeface="나눔고딕"/>
              </a:rPr>
              <a:t>baseline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lang="en-US" altLang="ko-KR" dirty="0">
                <a:latin typeface="나눔고딕"/>
                <a:ea typeface="나눔고딕"/>
                <a:cs typeface="나눔고딕"/>
                <a:sym typeface="나눔고딕"/>
              </a:rPr>
              <a:t>profiling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을 수행하여</a:t>
            </a:r>
            <a:r>
              <a:rPr lang="en-US" altLang="ko-KR" dirty="0">
                <a:latin typeface="나눔고딕"/>
                <a:ea typeface="나눔고딕"/>
                <a:cs typeface="나눔고딕"/>
                <a:sym typeface="나눔고딕"/>
              </a:rPr>
              <a:t>, 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성능 저하가 </a:t>
            </a:r>
            <a:r>
              <a:rPr lang="en-US" altLang="ko-KR" dirty="0">
                <a:latin typeface="나눔고딕"/>
                <a:ea typeface="나눔고딕"/>
                <a:cs typeface="나눔고딕"/>
                <a:sym typeface="나눔고딕"/>
              </a:rPr>
              <a:t>warp scheduler 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정책의 한계에서 비롯되는지 또는 하드웨어 자원 구조의 병목에서 비롯되는지 분석</a:t>
            </a:r>
            <a:r>
              <a:rPr lang="en-US" altLang="ko-KR"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  <a:endParaRPr dirty="0">
              <a:latin typeface="나눔고딕"/>
              <a:ea typeface="나눔고딕"/>
              <a:cs typeface="나눔고딕"/>
              <a:sym typeface="나눔고딕"/>
            </a:endParaRPr>
          </a:p>
        </p:txBody>
      </p:sp>
      <p:sp>
        <p:nvSpPr>
          <p:cNvPr id="759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60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61" name="Text 18"/>
          <p:cNvSpPr txBox="1"/>
          <p:nvPr/>
        </p:nvSpPr>
        <p:spPr>
          <a:xfrm>
            <a:off x="1170432" y="46896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762" name="Text 19"/>
          <p:cNvSpPr txBox="1"/>
          <p:nvPr/>
        </p:nvSpPr>
        <p:spPr>
          <a:xfrm>
            <a:off x="1737360" y="454456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병목</a:t>
            </a:r>
            <a:r>
              <a:rPr dirty="0"/>
              <a:t>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파악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rPr lang="en-US" dirty="0">
                <a:latin typeface="나눔고딕"/>
                <a:ea typeface="나눔고딕"/>
                <a:cs typeface="나눔고딕"/>
                <a:sym typeface="나눔고딕"/>
              </a:rPr>
              <a:t>sgemm3, </a:t>
            </a:r>
            <a:r>
              <a:rPr lang="en-US" dirty="0" err="1">
                <a:latin typeface="나눔고딕"/>
                <a:ea typeface="나눔고딕"/>
                <a:cs typeface="나눔고딕"/>
                <a:sym typeface="나눔고딕"/>
              </a:rPr>
              <a:t>bfs</a:t>
            </a:r>
            <a:r>
              <a:rPr lang="en-US" dirty="0">
                <a:latin typeface="나눔고딕"/>
                <a:ea typeface="나눔고딕"/>
                <a:cs typeface="나눔고딕"/>
                <a:sym typeface="나눔고딕"/>
              </a:rPr>
              <a:t>, </a:t>
            </a:r>
            <a:r>
              <a:rPr lang="en-US" dirty="0" err="1">
                <a:latin typeface="나눔고딕"/>
                <a:ea typeface="나눔고딕"/>
                <a:cs typeface="나눔고딕"/>
                <a:sym typeface="나눔고딕"/>
              </a:rPr>
              <a:t>SpMV</a:t>
            </a:r>
            <a:r>
              <a:rPr lang="en-US"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lang="ko-KR" altLang="en-US" dirty="0">
                <a:latin typeface="나눔고딕"/>
                <a:ea typeface="나눔고딕"/>
                <a:cs typeface="나눔고딕"/>
                <a:sym typeface="나눔고딕"/>
              </a:rPr>
              <a:t>벤치마크로 </a:t>
            </a:r>
            <a:r>
              <a:rPr dirty="0" err="1"/>
              <a:t>현재</a:t>
            </a:r>
            <a:r>
              <a:rPr lang="en-US" dirty="0"/>
              <a:t> </a:t>
            </a:r>
            <a:r>
              <a:rPr lang="ko-KR" altLang="en-US" dirty="0"/>
              <a:t>스케줄링</a:t>
            </a:r>
            <a:r>
              <a:rPr dirty="0"/>
              <a:t> </a:t>
            </a:r>
            <a:r>
              <a:rPr dirty="0" err="1"/>
              <a:t>정책이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저하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(Pipeline Stall)</a:t>
            </a:r>
            <a:r>
              <a:rPr dirty="0"/>
              <a:t>를 </a:t>
            </a:r>
            <a:r>
              <a:rPr dirty="0" err="1"/>
              <a:t>일으키는</a:t>
            </a:r>
            <a:r>
              <a:rPr dirty="0"/>
              <a:t> </a:t>
            </a:r>
            <a:r>
              <a:rPr dirty="0" err="1"/>
              <a:t>근본</a:t>
            </a:r>
            <a:r>
              <a:rPr dirty="0"/>
              <a:t> </a:t>
            </a:r>
            <a:r>
              <a:rPr dirty="0" err="1"/>
              <a:t>원인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763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64" name="Text 21"/>
          <p:cNvSpPr txBox="1"/>
          <p:nvPr/>
        </p:nvSpPr>
        <p:spPr>
          <a:xfrm>
            <a:off x="777238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65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66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67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68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69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70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71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72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73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74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75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26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주차 </a:t>
            </a:r>
            <a:r>
              <a:t>: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최적화 스케줄링 정책 설계</a:t>
            </a:r>
          </a:p>
        </p:txBody>
      </p:sp>
      <p:sp>
        <p:nvSpPr>
          <p:cNvPr id="778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Policy Design</a:t>
            </a:r>
          </a:p>
        </p:txBody>
      </p:sp>
      <p:sp>
        <p:nvSpPr>
          <p:cNvPr id="779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80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Stage 3</a:t>
            </a:r>
          </a:p>
        </p:txBody>
      </p:sp>
      <p:sp>
        <p:nvSpPr>
          <p:cNvPr id="781" name="Shape 4"/>
          <p:cNvSpPr/>
          <p:nvPr/>
        </p:nvSpPr>
        <p:spPr>
          <a:xfrm>
            <a:off x="777240" y="1368986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82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83" name="Text 6"/>
          <p:cNvSpPr txBox="1"/>
          <p:nvPr/>
        </p:nvSpPr>
        <p:spPr>
          <a:xfrm>
            <a:off x="1234438" y="1763775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84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수행 내용</a:t>
            </a:r>
          </a:p>
        </p:txBody>
      </p:sp>
      <p:sp>
        <p:nvSpPr>
          <p:cNvPr id="785" name="Text 10"/>
          <p:cNvSpPr txBox="1"/>
          <p:nvPr/>
        </p:nvSpPr>
        <p:spPr>
          <a:xfrm>
            <a:off x="1170432" y="25316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786" name="Shape 12"/>
          <p:cNvSpPr/>
          <p:nvPr/>
        </p:nvSpPr>
        <p:spPr>
          <a:xfrm>
            <a:off x="1009572" y="2466265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87" name="Shape 13"/>
          <p:cNvSpPr/>
          <p:nvPr/>
        </p:nvSpPr>
        <p:spPr>
          <a:xfrm>
            <a:off x="1192452" y="2658291"/>
            <a:ext cx="384051" cy="384051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88" name="Text 14"/>
          <p:cNvSpPr txBox="1"/>
          <p:nvPr/>
        </p:nvSpPr>
        <p:spPr>
          <a:xfrm>
            <a:off x="1192452" y="2730173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789" name="Text 15"/>
          <p:cNvSpPr txBox="1"/>
          <p:nvPr/>
        </p:nvSpPr>
        <p:spPr>
          <a:xfrm>
            <a:off x="1759380" y="258513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워크로드</a:t>
            </a:r>
            <a:r>
              <a:rPr dirty="0"/>
              <a:t> </a:t>
            </a:r>
            <a:r>
              <a:rPr dirty="0" err="1"/>
              <a:t>선정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rPr dirty="0" err="1"/>
              <a:t>스케줄러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향상</a:t>
            </a:r>
            <a:r>
              <a:rPr lang="ko-KR" altLang="en-US" dirty="0"/>
              <a:t>이 극적으로</a:t>
            </a:r>
            <a:r>
              <a:rPr dirty="0"/>
              <a:t> </a:t>
            </a:r>
            <a:r>
              <a:rPr dirty="0" err="1"/>
              <a:t>드러날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워크로드</a:t>
            </a:r>
            <a:r>
              <a:rPr dirty="0"/>
              <a:t> </a:t>
            </a:r>
            <a:r>
              <a:rPr dirty="0" err="1"/>
              <a:t>선정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790" name="Shape 16"/>
          <p:cNvSpPr/>
          <p:nvPr/>
        </p:nvSpPr>
        <p:spPr>
          <a:xfrm>
            <a:off x="1009572" y="3545259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91" name="Shape 17"/>
          <p:cNvSpPr/>
          <p:nvPr/>
        </p:nvSpPr>
        <p:spPr>
          <a:xfrm>
            <a:off x="1192452" y="3737283"/>
            <a:ext cx="384051" cy="384051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92" name="Text 18"/>
          <p:cNvSpPr txBox="1"/>
          <p:nvPr/>
        </p:nvSpPr>
        <p:spPr>
          <a:xfrm>
            <a:off x="1192452" y="3809165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793" name="Text 19"/>
          <p:cNvSpPr txBox="1"/>
          <p:nvPr/>
        </p:nvSpPr>
        <p:spPr>
          <a:xfrm>
            <a:off x="1759380" y="3664131"/>
            <a:ext cx="9070848" cy="566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소프트웨어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이식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rPr dirty="0" err="1"/>
              <a:t>시뮬레이터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(</a:t>
            </a:r>
            <a:r>
              <a:rPr lang="en-US" dirty="0" err="1">
                <a:latin typeface="나눔고딕"/>
                <a:ea typeface="나눔고딕"/>
                <a:cs typeface="나눔고딕"/>
                <a:sym typeface="나눔고딕"/>
              </a:rPr>
              <a:t>simx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) </a:t>
            </a:r>
            <a:r>
              <a:rPr dirty="0" err="1"/>
              <a:t>코드의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Issue </a:t>
            </a:r>
            <a:r>
              <a:rPr dirty="0" err="1"/>
              <a:t>로직에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설계한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스케줄링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알고리즘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구현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794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95" name="Text 21"/>
          <p:cNvSpPr txBox="1"/>
          <p:nvPr/>
        </p:nvSpPr>
        <p:spPr>
          <a:xfrm>
            <a:off x="777238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96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97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798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799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00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01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02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03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04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05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06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27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주차 </a:t>
            </a:r>
            <a:r>
              <a:t>: simx(c++)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소프트웨어 구현 및 검증</a:t>
            </a:r>
          </a:p>
        </p:txBody>
      </p:sp>
      <p:sp>
        <p:nvSpPr>
          <p:cNvPr id="809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Software Validation</a:t>
            </a:r>
          </a:p>
        </p:txBody>
      </p:sp>
      <p:sp>
        <p:nvSpPr>
          <p:cNvPr id="810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11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Stage 4</a:t>
            </a:r>
          </a:p>
        </p:txBody>
      </p:sp>
      <p:sp>
        <p:nvSpPr>
          <p:cNvPr id="812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13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14" name="Text 6"/>
          <p:cNvSpPr txBox="1"/>
          <p:nvPr/>
        </p:nvSpPr>
        <p:spPr>
          <a:xfrm>
            <a:off x="1234438" y="1763775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15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수행 내용</a:t>
            </a:r>
          </a:p>
        </p:txBody>
      </p:sp>
      <p:sp>
        <p:nvSpPr>
          <p:cNvPr id="816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17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18" name="Text 10"/>
          <p:cNvSpPr txBox="1"/>
          <p:nvPr/>
        </p:nvSpPr>
        <p:spPr>
          <a:xfrm>
            <a:off x="1170432" y="25316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819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20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21" name="Text 14"/>
          <p:cNvSpPr txBox="1"/>
          <p:nvPr/>
        </p:nvSpPr>
        <p:spPr>
          <a:xfrm>
            <a:off x="1170432" y="36106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822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t>성능 측정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t>수정된 시뮬레이터로 타겟 워크로드를 실행하여 초기 개선 성능 데이터 확보</a:t>
            </a:r>
            <a:r>
              <a:rPr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823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24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25" name="Text 18"/>
          <p:cNvSpPr txBox="1"/>
          <p:nvPr/>
        </p:nvSpPr>
        <p:spPr>
          <a:xfrm>
            <a:off x="1170432" y="46896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826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27" name="Text 21"/>
          <p:cNvSpPr txBox="1"/>
          <p:nvPr/>
        </p:nvSpPr>
        <p:spPr>
          <a:xfrm>
            <a:off x="777238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28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29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30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31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32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33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34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35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36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37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38" name="Text 19"/>
          <p:cNvSpPr txBox="1"/>
          <p:nvPr/>
        </p:nvSpPr>
        <p:spPr>
          <a:xfrm>
            <a:off x="1737360" y="2392370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소프트웨어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이식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Vortex </a:t>
            </a:r>
            <a:r>
              <a:rPr dirty="0" err="1"/>
              <a:t>시뮬레이터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(</a:t>
            </a:r>
            <a:r>
              <a:rPr lang="en-US" dirty="0" err="1">
                <a:latin typeface="나눔고딕"/>
                <a:ea typeface="나눔고딕"/>
                <a:cs typeface="나눔고딕"/>
                <a:sym typeface="나눔고딕"/>
              </a:rPr>
              <a:t>simx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) </a:t>
            </a:r>
            <a:r>
              <a:rPr dirty="0" err="1"/>
              <a:t>코드의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Issue </a:t>
            </a:r>
            <a:r>
              <a:rPr dirty="0" err="1"/>
              <a:t>로직에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설계한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스케줄링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알고리즘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구현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839" name="Text 11"/>
          <p:cNvSpPr txBox="1"/>
          <p:nvPr/>
        </p:nvSpPr>
        <p:spPr>
          <a:xfrm>
            <a:off x="1737360" y="455024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하드웨어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번역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rPr lang="en-US" dirty="0" err="1">
                <a:latin typeface="나눔고딕"/>
                <a:ea typeface="나눔고딕"/>
                <a:cs typeface="나눔고딕"/>
                <a:sym typeface="나눔고딕"/>
              </a:rPr>
              <a:t>simx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시뮬레이터에서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검증된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스케줄링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로직을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실제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하드웨어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회로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수준의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언어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(Verilog)</a:t>
            </a:r>
            <a:r>
              <a:rPr dirty="0"/>
              <a:t>로 </a:t>
            </a:r>
            <a:r>
              <a:rPr dirty="0" err="1"/>
              <a:t>변환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설계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840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28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주차 </a:t>
            </a:r>
            <a:r>
              <a:t>: Verilog (RTL)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하드웨어 설계</a:t>
            </a:r>
          </a:p>
        </p:txBody>
      </p:sp>
      <p:sp>
        <p:nvSpPr>
          <p:cNvPr id="843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RTL Integration</a:t>
            </a:r>
          </a:p>
        </p:txBody>
      </p:sp>
      <p:sp>
        <p:nvSpPr>
          <p:cNvPr id="844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45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Stage 5</a:t>
            </a:r>
          </a:p>
        </p:txBody>
      </p:sp>
      <p:sp>
        <p:nvSpPr>
          <p:cNvPr id="846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47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48" name="Text 6"/>
          <p:cNvSpPr txBox="1"/>
          <p:nvPr/>
        </p:nvSpPr>
        <p:spPr>
          <a:xfrm>
            <a:off x="1234438" y="1763775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49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수행 내용</a:t>
            </a:r>
          </a:p>
        </p:txBody>
      </p:sp>
      <p:sp>
        <p:nvSpPr>
          <p:cNvPr id="850" name="Shape 8"/>
          <p:cNvSpPr/>
          <p:nvPr/>
        </p:nvSpPr>
        <p:spPr>
          <a:xfrm>
            <a:off x="987552" y="226771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51" name="Shape 9"/>
          <p:cNvSpPr/>
          <p:nvPr/>
        </p:nvSpPr>
        <p:spPr>
          <a:xfrm>
            <a:off x="1170432" y="2459734"/>
            <a:ext cx="384051" cy="384051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52" name="Text 10"/>
          <p:cNvSpPr txBox="1"/>
          <p:nvPr/>
        </p:nvSpPr>
        <p:spPr>
          <a:xfrm>
            <a:off x="1170432" y="25316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853" name="Text 11"/>
          <p:cNvSpPr txBox="1"/>
          <p:nvPr/>
        </p:nvSpPr>
        <p:spPr>
          <a:xfrm>
            <a:off x="1737360" y="238658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HCR Dotum"/>
                <a:ea typeface="HCR Dotum"/>
                <a:cs typeface="HCR Dotum"/>
                <a:sym typeface="HCR Dotum"/>
              </a:defRPr>
            </a:pPr>
            <a:r>
              <a:rPr dirty="0" err="1"/>
              <a:t>하드웨어</a:t>
            </a:r>
            <a:r>
              <a:rPr dirty="0"/>
              <a:t> </a:t>
            </a:r>
            <a:r>
              <a:rPr dirty="0" err="1"/>
              <a:t>번역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: </a:t>
            </a:r>
            <a:r>
              <a:rPr lang="en-US" dirty="0" err="1">
                <a:latin typeface="나눔고딕"/>
                <a:ea typeface="나눔고딕"/>
                <a:cs typeface="나눔고딕"/>
                <a:sym typeface="나눔고딕"/>
              </a:rPr>
              <a:t>simx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 </a:t>
            </a:r>
            <a:r>
              <a:rPr dirty="0" err="1"/>
              <a:t>시뮬레이터에서</a:t>
            </a:r>
            <a:r>
              <a:rPr dirty="0"/>
              <a:t> </a:t>
            </a:r>
            <a:r>
              <a:rPr dirty="0" err="1"/>
              <a:t>검증된</a:t>
            </a:r>
            <a:r>
              <a:rPr dirty="0"/>
              <a:t> </a:t>
            </a:r>
            <a:r>
              <a:rPr dirty="0" err="1"/>
              <a:t>스케줄링</a:t>
            </a:r>
            <a:r>
              <a:rPr dirty="0"/>
              <a:t> </a:t>
            </a:r>
            <a:r>
              <a:rPr dirty="0" err="1"/>
              <a:t>로직을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하드웨어</a:t>
            </a:r>
            <a:r>
              <a:rPr dirty="0"/>
              <a:t> </a:t>
            </a:r>
            <a:r>
              <a:rPr dirty="0" err="1"/>
              <a:t>회로</a:t>
            </a:r>
            <a:r>
              <a:rPr dirty="0"/>
              <a:t> </a:t>
            </a:r>
            <a:r>
              <a:rPr dirty="0" err="1"/>
              <a:t>수준의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(Verilog)</a:t>
            </a:r>
            <a:r>
              <a:rPr dirty="0"/>
              <a:t>로 </a:t>
            </a:r>
            <a:r>
              <a:rPr dirty="0" err="1"/>
              <a:t>변환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>
                <a:latin typeface="나눔고딕"/>
                <a:ea typeface="나눔고딕"/>
                <a:cs typeface="나눔고딕"/>
                <a:sym typeface="나눔고딕"/>
              </a:rPr>
              <a:t>.</a:t>
            </a:r>
          </a:p>
        </p:txBody>
      </p:sp>
      <p:sp>
        <p:nvSpPr>
          <p:cNvPr id="854" name="Shape 12"/>
          <p:cNvSpPr/>
          <p:nvPr/>
        </p:nvSpPr>
        <p:spPr>
          <a:xfrm>
            <a:off x="987552" y="3346703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55" name="Shape 13"/>
          <p:cNvSpPr/>
          <p:nvPr/>
        </p:nvSpPr>
        <p:spPr>
          <a:xfrm>
            <a:off x="1170432" y="3538728"/>
            <a:ext cx="384051" cy="384051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56" name="Text 14"/>
          <p:cNvSpPr txBox="1"/>
          <p:nvPr/>
        </p:nvSpPr>
        <p:spPr>
          <a:xfrm>
            <a:off x="1170432" y="3610609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</a:t>
            </a:r>
          </a:p>
        </p:txBody>
      </p:sp>
      <p:sp>
        <p:nvSpPr>
          <p:cNvPr id="857" name="Text 15"/>
          <p:cNvSpPr txBox="1"/>
          <p:nvPr/>
        </p:nvSpPr>
        <p:spPr>
          <a:xfrm>
            <a:off x="1737360" y="3465576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HW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구조 수정</a:t>
            </a:r>
            <a:r>
              <a:t>: Vortex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최상위 폴더의 </a:t>
            </a:r>
            <a:r>
              <a:t>hw/rtl/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경로에서 워프 이슈</a:t>
            </a:r>
            <a:r>
              <a:t>(Issue)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제어 블록 코드를 전면 수정</a:t>
            </a:r>
            <a:r>
              <a:t>.</a:t>
            </a:r>
          </a:p>
        </p:txBody>
      </p:sp>
      <p:sp>
        <p:nvSpPr>
          <p:cNvPr id="858" name="Text 18"/>
          <p:cNvSpPr txBox="1"/>
          <p:nvPr/>
        </p:nvSpPr>
        <p:spPr>
          <a:xfrm>
            <a:off x="1170432" y="46896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859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60" name="Text 21"/>
          <p:cNvSpPr txBox="1"/>
          <p:nvPr/>
        </p:nvSpPr>
        <p:spPr>
          <a:xfrm>
            <a:off x="777238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61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62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63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64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65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66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67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68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69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70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71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29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Text 0"/>
          <p:cNvSpPr txBox="1"/>
          <p:nvPr/>
        </p:nvSpPr>
        <p:spPr>
          <a:xfrm>
            <a:off x="758952" y="500122"/>
            <a:ext cx="7955279" cy="48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주차 </a:t>
            </a:r>
            <a:r>
              <a:t>: RTLsim </a:t>
            </a:r>
            <a:r>
              <a:rPr>
                <a:latin typeface="HCR Batang"/>
                <a:ea typeface="HCR Batang"/>
                <a:cs typeface="HCR Batang"/>
                <a:sym typeface="HCR Batang"/>
              </a:rPr>
              <a:t>최종검증 및 마무리</a:t>
            </a:r>
          </a:p>
        </p:txBody>
      </p:sp>
      <p:sp>
        <p:nvSpPr>
          <p:cNvPr id="874" name="Text 1"/>
          <p:cNvSpPr txBox="1"/>
          <p:nvPr/>
        </p:nvSpPr>
        <p:spPr>
          <a:xfrm>
            <a:off x="731518" y="1018286"/>
            <a:ext cx="46634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Final Evaluation</a:t>
            </a:r>
          </a:p>
        </p:txBody>
      </p:sp>
      <p:sp>
        <p:nvSpPr>
          <p:cNvPr id="875" name="Shape 2"/>
          <p:cNvSpPr/>
          <p:nvPr/>
        </p:nvSpPr>
        <p:spPr>
          <a:xfrm>
            <a:off x="10012680" y="475487"/>
            <a:ext cx="1444754" cy="384050"/>
          </a:xfrm>
          <a:prstGeom prst="roundRect">
            <a:avLst>
              <a:gd name="adj" fmla="val 16667"/>
            </a:avLst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76" name="Text 3"/>
          <p:cNvSpPr txBox="1"/>
          <p:nvPr/>
        </p:nvSpPr>
        <p:spPr>
          <a:xfrm>
            <a:off x="10195559" y="579373"/>
            <a:ext cx="10789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Stage 6</a:t>
            </a:r>
          </a:p>
        </p:txBody>
      </p:sp>
      <p:sp>
        <p:nvSpPr>
          <p:cNvPr id="877" name="Shape 4"/>
          <p:cNvSpPr/>
          <p:nvPr/>
        </p:nvSpPr>
        <p:spPr>
          <a:xfrm>
            <a:off x="749808" y="1325880"/>
            <a:ext cx="10744201" cy="459029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" dist="20320" dir="2700000" rotWithShape="0">
              <a:srgbClr val="0F172A">
                <a:alpha val="8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78" name="Shape 5"/>
          <p:cNvSpPr/>
          <p:nvPr/>
        </p:nvSpPr>
        <p:spPr>
          <a:xfrm>
            <a:off x="978408" y="1627632"/>
            <a:ext cx="2057401" cy="493778"/>
          </a:xfrm>
          <a:prstGeom prst="roundRect">
            <a:avLst>
              <a:gd name="adj" fmla="val 14815"/>
            </a:avLst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79" name="Text 6"/>
          <p:cNvSpPr txBox="1"/>
          <p:nvPr/>
        </p:nvSpPr>
        <p:spPr>
          <a:xfrm>
            <a:off x="1234438" y="1763775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80" name="Text 7"/>
          <p:cNvSpPr txBox="1"/>
          <p:nvPr/>
        </p:nvSpPr>
        <p:spPr>
          <a:xfrm>
            <a:off x="3337559" y="1715261"/>
            <a:ext cx="18288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4748B"/>
                </a:solidFill>
                <a:latin typeface="HCR Dotum"/>
                <a:ea typeface="HCR Dotum"/>
                <a:cs typeface="HCR Dotum"/>
                <a:sym typeface="HCR Dotum"/>
              </a:defRPr>
            </a:lvl1pPr>
          </a:lstStyle>
          <a:p>
            <a:r>
              <a:t>핵심 수행 내용</a:t>
            </a:r>
          </a:p>
        </p:txBody>
      </p:sp>
      <p:sp>
        <p:nvSpPr>
          <p:cNvPr id="881" name="Shape 8"/>
          <p:cNvSpPr/>
          <p:nvPr/>
        </p:nvSpPr>
        <p:spPr>
          <a:xfrm>
            <a:off x="967055" y="3287174"/>
            <a:ext cx="10195561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82" name="Shape 9"/>
          <p:cNvSpPr/>
          <p:nvPr/>
        </p:nvSpPr>
        <p:spPr>
          <a:xfrm>
            <a:off x="1170432" y="3465576"/>
            <a:ext cx="384051" cy="384051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83" name="Text 10"/>
          <p:cNvSpPr txBox="1"/>
          <p:nvPr/>
        </p:nvSpPr>
        <p:spPr>
          <a:xfrm>
            <a:off x="1170432" y="2531617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1</a:t>
            </a:r>
          </a:p>
        </p:txBody>
      </p:sp>
      <p:sp>
        <p:nvSpPr>
          <p:cNvPr id="884" name="Text 11"/>
          <p:cNvSpPr txBox="1"/>
          <p:nvPr/>
        </p:nvSpPr>
        <p:spPr>
          <a:xfrm>
            <a:off x="1716864" y="340604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/>
              <a:t>RTL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시뮬레이션</a:t>
            </a:r>
            <a:r>
              <a:rPr dirty="0"/>
              <a:t>: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수정된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/>
              <a:t>Verilog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코드를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바탕으로</a:t>
            </a:r>
            <a:r>
              <a:rPr lang="en-US"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/>
              <a:t>rtlsim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을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구동하여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하드웨어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동작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무결성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확인</a:t>
            </a:r>
            <a:r>
              <a:rPr dirty="0"/>
              <a:t>.</a:t>
            </a:r>
          </a:p>
        </p:txBody>
      </p:sp>
      <p:sp>
        <p:nvSpPr>
          <p:cNvPr id="885" name="Text 14"/>
          <p:cNvSpPr txBox="1"/>
          <p:nvPr/>
        </p:nvSpPr>
        <p:spPr>
          <a:xfrm>
            <a:off x="1170432" y="3549811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rPr dirty="0"/>
              <a:t>2</a:t>
            </a:r>
          </a:p>
        </p:txBody>
      </p:sp>
      <p:sp>
        <p:nvSpPr>
          <p:cNvPr id="886" name="Shape 16"/>
          <p:cNvSpPr/>
          <p:nvPr/>
        </p:nvSpPr>
        <p:spPr>
          <a:xfrm>
            <a:off x="987552" y="4425696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87" name="Shape 17"/>
          <p:cNvSpPr/>
          <p:nvPr/>
        </p:nvSpPr>
        <p:spPr>
          <a:xfrm>
            <a:off x="1170432" y="4617720"/>
            <a:ext cx="384051" cy="384051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88" name="Text 18"/>
          <p:cNvSpPr txBox="1"/>
          <p:nvPr/>
        </p:nvSpPr>
        <p:spPr>
          <a:xfrm>
            <a:off x="1170432" y="4689602"/>
            <a:ext cx="384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</a:t>
            </a:r>
          </a:p>
        </p:txBody>
      </p:sp>
      <p:sp>
        <p:nvSpPr>
          <p:cNvPr id="889" name="Text 19"/>
          <p:cNvSpPr txBox="1"/>
          <p:nvPr/>
        </p:nvSpPr>
        <p:spPr>
          <a:xfrm>
            <a:off x="1737360" y="4544567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rPr dirty="0"/>
              <a:t>URP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최종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결과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보고서를</a:t>
            </a:r>
            <a:r>
              <a:rPr dirty="0">
                <a:latin typeface="HCR Dotum"/>
                <a:ea typeface="HCR Dotum"/>
                <a:cs typeface="HCR Dotum"/>
                <a:sym typeface="HCR Dotum"/>
              </a:rPr>
              <a:t> </a:t>
            </a:r>
            <a:r>
              <a:rPr dirty="0" err="1">
                <a:latin typeface="HCR Dotum"/>
                <a:ea typeface="HCR Dotum"/>
                <a:cs typeface="HCR Dotum"/>
                <a:sym typeface="HCR Dotum"/>
              </a:rPr>
              <a:t>작성</a:t>
            </a:r>
            <a:r>
              <a:rPr dirty="0"/>
              <a:t>.</a:t>
            </a:r>
          </a:p>
        </p:txBody>
      </p:sp>
      <p:sp>
        <p:nvSpPr>
          <p:cNvPr id="890" name="Shape 20"/>
          <p:cNvSpPr/>
          <p:nvPr/>
        </p:nvSpPr>
        <p:spPr>
          <a:xfrm>
            <a:off x="7772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91" name="Text 21"/>
          <p:cNvSpPr txBox="1"/>
          <p:nvPr/>
        </p:nvSpPr>
        <p:spPr>
          <a:xfrm>
            <a:off x="777238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4-5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92" name="Shape 22"/>
          <p:cNvSpPr/>
          <p:nvPr/>
        </p:nvSpPr>
        <p:spPr>
          <a:xfrm>
            <a:off x="255270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93" name="Text 23"/>
          <p:cNvSpPr txBox="1"/>
          <p:nvPr/>
        </p:nvSpPr>
        <p:spPr>
          <a:xfrm>
            <a:off x="2552699" y="6287008"/>
            <a:ext cx="16840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6-7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94" name="Shape 24"/>
          <p:cNvSpPr/>
          <p:nvPr/>
        </p:nvSpPr>
        <p:spPr>
          <a:xfrm>
            <a:off x="4328159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95" name="Text 25"/>
          <p:cNvSpPr txBox="1"/>
          <p:nvPr/>
        </p:nvSpPr>
        <p:spPr>
          <a:xfrm>
            <a:off x="4328159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8-9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96" name="Shape 26"/>
          <p:cNvSpPr/>
          <p:nvPr/>
        </p:nvSpPr>
        <p:spPr>
          <a:xfrm>
            <a:off x="610362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97" name="Text 27"/>
          <p:cNvSpPr txBox="1"/>
          <p:nvPr/>
        </p:nvSpPr>
        <p:spPr>
          <a:xfrm>
            <a:off x="610362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10-11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898" name="Shape 28"/>
          <p:cNvSpPr/>
          <p:nvPr/>
        </p:nvSpPr>
        <p:spPr>
          <a:xfrm>
            <a:off x="787908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899" name="Text 29"/>
          <p:cNvSpPr txBox="1"/>
          <p:nvPr/>
        </p:nvSpPr>
        <p:spPr>
          <a:xfrm>
            <a:off x="787908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12-13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900" name="Shape 30"/>
          <p:cNvSpPr/>
          <p:nvPr/>
        </p:nvSpPr>
        <p:spPr>
          <a:xfrm>
            <a:off x="9654540" y="6245352"/>
            <a:ext cx="1684022" cy="256034"/>
          </a:xfrm>
          <a:prstGeom prst="roundRect">
            <a:avLst>
              <a:gd name="adj" fmla="val 17857"/>
            </a:avLst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sp>
        <p:nvSpPr>
          <p:cNvPr id="901" name="Text 31"/>
          <p:cNvSpPr txBox="1"/>
          <p:nvPr/>
        </p:nvSpPr>
        <p:spPr>
          <a:xfrm>
            <a:off x="9654540" y="6287008"/>
            <a:ext cx="16840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14-15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주차</a:t>
            </a:r>
          </a:p>
        </p:txBody>
      </p:sp>
      <p:sp>
        <p:nvSpPr>
          <p:cNvPr id="902" name="Shape 8"/>
          <p:cNvSpPr/>
          <p:nvPr/>
        </p:nvSpPr>
        <p:spPr>
          <a:xfrm>
            <a:off x="987552" y="2253001"/>
            <a:ext cx="10195560" cy="8412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HCR Dotum"/>
                <a:ea typeface="HCR Dotum"/>
                <a:cs typeface="HCR Dotum"/>
                <a:sym typeface="HCR Dotum"/>
              </a:defRPr>
            </a:pPr>
            <a:endParaRPr/>
          </a:p>
        </p:txBody>
      </p:sp>
      <p:grpSp>
        <p:nvGrpSpPr>
          <p:cNvPr id="905" name="Shape 9"/>
          <p:cNvGrpSpPr/>
          <p:nvPr/>
        </p:nvGrpSpPr>
        <p:grpSpPr>
          <a:xfrm>
            <a:off x="1190926" y="2431401"/>
            <a:ext cx="384053" cy="384051"/>
            <a:chOff x="-1" y="0"/>
            <a:chExt cx="384052" cy="384050"/>
          </a:xfrm>
        </p:grpSpPr>
        <p:sp>
          <p:nvSpPr>
            <p:cNvPr id="903" name="원"/>
            <p:cNvSpPr/>
            <p:nvPr/>
          </p:nvSpPr>
          <p:spPr>
            <a:xfrm>
              <a:off x="-1" y="0"/>
              <a:ext cx="384052" cy="384050"/>
            </a:xfrm>
            <a:prstGeom prst="ellipse">
              <a:avLst/>
            </a:prstGeom>
            <a:solidFill>
              <a:srgbClr val="E11D48"/>
            </a:solidFill>
            <a:ln w="12700" cap="flat">
              <a:solidFill>
                <a:srgbClr val="E11D48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HCR Dotum"/>
                  <a:ea typeface="HCR Dotum"/>
                  <a:cs typeface="HCR Dotum"/>
                  <a:sym typeface="HCR Dotum"/>
                </a:defRPr>
              </a:pPr>
              <a:endParaRPr/>
            </a:p>
          </p:txBody>
        </p:sp>
        <p:sp>
          <p:nvSpPr>
            <p:cNvPr id="904" name="13"/>
            <p:cNvSpPr txBox="1"/>
            <p:nvPr/>
          </p:nvSpPr>
          <p:spPr>
            <a:xfrm>
              <a:off x="108312" y="0"/>
              <a:ext cx="167425" cy="246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rPr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906" name="Text 11"/>
          <p:cNvSpPr txBox="1"/>
          <p:nvPr/>
        </p:nvSpPr>
        <p:spPr>
          <a:xfrm>
            <a:off x="1737360" y="2371873"/>
            <a:ext cx="9070848" cy="566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334155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HW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구조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수정</a:t>
            </a:r>
            <a:r>
              <a:t>: Vortex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최상위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폴더의</a:t>
            </a:r>
            <a:r>
              <a:t> hw/rtl/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경로에서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워프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이슈</a:t>
            </a:r>
            <a:r>
              <a:t>(Issue)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제어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블록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코드를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전면</a:t>
            </a:r>
            <a:r>
              <a:t> </a:t>
            </a:r>
            <a:r>
              <a:rPr>
                <a:latin typeface="HCR Dotum"/>
                <a:ea typeface="HCR Dotum"/>
                <a:cs typeface="HCR Dotum"/>
                <a:sym typeface="HCR Dotum"/>
              </a:rPr>
              <a:t>수정</a:t>
            </a:r>
            <a:r>
              <a:t>.</a:t>
            </a:r>
          </a:p>
        </p:txBody>
      </p:sp>
      <p:sp>
        <p:nvSpPr>
          <p:cNvPr id="907" name="Text 32"/>
          <p:cNvSpPr txBox="1"/>
          <p:nvPr/>
        </p:nvSpPr>
        <p:spPr>
          <a:xfrm>
            <a:off x="11109959" y="890778"/>
            <a:ext cx="4114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30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7F9F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7F9FC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7F9FC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2358</Words>
  <Application>Microsoft Office PowerPoint</Application>
  <PresentationFormat>와이드스크린</PresentationFormat>
  <Paragraphs>473</Paragraphs>
  <Slides>30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나눔고딕</vt:lpstr>
      <vt:lpstr>맑은 고딕</vt:lpstr>
      <vt:lpstr>HCR Dotum</vt:lpstr>
      <vt:lpstr>HCR Batang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이태준</cp:lastModifiedBy>
  <cp:revision>14</cp:revision>
  <dcterms:modified xsi:type="dcterms:W3CDTF">2026-04-03T07:00:52Z</dcterms:modified>
</cp:coreProperties>
</file>