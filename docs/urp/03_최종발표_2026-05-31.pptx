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46F7252-3CE8-443C-AF95-12DF867F9904}">
  <a:tblStyle styleId="{146F7252-3CE8-443C-AF95-12DF867F990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4A64AF43-FD84-43E7-B9F7-51CF8632E396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44" Type="http://schemas.openxmlformats.org/officeDocument/2006/relationships/slide" Target="slides/slide39.xml"/><Relationship Id="rId21" Type="http://schemas.openxmlformats.org/officeDocument/2006/relationships/slide" Target="slides/slide16.xml"/><Relationship Id="rId43" Type="http://schemas.openxmlformats.org/officeDocument/2006/relationships/slide" Target="slides/slide38.xml"/><Relationship Id="rId24" Type="http://schemas.openxmlformats.org/officeDocument/2006/relationships/slide" Target="slides/slide19.xml"/><Relationship Id="rId46" Type="http://schemas.openxmlformats.org/officeDocument/2006/relationships/slide" Target="slides/slide41.xml"/><Relationship Id="rId23" Type="http://schemas.openxmlformats.org/officeDocument/2006/relationships/slide" Target="slides/slide18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47" Type="http://schemas.openxmlformats.org/officeDocument/2006/relationships/slide" Target="slides/slide42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3e84ae807d1_0_17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" name="Google Shape;42;g3e84ae807d1_0_17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g3e84ae807d1_0_17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eb7e4c5cfd_1_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" name="Google Shape;54;g3eb7e4c5cfd_1_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g3eb7e4c5cfd_1_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e84ae807d1_0_16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7" name="Google Shape;67;g3e84ae807d1_0_16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g3e84ae807d1_0_16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e84ae807d1_0_13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6" name="Google Shape;86;g3e84ae807d1_0_13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g3e84ae807d1_0_13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e84ae807d1_0_2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6" name="Google Shape;96;g3e84ae807d1_0_2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g3e84ae807d1_0_2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e84ae807d1_0_20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7" name="Google Shape;107;g3e84ae807d1_0_20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g3e84ae807d1_0_20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e84ae807d1_0_22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7" name="Google Shape;117;g3e84ae807d1_0_22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g3e84ae807d1_0_22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e84ae807d1_0_29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7" name="Google Shape;127;g3e84ae807d1_0_29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g3e84ae807d1_0_29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e84ae807d1_0_30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7" name="Google Shape;137;g3e84ae807d1_0_30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g3e84ae807d1_0_30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e84ae807d1_0_23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7" name="Google Shape;147;g3e84ae807d1_0_23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g3e84ae807d1_0_23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e84ae807d1_0_24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7" name="Google Shape;157;g3e84ae807d1_0_24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g3e84ae807d1_0_24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e84ae807d1_0_269:notes"/>
          <p:cNvSpPr/>
          <p:nvPr>
            <p:ph idx="2" type="sldImg"/>
          </p:nvPr>
        </p:nvSpPr>
        <p:spPr>
          <a:xfrm>
            <a:off x="-1166813" y="0"/>
            <a:ext cx="5334000" cy="3000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0" name="Google Shape;170;g3e84ae807d1_0_26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g3e84ae807d1_0_26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eb7e4c5cfd_1_10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0" name="Google Shape;180;g3eb7e4c5cfd_1_10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다음으로 확인에 사용한 주요 워크로드의 특성과 실행결과에 대해 말씀드리겠습니다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kmeans 워크로드는 주어진 포인트에 대해서 가장 가까운 중심점과 그 그룹을 찾는 알고리즘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주요 입력으로는 분류해야 할 데이터 포인트 수와, 그 포인트의 feature, 즉 차원 수가 있음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코드의 핵심 블록은 사진과 같이 point와 center 사이의 거리를 측정하는 루프문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point의 feature 배열에 접근 시에는 연속된 주소에 접근하고, 중심 cluster 배열에 접근할때는 동일한 값을 접근하므로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cache coalescing이 잘되고, intra warp locality가 커 GTO가 우세할 것으로 판단했음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81" name="Google Shape;181;g3eb7e4c5cfd_1_10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eca5865a4a_0_2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4" name="Google Shape;194;g3eca5865a4a_0_2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그러나 point 수, feature 수 등을 늘릴수록 Round-robin의 캐시 지표나 IPC 등이 GTO에 비해 잘 나오는 것을 확인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원인과 해결방법은 뒤에서 언급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95" name="Google Shape;195;g3eca5865a4a_0_2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eb7e4c5cfd_1_7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4" name="Google Shape;204;g3eb7e4c5cfd_1_7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sgemm3은 행렬곱을 계산하는 워크로드로, 버전 3은 로컬 메모리를 사용하여 타일별로 계산하고, 그 타일 크기를 조절 가능하도록 개선된 워크로드입니다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입력으로 행렬 크기와 타일 크기를 변경할 수 있으며,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타일 내 데이터를 로컬 메모리에 저장하여 여러 스레드가 이 값에 접근할 수 있다는 특징이 있습니다 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05" name="Google Shape;205;g3eb7e4c5cfd_1_7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ec92536724_1_5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8" name="Google Shape;218;g3ec92536724_1_5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input size를 변경하면서 워크로드를 실행해본 결과, tile size가 커질수록 GTO의 성능이 개선되는 것을 볼 수 있습니다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이는 커널 코드 내 배리어가 존재하기 떄문으로 보입니다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tile size가 커질수록 배리어에 도달하기까지의 시간이 오래걸리므로, locality를 활용할 시간이 길어집니다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19" name="Google Shape;219;g3ec92536724_1_5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eb7e4c5cfd_1_4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1" name="Google Shape;231;g3eb7e4c5cfd_1_4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breadth-first-search를 수행하는 bfs 워크로드입니다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노드, 엣지 등이 들어있는 txt 파일을 입력으로 받으면 파싱해서 실행하는 구조입니다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BFS 워크로드 커널의 핵심 파트는 다음 레벨을 탐색하는 과정인 루프문인데요,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루프 내에서 id 변수를 기반으로 배열을 접근하므로 불규칙한 메모리 접근 패턴을 보입니다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32" name="Google Shape;232;g3eb7e4c5cfd_1_4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ec92536724_1_3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6" name="Google Shape;246;g3ec92536724_1_3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g3ec92536724_1_3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ec92536724_1_8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6" name="Google Shape;256;g3ec92536724_1_8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g3ec92536724_1_8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ec869376fb_0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8" name="Google Shape;268;g3ec869376fb_0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g3ec869376fb_0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ec92536724_1_7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9" name="Google Shape;279;g3ec92536724_1_7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g3ec92536724_1_7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e8638be0e3_3_3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1" name="Google Shape;291;g3e8638be0e3_3_3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g3e8638be0e3_3_3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ec869376fb_0_3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1" name="Google Shape;301;g3ec869376fb_0_3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g3ec869376fb_0_3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e8638be0e3_3_4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3" name="Google Shape;313;g3e8638be0e3_3_4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g3e8638be0e3_3_4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ec869376fb_0_4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3" name="Google Shape;323;g3ec869376fb_0_4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g3ec869376fb_0_4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e8638be0e3_3_6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6" name="Google Shape;336;g3e8638be0e3_3_6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g3e8638be0e3_3_6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ec92536724_1_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6" name="Google Shape;346;g3ec92536724_1_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g3ec92536724_1_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e8638be0e3_3_9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7" name="Google Shape;357;g3e8638be0e3_3_9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g3e8638be0e3_3_9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e8638be0e3_3_10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6" name="Google Shape;366;g3e8638be0e3_3_10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g3e8638be0e3_3_10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e8638be0e3_3_7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7" name="Google Shape;377;g3e8638be0e3_3_7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g3e8638be0e3_3_7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e8638be0e3_3_1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8" name="Google Shape;388;g3e8638be0e3_3_1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g3e8638be0e3_3_1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e8638be0e3_3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8" name="Google Shape;398;g3e8638be0e3_3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g3e8638be0e3_3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e8638be0e3_3_15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9" name="Google Shape;409;g3e8638be0e3_3_15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g3e8638be0e3_3_15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e8638be0e3_3_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0" name="Google Shape;420;g3e8638be0e3_3_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g3e8638be0e3_3_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e8638be0e3_3_12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6" name="Google Shape;436;g3e8638be0e3_3_12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g3e8638be0e3_3_12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e8638be0e3_3_16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6" name="Google Shape;446;g3e8638be0e3_3_16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g3e8638be0e3_3_16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e8638be0e3_3_18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8" name="Google Shape;458;g3e8638be0e3_3_18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g3e8638be0e3_3_18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e8638be0e3_3_23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9" name="Google Shape;469;g3e8638be0e3_3_23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g3e8638be0e3_3_23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e892567dbd_6_2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1" name="Google Shape;481;g3e892567dbd_6_2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g3e892567dbd_6_2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3" name="Google Shape;493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Relationship Id="rId4" Type="http://schemas.openxmlformats.org/officeDocument/2006/relationships/image" Target="../media/image1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png"/><Relationship Id="rId4" Type="http://schemas.openxmlformats.org/officeDocument/2006/relationships/image" Target="../media/image1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3.png"/><Relationship Id="rId4" Type="http://schemas.openxmlformats.org/officeDocument/2006/relationships/image" Target="../media/image2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3.png"/><Relationship Id="rId4" Type="http://schemas.openxmlformats.org/officeDocument/2006/relationships/image" Target="../media/image2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4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5.png"/><Relationship Id="rId4" Type="http://schemas.openxmlformats.org/officeDocument/2006/relationships/image" Target="../media/image30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6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3.png"/><Relationship Id="rId4" Type="http://schemas.openxmlformats.org/officeDocument/2006/relationships/image" Target="../media/image35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4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7.png"/><Relationship Id="rId4" Type="http://schemas.openxmlformats.org/officeDocument/2006/relationships/image" Target="../media/image32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9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0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9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3"/>
          <p:cNvSpPr/>
          <p:nvPr/>
        </p:nvSpPr>
        <p:spPr>
          <a:xfrm>
            <a:off x="841248" y="1481328"/>
            <a:ext cx="91440" cy="2084832"/>
          </a:xfrm>
          <a:prstGeom prst="rect">
            <a:avLst/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3"/>
          <p:cNvSpPr/>
          <p:nvPr/>
        </p:nvSpPr>
        <p:spPr>
          <a:xfrm>
            <a:off x="1188720" y="1417320"/>
            <a:ext cx="6400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200"/>
              <a:buFont typeface="Times New Roman"/>
              <a:buNone/>
            </a:pPr>
            <a:r>
              <a:rPr b="1" lang="en-US" sz="32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Progress Review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3"/>
          <p:cNvSpPr/>
          <p:nvPr/>
        </p:nvSpPr>
        <p:spPr>
          <a:xfrm>
            <a:off x="1188720" y="21031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400"/>
              <a:buFont typeface="Times New Roman"/>
              <a:buNone/>
            </a:pPr>
            <a:r>
              <a:rPr lang="en-US" sz="1400">
                <a:solidFill>
                  <a:srgbClr val="7F7F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Vortex-based Microarchitectural Benchmarking: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3"/>
          <p:cNvSpPr/>
          <p:nvPr/>
        </p:nvSpPr>
        <p:spPr>
          <a:xfrm>
            <a:off x="1188720" y="32004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Malgun Gothic"/>
              <a:buNone/>
            </a:pPr>
            <a:r>
              <a:rPr lang="en-US" sz="1200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URP Presentation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8778240" y="1417320"/>
            <a:ext cx="2103120" cy="132588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8961120" y="1691640"/>
            <a:ext cx="1371600" cy="36576"/>
          </a:xfrm>
          <a:prstGeom prst="rect">
            <a:avLst/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8987548" y="1795237"/>
            <a:ext cx="1828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Malgun Gothic"/>
              <a:buNone/>
            </a:pPr>
            <a:r>
              <a:rPr lang="en-US"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리뷰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Malgun Gothic"/>
              <a:buNone/>
            </a:pPr>
            <a:r>
              <a:rPr lang="en-US"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</a:t>
            </a:r>
            <a:r>
              <a:rPr lang="en-US"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제안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Malgun Gothic"/>
              <a:buNone/>
            </a:pPr>
            <a:r>
              <a:rPr lang="en-US"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3. 구현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Malgun Gothic"/>
              <a:buNone/>
            </a:pPr>
            <a:r>
              <a:rPr lang="en-US"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4. 실험 결과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365760" y="16459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Times New Roman"/>
              <a:buNone/>
            </a:pPr>
            <a:r>
              <a:rPr lang="en-US" sz="900">
                <a:solidFill>
                  <a:srgbClr val="9CA3A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URP MEETING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00"/>
              <a:buFont typeface="Times New Roman"/>
              <a:buNone/>
            </a:pPr>
            <a:r>
              <a:rPr b="1" lang="en-US" sz="22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Outline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365760" y="1097280"/>
            <a:ext cx="11457432" cy="55778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1371600" y="1554480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FF"/>
              </a:buClr>
              <a:buSzPts val="2400"/>
              <a:buFont typeface="Times New Roman"/>
              <a:buNone/>
            </a:pPr>
            <a:r>
              <a:rPr b="1" lang="en-US" sz="2400">
                <a:solidFill>
                  <a:srgbClr val="2F6B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01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2286000" y="160020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Malgun Gothic"/>
              <a:buNone/>
            </a:pPr>
            <a:r>
              <a:rPr b="1" lang="en-US" sz="16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리뷰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5943600" y="1627632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Malgun Gothic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1371600" y="2423160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FF"/>
              </a:buClr>
              <a:buSzPts val="2400"/>
              <a:buFont typeface="Times New Roman"/>
              <a:buNone/>
            </a:pPr>
            <a:r>
              <a:rPr b="1" lang="en-US" sz="2400">
                <a:solidFill>
                  <a:srgbClr val="2F6B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02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2286000" y="24688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Malgun Gothic"/>
              <a:buNone/>
            </a:pPr>
            <a:r>
              <a:rPr b="1" lang="en-US" sz="16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문제상황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1371600" y="3291840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FF"/>
              </a:buClr>
              <a:buSzPts val="2400"/>
              <a:buFont typeface="Times New Roman"/>
              <a:buNone/>
            </a:pPr>
            <a:r>
              <a:rPr b="1" lang="en-US" sz="2400">
                <a:solidFill>
                  <a:srgbClr val="2F6B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03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2286000" y="333756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Malgun Gothic"/>
              <a:buNone/>
            </a:pPr>
            <a:r>
              <a:rPr b="1" lang="en-US" sz="16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해결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1371600" y="4160520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FF"/>
              </a:buClr>
              <a:buSzPts val="2400"/>
              <a:buFont typeface="Times New Roman"/>
              <a:buNone/>
            </a:pPr>
            <a:r>
              <a:rPr b="1" lang="en-US" sz="2400">
                <a:solidFill>
                  <a:srgbClr val="2F6B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04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2286000" y="420624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Malgun Gothic"/>
              <a:buNone/>
            </a:pPr>
            <a:r>
              <a:rPr b="1" lang="en-US" sz="16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실험 결과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1371600" y="5029200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FF"/>
              </a:buClr>
              <a:buSzPts val="2400"/>
              <a:buFont typeface="Times New Roman"/>
              <a:buNone/>
            </a:pPr>
            <a:r>
              <a:rPr b="1" lang="en-US" sz="2400">
                <a:solidFill>
                  <a:srgbClr val="2F6B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05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2286000" y="507492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Malgun Gothic"/>
              <a:buNone/>
            </a:pPr>
            <a:r>
              <a:rPr b="1" lang="en-US" sz="16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결론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"/>
          <p:cNvSpPr/>
          <p:nvPr/>
        </p:nvSpPr>
        <p:spPr>
          <a:xfrm>
            <a:off x="0" y="0"/>
            <a:ext cx="12189000" cy="73200"/>
          </a:xfrm>
          <a:prstGeom prst="rect">
            <a:avLst/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5"/>
          <p:cNvSpPr/>
          <p:nvPr/>
        </p:nvSpPr>
        <p:spPr>
          <a:xfrm>
            <a:off x="365760" y="164592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Times New Roman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URP MEETING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457300" y="756745"/>
            <a:ext cx="11247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1E293B"/>
              </a:buClr>
              <a:buSzPts val="2200"/>
              <a:buFont typeface="Times New Roman"/>
              <a:buNone/>
            </a:pPr>
            <a:r>
              <a:rPr b="1" lang="en-US" sz="24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Review</a:t>
            </a:r>
            <a:endParaRPr b="1" i="0" sz="2400" u="none" cap="none" strike="noStrike">
              <a:solidFill>
                <a:srgbClr val="1E293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" name="Google Shape;48;p5"/>
          <p:cNvSpPr txBox="1"/>
          <p:nvPr/>
        </p:nvSpPr>
        <p:spPr>
          <a:xfrm>
            <a:off x="548640" y="1943105"/>
            <a:ext cx="11064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04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이전 발표에서 gCAWS를 도입했으나, 스케줄러 간 성능 차이가 드러나지 않</a:t>
            </a:r>
            <a:r>
              <a:rPr lang="en-US" sz="1300">
                <a:solidFill>
                  <a:srgbClr val="404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음.</a:t>
            </a:r>
            <a:endParaRPr/>
          </a:p>
        </p:txBody>
      </p:sp>
      <p:sp>
        <p:nvSpPr>
          <p:cNvPr id="49" name="Google Shape;49;p5"/>
          <p:cNvSpPr/>
          <p:nvPr/>
        </p:nvSpPr>
        <p:spPr>
          <a:xfrm>
            <a:off x="822960" y="2857505"/>
            <a:ext cx="4480500" cy="2057400"/>
          </a:xfrm>
          <a:prstGeom prst="roundRect">
            <a:avLst>
              <a:gd fmla="val 6000" name="adj"/>
            </a:avLst>
          </a:prstGeom>
          <a:solidFill>
            <a:srgbClr val="F1F3F5"/>
          </a:solidFill>
          <a:ln cap="flat" cmpd="sng" w="12700">
            <a:solidFill>
              <a:srgbClr val="D7DB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46300" lIns="256025" spcFirstLastPara="1" rIns="201150" wrap="square" tIns="182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이전 발표 — 문제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3A3A3A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3A3A3A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RR · GTO · gCAWS 차이가 noise 수준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3A3A3A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스케줄러를 제대로 평가할 수 없었음</a:t>
            </a:r>
            <a:endParaRPr/>
          </a:p>
        </p:txBody>
      </p:sp>
      <p:sp>
        <p:nvSpPr>
          <p:cNvPr id="50" name="Google Shape;50;p5"/>
          <p:cNvSpPr/>
          <p:nvPr/>
        </p:nvSpPr>
        <p:spPr>
          <a:xfrm>
            <a:off x="5440680" y="3657590"/>
            <a:ext cx="868800" cy="457200"/>
          </a:xfrm>
          <a:prstGeom prst="rightArrow">
            <a:avLst>
              <a:gd fmla="val 55000" name="adj1"/>
              <a:gd fmla="val 55000" name="adj2"/>
            </a:avLst>
          </a:prstGeom>
          <a:solidFill>
            <a:srgbClr val="2F6B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6446695" y="2857505"/>
            <a:ext cx="4480500" cy="2057400"/>
          </a:xfrm>
          <a:prstGeom prst="roundRect">
            <a:avLst>
              <a:gd fmla="val 6000" name="adj"/>
            </a:avLst>
          </a:prstGeom>
          <a:solidFill>
            <a:srgbClr val="ECF2FE"/>
          </a:solidFill>
          <a:ln cap="flat" cmpd="sng" w="12700">
            <a:solidFill>
              <a:srgbClr val="C9DC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46300" lIns="256025" spcFirstLastPara="1" rIns="201150" wrap="square" tIns="182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이번 작업 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3A3A3A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3A3A3A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스케줄러 차이가 드러나는 환경 구성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3A3A3A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원인 분석 → 구조적 병목 규명</a:t>
            </a:r>
            <a:endParaRPr b="0" i="0" sz="1150" u="none" cap="none" strike="noStrike">
              <a:solidFill>
                <a:srgbClr val="3A3A3A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150">
                <a:solidFill>
                  <a:srgbClr val="3A3A3A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워크로드 분석</a:t>
            </a:r>
            <a:endParaRPr sz="1150">
              <a:solidFill>
                <a:srgbClr val="3A3A3A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3A3A3A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6"/>
          <p:cNvSpPr/>
          <p:nvPr/>
        </p:nvSpPr>
        <p:spPr>
          <a:xfrm>
            <a:off x="0" y="0"/>
            <a:ext cx="12189000" cy="73200"/>
          </a:xfrm>
          <a:prstGeom prst="rect">
            <a:avLst/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6"/>
          <p:cNvSpPr/>
          <p:nvPr/>
        </p:nvSpPr>
        <p:spPr>
          <a:xfrm>
            <a:off x="365760" y="164592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Times New Roman"/>
              <a:buNone/>
            </a:pPr>
            <a:r>
              <a:rPr lang="en-US" sz="900">
                <a:solidFill>
                  <a:srgbClr val="9CA3A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URP MEETING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6"/>
          <p:cNvSpPr/>
          <p:nvPr/>
        </p:nvSpPr>
        <p:spPr>
          <a:xfrm>
            <a:off x="457200" y="502920"/>
            <a:ext cx="11247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00"/>
              <a:buFont typeface="Times New Roman"/>
              <a:buNone/>
            </a:pPr>
            <a:r>
              <a:rPr b="1" lang="en-US" sz="22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Vortex Scheduler 위치</a:t>
            </a:r>
            <a:endParaRPr b="1" sz="2200">
              <a:solidFill>
                <a:srgbClr val="1E293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" name="Google Shape;60;p6"/>
          <p:cNvSpPr/>
          <p:nvPr/>
        </p:nvSpPr>
        <p:spPr>
          <a:xfrm>
            <a:off x="4899200" y="4494625"/>
            <a:ext cx="4558800" cy="8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gpgpu-sim 관련 논문에서 말하는 scheduler는</a:t>
            </a:r>
            <a:endParaRPr sz="150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issue 내 warp arbiter</a:t>
            </a:r>
            <a:endParaRPr sz="150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61" name="Google Shape;61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5600" y="1158500"/>
            <a:ext cx="6850498" cy="318335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6"/>
          <p:cNvSpPr/>
          <p:nvPr/>
        </p:nvSpPr>
        <p:spPr>
          <a:xfrm>
            <a:off x="4279550" y="4427550"/>
            <a:ext cx="523200" cy="8448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6"/>
          <p:cNvSpPr/>
          <p:nvPr/>
        </p:nvSpPr>
        <p:spPr>
          <a:xfrm>
            <a:off x="1595200" y="4341850"/>
            <a:ext cx="523200" cy="8448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6"/>
          <p:cNvSpPr/>
          <p:nvPr/>
        </p:nvSpPr>
        <p:spPr>
          <a:xfrm>
            <a:off x="747025" y="5272350"/>
            <a:ext cx="3532500" cy="8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gpgpu-sim fetch scheduler는 RR로 고정</a:t>
            </a:r>
            <a:endParaRPr sz="150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7"/>
          <p:cNvSpPr/>
          <p:nvPr/>
        </p:nvSpPr>
        <p:spPr>
          <a:xfrm>
            <a:off x="0" y="0"/>
            <a:ext cx="12189000" cy="73200"/>
          </a:xfrm>
          <a:prstGeom prst="rect">
            <a:avLst/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7"/>
          <p:cNvSpPr/>
          <p:nvPr/>
        </p:nvSpPr>
        <p:spPr>
          <a:xfrm>
            <a:off x="365760" y="164592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Times New Roman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URP MEETING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7"/>
          <p:cNvSpPr/>
          <p:nvPr/>
        </p:nvSpPr>
        <p:spPr>
          <a:xfrm>
            <a:off x="457200" y="626647"/>
            <a:ext cx="11247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1E293B"/>
              </a:buClr>
              <a:buSzPts val="2200"/>
              <a:buFont typeface="Times New Roman"/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문제 상황 </a:t>
            </a:r>
            <a:endParaRPr b="1" i="0" sz="2400" u="none" cap="none" strike="noStrike">
              <a:solidFill>
                <a:srgbClr val="1E293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" name="Google Shape;73;p7"/>
          <p:cNvSpPr txBox="1"/>
          <p:nvPr/>
        </p:nvSpPr>
        <p:spPr>
          <a:xfrm>
            <a:off x="457200" y="5206075"/>
            <a:ext cx="7109700" cy="5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scoreboard_block_ratio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= scrb_blocked / (scrb_blocked + ready_checks)</a:t>
            </a:r>
            <a:endParaRPr/>
          </a:p>
        </p:txBody>
      </p:sp>
      <p:sp>
        <p:nvSpPr>
          <p:cNvPr id="74" name="Google Shape;74;p7"/>
          <p:cNvSpPr txBox="1"/>
          <p:nvPr/>
        </p:nvSpPr>
        <p:spPr>
          <a:xfrm>
            <a:off x="457200" y="4652885"/>
            <a:ext cx="6035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u="none" cap="none" strike="noStrike">
                <a:solidFill>
                  <a:srgbClr val="434343"/>
                </a:solidFill>
                <a:highlight>
                  <a:schemeClr val="lt1"/>
                </a:highlight>
                <a:latin typeface="Malgun Gothic"/>
                <a:ea typeface="Malgun Gothic"/>
                <a:cs typeface="Malgun Gothic"/>
                <a:sym typeface="Malgun Gothic"/>
              </a:rPr>
              <a:t>“</a:t>
            </a:r>
            <a:r>
              <a:rPr b="1" lang="en-US" sz="1100">
                <a:solidFill>
                  <a:srgbClr val="434343"/>
                </a:solidFill>
                <a:highlight>
                  <a:schemeClr val="lt1"/>
                </a:highlight>
              </a:rPr>
              <a:t>scheduler가 warp 후보를 들여다볼 때마다 그 후보가 scoreboard로 막혀있던 비율.” </a:t>
            </a:r>
            <a:endParaRPr b="0" i="0" sz="1800" u="none" cap="none" strike="noStrike">
              <a:solidFill>
                <a:srgbClr val="434343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7"/>
          <p:cNvSpPr txBox="1"/>
          <p:nvPr/>
        </p:nvSpPr>
        <p:spPr>
          <a:xfrm>
            <a:off x="411450" y="4250363"/>
            <a:ext cx="5943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scoreboard_block_ratio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7"/>
          <p:cNvSpPr txBox="1"/>
          <p:nvPr/>
        </p:nvSpPr>
        <p:spPr>
          <a:xfrm>
            <a:off x="8710324" y="1412733"/>
            <a:ext cx="3108900" cy="8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kmeans</a:t>
            </a:r>
            <a:endParaRPr b="0" i="0" sz="1300" u="none" cap="none" strike="noStrike">
              <a:solidFill>
                <a:srgbClr val="BFBFBF"/>
              </a:solidFill>
              <a:highlight>
                <a:srgbClr val="191A1B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npoints = 16384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40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nfeatures = 96</a:t>
            </a:r>
            <a:endParaRPr/>
          </a:p>
        </p:txBody>
      </p:sp>
      <p:sp>
        <p:nvSpPr>
          <p:cNvPr id="77" name="Google Shape;77;p7"/>
          <p:cNvSpPr txBox="1"/>
          <p:nvPr/>
        </p:nvSpPr>
        <p:spPr>
          <a:xfrm>
            <a:off x="411450" y="5758320"/>
            <a:ext cx="6126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kmeans에서 </a:t>
            </a:r>
            <a:r>
              <a:rPr b="1" i="0" lang="en-US" sz="1300" u="none" cap="none" strike="noStrike">
                <a:solidFill>
                  <a:srgbClr val="2F6BFF"/>
                </a:solidFill>
                <a:latin typeface="Malgun Gothic"/>
                <a:ea typeface="Malgun Gothic"/>
                <a:cs typeface="Malgun Gothic"/>
                <a:sym typeface="Malgun Gothic"/>
              </a:rPr>
              <a:t>scoreboard_block_ratio ≈ 97%</a:t>
            </a:r>
            <a:r>
              <a:rPr b="0" i="0" lang="en-US" sz="120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 (warp 후보 대부분이 LSU 대기)</a:t>
            </a:r>
            <a:endParaRPr/>
          </a:p>
        </p:txBody>
      </p:sp>
      <p:sp>
        <p:nvSpPr>
          <p:cNvPr id="78" name="Google Shape;78;p7"/>
          <p:cNvSpPr txBox="1"/>
          <p:nvPr/>
        </p:nvSpPr>
        <p:spPr>
          <a:xfrm>
            <a:off x="6686912" y="1412738"/>
            <a:ext cx="1828800" cy="8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1 core</a:t>
            </a:r>
            <a:endParaRPr b="0" i="0" sz="1300" u="none" cap="none" strike="noStrike">
              <a:solidFill>
                <a:srgbClr val="BFBFBF"/>
              </a:solidFill>
              <a:highlight>
                <a:srgbClr val="191A1B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32 warp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400"/>
              </a:spcAft>
              <a:buNone/>
            </a:pPr>
            <a:r>
              <a:rPr lang="en-US" sz="12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16 threads</a:t>
            </a:r>
            <a:endParaRPr/>
          </a:p>
        </p:txBody>
      </p:sp>
      <p:sp>
        <p:nvSpPr>
          <p:cNvPr id="79" name="Google Shape;79;p7"/>
          <p:cNvSpPr txBox="1"/>
          <p:nvPr/>
        </p:nvSpPr>
        <p:spPr>
          <a:xfrm>
            <a:off x="457200" y="3236138"/>
            <a:ext cx="5943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ibuffer stalls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7"/>
          <p:cNvSpPr txBox="1"/>
          <p:nvPr/>
        </p:nvSpPr>
        <p:spPr>
          <a:xfrm>
            <a:off x="457200" y="3562735"/>
            <a:ext cx="6035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404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“</a:t>
            </a:r>
            <a:r>
              <a:rPr lang="en-US" sz="1300">
                <a:solidFill>
                  <a:srgbClr val="404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ibuffer가 가득찬 상태.”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7"/>
          <p:cNvSpPr txBox="1"/>
          <p:nvPr/>
        </p:nvSpPr>
        <p:spPr>
          <a:xfrm>
            <a:off x="411450" y="1651125"/>
            <a:ext cx="5943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scheduler idle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7"/>
          <p:cNvSpPr txBox="1"/>
          <p:nvPr/>
        </p:nvSpPr>
        <p:spPr>
          <a:xfrm>
            <a:off x="365700" y="2097010"/>
            <a:ext cx="6035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404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“</a:t>
            </a:r>
            <a:r>
              <a:rPr lang="en-US" sz="1300">
                <a:solidFill>
                  <a:srgbClr val="404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fetch할 active warp가 없음</a:t>
            </a:r>
            <a:r>
              <a:rPr lang="en-US" sz="1300">
                <a:solidFill>
                  <a:srgbClr val="404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”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3" name="Google Shape;83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86900" y="2322907"/>
            <a:ext cx="4320300" cy="4270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8"/>
          <p:cNvSpPr/>
          <p:nvPr/>
        </p:nvSpPr>
        <p:spPr>
          <a:xfrm>
            <a:off x="0" y="0"/>
            <a:ext cx="12189000" cy="73200"/>
          </a:xfrm>
          <a:prstGeom prst="rect">
            <a:avLst/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8"/>
          <p:cNvSpPr/>
          <p:nvPr/>
        </p:nvSpPr>
        <p:spPr>
          <a:xfrm>
            <a:off x="365760" y="164592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Times New Roman"/>
              <a:buNone/>
            </a:pPr>
            <a:r>
              <a:rPr lang="en-US" sz="900">
                <a:solidFill>
                  <a:srgbClr val="9CA3A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URP MEETING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8"/>
          <p:cNvSpPr/>
          <p:nvPr/>
        </p:nvSpPr>
        <p:spPr>
          <a:xfrm>
            <a:off x="457200" y="644322"/>
            <a:ext cx="11247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00"/>
              <a:buFont typeface="Times New Roman"/>
              <a:buNone/>
            </a:pPr>
            <a:r>
              <a:rPr b="1" lang="en-US" sz="24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Greedy streak </a:t>
            </a:r>
            <a:endParaRPr b="1" sz="2400">
              <a:solidFill>
                <a:srgbClr val="1E293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8"/>
          <p:cNvSpPr txBox="1"/>
          <p:nvPr/>
        </p:nvSpPr>
        <p:spPr>
          <a:xfrm>
            <a:off x="559550" y="1866900"/>
            <a:ext cx="5024400" cy="7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highlight>
                  <a:schemeClr val="lt1"/>
                </a:highlight>
              </a:rPr>
              <a:t>"streak" = 같은 warp이 연속으로 issue되는 횟수</a:t>
            </a:r>
            <a:endParaRPr sz="16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pic>
        <p:nvPicPr>
          <p:cNvPr id="93" name="Google Shape;93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2875" y="2619300"/>
            <a:ext cx="10915650" cy="297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9"/>
          <p:cNvSpPr/>
          <p:nvPr/>
        </p:nvSpPr>
        <p:spPr>
          <a:xfrm>
            <a:off x="0" y="0"/>
            <a:ext cx="12189000" cy="73200"/>
          </a:xfrm>
          <a:prstGeom prst="rect">
            <a:avLst/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9"/>
          <p:cNvSpPr/>
          <p:nvPr/>
        </p:nvSpPr>
        <p:spPr>
          <a:xfrm>
            <a:off x="365760" y="164592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Times New Roman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URP MEETING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9"/>
          <p:cNvSpPr/>
          <p:nvPr/>
        </p:nvSpPr>
        <p:spPr>
          <a:xfrm>
            <a:off x="471000" y="697345"/>
            <a:ext cx="11247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1E293B"/>
              </a:buClr>
              <a:buSzPts val="2200"/>
              <a:buFont typeface="Times New Roman"/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매 cycle ready warp 분포</a:t>
            </a:r>
            <a:endParaRPr b="1" i="0" sz="2400" u="none" cap="none" strike="noStrike">
              <a:solidFill>
                <a:srgbClr val="1E293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" name="Google Shape;102;p9"/>
          <p:cNvSpPr txBox="1"/>
          <p:nvPr/>
        </p:nvSpPr>
        <p:spPr>
          <a:xfrm>
            <a:off x="702020" y="3504175"/>
            <a:ext cx="5212200" cy="13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측정: 매 cycle ready warp 개수 분포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04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스케줄러가 의미 있으려면 ready warp ≥ 2 여야 함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F6B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ready ≥ 2 cycle이 9% 뿐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200"/>
              </a:spcBef>
              <a:spcAft>
                <a:spcPts val="400"/>
              </a:spcAft>
              <a:buNone/>
            </a:pPr>
            <a:r>
              <a:rPr b="1" i="0" lang="en-US" sz="1300" u="none" cap="none" strike="noStrike">
                <a:solidFill>
                  <a:srgbClr val="2F6B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스케줄러가 </a:t>
            </a:r>
            <a:r>
              <a:rPr b="1" lang="en-US" sz="1300">
                <a:solidFill>
                  <a:srgbClr val="2F6BFF"/>
                </a:solidFill>
                <a:latin typeface="Malgun Gothic"/>
                <a:ea typeface="Malgun Gothic"/>
                <a:cs typeface="Malgun Gothic"/>
                <a:sym typeface="Malgun Gothic"/>
              </a:rPr>
              <a:t>issue할 수 있는</a:t>
            </a:r>
            <a:r>
              <a:rPr b="1" i="0" lang="en-US" sz="1300" u="none" cap="none" strike="noStrike">
                <a:solidFill>
                  <a:srgbClr val="2F6B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cycle이 거의 없음</a:t>
            </a:r>
            <a:endParaRPr/>
          </a:p>
        </p:txBody>
      </p:sp>
      <p:pic>
        <p:nvPicPr>
          <p:cNvPr id="103" name="Google Shape;10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21625" y="1985950"/>
            <a:ext cx="3257550" cy="3733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9"/>
          <p:cNvSpPr txBox="1"/>
          <p:nvPr/>
        </p:nvSpPr>
        <p:spPr>
          <a:xfrm>
            <a:off x="780625" y="2123150"/>
            <a:ext cx="39381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highlight>
                  <a:schemeClr val="lt1"/>
                </a:highlight>
              </a:rPr>
              <a:t>"ready warp”</a:t>
            </a:r>
            <a:endParaRPr sz="15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highlight>
                  <a:schemeClr val="lt1"/>
                </a:highlight>
              </a:rPr>
              <a:t>-</a:t>
            </a:r>
            <a:r>
              <a:rPr lang="en-US" sz="1300">
                <a:highlight>
                  <a:schemeClr val="lt1"/>
                </a:highlight>
              </a:rPr>
              <a:t>ibuffer에 명령이 있고 register dependency가 풀려 있어 issue 가능한 warp</a:t>
            </a:r>
            <a:endParaRPr sz="1700"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0"/>
          <p:cNvSpPr/>
          <p:nvPr/>
        </p:nvSpPr>
        <p:spPr>
          <a:xfrm>
            <a:off x="0" y="0"/>
            <a:ext cx="12189000" cy="73200"/>
          </a:xfrm>
          <a:prstGeom prst="rect">
            <a:avLst/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0"/>
          <p:cNvSpPr/>
          <p:nvPr/>
        </p:nvSpPr>
        <p:spPr>
          <a:xfrm>
            <a:off x="365760" y="164592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Times New Roman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URP MEETING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0"/>
          <p:cNvSpPr/>
          <p:nvPr/>
        </p:nvSpPr>
        <p:spPr>
          <a:xfrm>
            <a:off x="457200" y="591296"/>
            <a:ext cx="11247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1E293B"/>
              </a:buClr>
              <a:buSzPts val="2200"/>
              <a:buFont typeface="Times New Roman"/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ready warp 부족 → Vortex 구조 재확인</a:t>
            </a:r>
            <a:endParaRPr b="1" i="0" sz="2400" u="none" cap="none" strike="noStrike">
              <a:solidFill>
                <a:srgbClr val="1E293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3" name="Google Shape;11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5375" y="2400775"/>
            <a:ext cx="10710651" cy="3956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0"/>
          <p:cNvSpPr txBox="1"/>
          <p:nvPr/>
        </p:nvSpPr>
        <p:spPr>
          <a:xfrm>
            <a:off x="548540" y="1726083"/>
            <a:ext cx="11064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04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스케줄러는 ready warp가 2개 이상일 때만 의미 — 그러나 대부분 cycle에서 ready ≈ 1 (scoreboard LSU 대기)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1"/>
          <p:cNvSpPr/>
          <p:nvPr/>
        </p:nvSpPr>
        <p:spPr>
          <a:xfrm>
            <a:off x="0" y="0"/>
            <a:ext cx="12189000" cy="73200"/>
          </a:xfrm>
          <a:prstGeom prst="rect">
            <a:avLst/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1"/>
          <p:cNvSpPr/>
          <p:nvPr/>
        </p:nvSpPr>
        <p:spPr>
          <a:xfrm>
            <a:off x="365760" y="164592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Times New Roman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URP MEETING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1"/>
          <p:cNvSpPr/>
          <p:nvPr/>
        </p:nvSpPr>
        <p:spPr>
          <a:xfrm>
            <a:off x="457200" y="502920"/>
            <a:ext cx="11247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1E293B"/>
              </a:buClr>
              <a:buSzPts val="2200"/>
              <a:buFont typeface="Times New Roman"/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Vortex LSU 경로 — LSUQ가 MLP를 제한</a:t>
            </a:r>
            <a:endParaRPr b="1" i="0" sz="2400" u="none" cap="none" strike="noStrike">
              <a:solidFill>
                <a:srgbClr val="1E293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3" name="Google Shape;12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100" y="2935520"/>
            <a:ext cx="11887198" cy="2998572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1"/>
          <p:cNvSpPr txBox="1"/>
          <p:nvPr/>
        </p:nvSpPr>
        <p:spPr>
          <a:xfrm>
            <a:off x="548540" y="1739245"/>
            <a:ext cx="11064300" cy="8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04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</a:t>
            </a:r>
            <a:r>
              <a:rPr b="1" i="0" lang="en-US" sz="1300" u="none" cap="none" strike="noStrike">
                <a:solidFill>
                  <a:srgbClr val="2F6BFF"/>
                </a:solidFill>
                <a:latin typeface="Malgun Gothic"/>
                <a:ea typeface="Malgun Gothic"/>
                <a:cs typeface="Malgun Gothic"/>
                <a:sym typeface="Malgun Gothic"/>
              </a:rPr>
              <a:t>LSUQ_IN_SIZE = 2</a:t>
            </a:r>
            <a:r>
              <a:rPr b="0" i="0" lang="en-US" sz="1300" u="none" cap="none" strike="noStrike">
                <a:solidFill>
                  <a:srgbClr val="404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 — 32개 warp가 공유 → in-flight load가 코어 전체에서 2개로 제한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04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coalescer queue(16) · scoreboard(per-warp)는 병목이 아님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04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MLP가 사실상 1 → 메모리 latency를 숨기지 못함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2"/>
          <p:cNvSpPr/>
          <p:nvPr/>
        </p:nvSpPr>
        <p:spPr>
          <a:xfrm>
            <a:off x="0" y="0"/>
            <a:ext cx="12189000" cy="73200"/>
          </a:xfrm>
          <a:prstGeom prst="rect">
            <a:avLst/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2"/>
          <p:cNvSpPr/>
          <p:nvPr/>
        </p:nvSpPr>
        <p:spPr>
          <a:xfrm>
            <a:off x="365760" y="164592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Times New Roman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URP MEETING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2"/>
          <p:cNvSpPr/>
          <p:nvPr/>
        </p:nvSpPr>
        <p:spPr>
          <a:xfrm>
            <a:off x="457200" y="555946"/>
            <a:ext cx="11247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1E293B"/>
              </a:buClr>
              <a:buSzPts val="2200"/>
              <a:buFont typeface="Times New Roman"/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Vortex LSU 경로 — LSUQ가 MLP를 제한</a:t>
            </a:r>
            <a:endParaRPr b="1" i="0" sz="2400" u="none" cap="none" strike="noStrike">
              <a:solidFill>
                <a:srgbClr val="1E293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" name="Google Shape;133;p12"/>
          <p:cNvSpPr txBox="1"/>
          <p:nvPr/>
        </p:nvSpPr>
        <p:spPr>
          <a:xfrm>
            <a:off x="548540" y="1739245"/>
            <a:ext cx="11064300" cy="8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04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</a:t>
            </a:r>
            <a:r>
              <a:rPr b="1" i="0" lang="en-US" sz="1300" u="none" cap="none" strike="noStrike">
                <a:solidFill>
                  <a:srgbClr val="2F6BFF"/>
                </a:solidFill>
                <a:latin typeface="Malgun Gothic"/>
                <a:ea typeface="Malgun Gothic"/>
                <a:cs typeface="Malgun Gothic"/>
                <a:sym typeface="Malgun Gothic"/>
              </a:rPr>
              <a:t>LSUQ_IN_SIZE = 2</a:t>
            </a:r>
            <a:r>
              <a:rPr b="0" i="0" lang="en-US" sz="1300" u="none" cap="none" strike="noStrike">
                <a:solidFill>
                  <a:srgbClr val="404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 — 32개 warp가 공유 → in-flight load가 코어 전체에서 2개로 제한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04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coalescer queue(16) · scoreboard(per-warp)는 병목이 아님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04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MLP가 사실상 1 → 메모리 latency를 숨기지 못함</a:t>
            </a:r>
            <a:endParaRPr/>
          </a:p>
        </p:txBody>
      </p:sp>
      <p:pic>
        <p:nvPicPr>
          <p:cNvPr id="134" name="Google Shape;134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4950" y="2976975"/>
            <a:ext cx="9658350" cy="171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3"/>
          <p:cNvSpPr/>
          <p:nvPr/>
        </p:nvSpPr>
        <p:spPr>
          <a:xfrm>
            <a:off x="0" y="0"/>
            <a:ext cx="12189000" cy="73200"/>
          </a:xfrm>
          <a:prstGeom prst="rect">
            <a:avLst/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3"/>
          <p:cNvSpPr/>
          <p:nvPr/>
        </p:nvSpPr>
        <p:spPr>
          <a:xfrm>
            <a:off x="365760" y="164592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Times New Roman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URP MEETING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3"/>
          <p:cNvSpPr/>
          <p:nvPr/>
        </p:nvSpPr>
        <p:spPr>
          <a:xfrm>
            <a:off x="457200" y="555946"/>
            <a:ext cx="11247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1E293B"/>
              </a:buClr>
              <a:buSzPts val="2200"/>
              <a:buFont typeface="Times New Roman"/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Vortex LSU 경로 — LSUQ가 MLP를 제한</a:t>
            </a:r>
            <a:endParaRPr b="1" i="0" sz="2400" u="none" cap="none" strike="noStrike">
              <a:solidFill>
                <a:srgbClr val="1E293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3" name="Google Shape;143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2475" y="1601500"/>
            <a:ext cx="6759474" cy="183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72475" y="3983171"/>
            <a:ext cx="6759475" cy="239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4"/>
          <p:cNvSpPr/>
          <p:nvPr/>
        </p:nvSpPr>
        <p:spPr>
          <a:xfrm>
            <a:off x="0" y="0"/>
            <a:ext cx="12189000" cy="73200"/>
          </a:xfrm>
          <a:prstGeom prst="rect">
            <a:avLst/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4"/>
          <p:cNvSpPr/>
          <p:nvPr/>
        </p:nvSpPr>
        <p:spPr>
          <a:xfrm>
            <a:off x="365760" y="164592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Times New Roman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URP MEETING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4"/>
          <p:cNvSpPr/>
          <p:nvPr/>
        </p:nvSpPr>
        <p:spPr>
          <a:xfrm>
            <a:off x="457200" y="502920"/>
            <a:ext cx="11247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1E293B"/>
              </a:buClr>
              <a:buSzPts val="2200"/>
              <a:buFont typeface="Times New Roman"/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LSUQ 2 → 8 — IPC 2배 ↑, scheduler idle 34%</a:t>
            </a:r>
            <a:endParaRPr b="1" i="0" sz="2400" u="none" cap="none" strike="noStrike">
              <a:solidFill>
                <a:srgbClr val="1E293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3" name="Google Shape;15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26525" y="1781470"/>
            <a:ext cx="9467850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4"/>
          <p:cNvSpPr txBox="1"/>
          <p:nvPr/>
        </p:nvSpPr>
        <p:spPr>
          <a:xfrm>
            <a:off x="628290" y="1255140"/>
            <a:ext cx="11064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in-flight load cap 해제 → ready warp 증가 → 스케줄러가 차별화될 수 있는 환경 형성</a:t>
            </a:r>
            <a:endParaRPr sz="16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5"/>
          <p:cNvSpPr/>
          <p:nvPr/>
        </p:nvSpPr>
        <p:spPr>
          <a:xfrm>
            <a:off x="0" y="0"/>
            <a:ext cx="12189000" cy="73200"/>
          </a:xfrm>
          <a:prstGeom prst="rect">
            <a:avLst/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5"/>
          <p:cNvSpPr/>
          <p:nvPr/>
        </p:nvSpPr>
        <p:spPr>
          <a:xfrm>
            <a:off x="365760" y="164592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Times New Roman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URP MEETING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5"/>
          <p:cNvSpPr/>
          <p:nvPr/>
        </p:nvSpPr>
        <p:spPr>
          <a:xfrm>
            <a:off x="457200" y="573621"/>
            <a:ext cx="11247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1E293B"/>
              </a:buClr>
              <a:buSzPts val="2200"/>
              <a:buFont typeface="Times New Roman"/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LSUQ 2 → 8 — ready warp 분포 비교</a:t>
            </a:r>
            <a:endParaRPr b="1" i="0" sz="2400" u="none" cap="none" strike="noStrike">
              <a:solidFill>
                <a:srgbClr val="1E293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3" name="Google Shape;16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45275" y="1783080"/>
            <a:ext cx="3717025" cy="426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3050" y="1783080"/>
            <a:ext cx="3257550" cy="408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5"/>
          <p:cNvSpPr txBox="1"/>
          <p:nvPr/>
        </p:nvSpPr>
        <p:spPr>
          <a:xfrm>
            <a:off x="1527048" y="1371600"/>
            <a:ext cx="1828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404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LSUQ =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5"/>
          <p:cNvSpPr txBox="1"/>
          <p:nvPr/>
        </p:nvSpPr>
        <p:spPr>
          <a:xfrm>
            <a:off x="7086600" y="1371600"/>
            <a:ext cx="1828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404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LSUQ = 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5"/>
          <p:cNvSpPr txBox="1"/>
          <p:nvPr/>
        </p:nvSpPr>
        <p:spPr>
          <a:xfrm>
            <a:off x="548640" y="6172200"/>
            <a:ext cx="11064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F6BFF"/>
                </a:solidFill>
                <a:latin typeface="Malgun Gothic"/>
                <a:ea typeface="Malgun Gothic"/>
                <a:cs typeface="Malgun Gothic"/>
                <a:sym typeface="Malgun Gothic"/>
              </a:rPr>
              <a:t>ready ≥ 2 cycle:  9% → 20% (RR)</a:t>
            </a:r>
            <a:r>
              <a:rPr b="0" i="0" lang="en-US" sz="120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— 차이가 보이기 시작하지만 여전히 부족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6"/>
          <p:cNvSpPr/>
          <p:nvPr/>
        </p:nvSpPr>
        <p:spPr>
          <a:xfrm>
            <a:off x="0" y="0"/>
            <a:ext cx="12189000" cy="73200"/>
          </a:xfrm>
          <a:prstGeom prst="rect">
            <a:avLst/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6"/>
          <p:cNvSpPr/>
          <p:nvPr/>
        </p:nvSpPr>
        <p:spPr>
          <a:xfrm>
            <a:off x="365760" y="164592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Times New Roman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URP MEETING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6"/>
          <p:cNvSpPr/>
          <p:nvPr/>
        </p:nvSpPr>
        <p:spPr>
          <a:xfrm>
            <a:off x="457200" y="732698"/>
            <a:ext cx="11247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1E293B"/>
              </a:buClr>
              <a:buSzPts val="2200"/>
              <a:buFont typeface="Times New Roman"/>
              <a:buNone/>
            </a:pPr>
            <a:r>
              <a:rPr b="1" i="0" lang="en-US" sz="2200" u="none" cap="none" strike="noStrike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LSUQ 해제 후에도 부족 — MLP 제한 발견</a:t>
            </a:r>
            <a:endParaRPr/>
          </a:p>
        </p:txBody>
      </p:sp>
      <p:sp>
        <p:nvSpPr>
          <p:cNvPr id="176" name="Google Shape;176;p16"/>
          <p:cNvSpPr txBox="1"/>
          <p:nvPr/>
        </p:nvSpPr>
        <p:spPr>
          <a:xfrm>
            <a:off x="914405" y="2330730"/>
            <a:ext cx="10972800" cy="6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 </a:t>
            </a:r>
            <a:r>
              <a:rPr b="0" i="0" lang="en-US" sz="1350" u="none" cap="none" strike="noStrike">
                <a:solidFill>
                  <a:srgbClr val="404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LSUQ를 늘려 in-flight load 공간은 확보</a:t>
            </a:r>
            <a:endParaRPr b="0" i="0" sz="1350" u="none" cap="none" strike="noStrike">
              <a:solidFill>
                <a:srgbClr val="4040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 </a:t>
            </a:r>
            <a:r>
              <a:rPr b="0" i="0" lang="en-US" sz="1350" u="none" cap="none" strike="noStrike">
                <a:solidFill>
                  <a:srgbClr val="404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그러나 ready warp ≥ 2 cycle은 </a:t>
            </a:r>
            <a:r>
              <a:rPr b="1" i="0" lang="en-US" sz="1350" u="none" cap="none" strike="noStrike">
                <a:solidFill>
                  <a:srgbClr val="2F6BFF"/>
                </a:solidFill>
                <a:latin typeface="Malgun Gothic"/>
                <a:ea typeface="Malgun Gothic"/>
                <a:cs typeface="Malgun Gothic"/>
                <a:sym typeface="Malgun Gothic"/>
              </a:rPr>
              <a:t>9% → 20%</a:t>
            </a:r>
            <a:r>
              <a:rPr b="0" i="0" lang="en-US" sz="1350" u="none" cap="none" strike="noStrike">
                <a:solidFill>
                  <a:srgbClr val="404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 크게 늘지 않음</a:t>
            </a:r>
            <a:endParaRPr b="0" i="0" sz="1350" u="none" cap="none" strike="noStrike">
              <a:solidFill>
                <a:srgbClr val="4040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7" name="Google Shape;177;p16"/>
          <p:cNvSpPr/>
          <p:nvPr/>
        </p:nvSpPr>
        <p:spPr>
          <a:xfrm>
            <a:off x="914400" y="3484375"/>
            <a:ext cx="10332600" cy="1143000"/>
          </a:xfrm>
          <a:prstGeom prst="roundRect">
            <a:avLst>
              <a:gd fmla="val 8000" name="adj"/>
            </a:avLst>
          </a:prstGeom>
          <a:solidFill>
            <a:srgbClr val="ECF2FE"/>
          </a:solidFill>
          <a:ln cap="flat" cmpd="sng" w="12700">
            <a:solidFill>
              <a:srgbClr val="C9DC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46300" lIns="292600" spcFirstLastPara="1" rIns="256025" wrap="square" tIns="182875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발견</a:t>
            </a:r>
            <a:endParaRPr b="1" i="0" sz="1400" u="none" cap="none" strike="noStrike">
              <a:solidFill>
                <a:srgbClr val="1D4ED8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A3A3A"/>
                </a:solidFill>
                <a:latin typeface="Malgun Gothic"/>
                <a:ea typeface="Malgun Gothic"/>
                <a:cs typeface="Malgun Gothic"/>
                <a:sym typeface="Malgun Gothic"/>
              </a:rPr>
              <a:t>어떤 이유로 인해 MLP가 제한되고 있음을 발견 → LSUQ 슬롯이 남아도 채워지지 않음</a:t>
            </a:r>
            <a:endParaRPr b="0" i="0" sz="1300" u="none" cap="none" strike="noStrike">
              <a:solidFill>
                <a:srgbClr val="3A3A3A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7"/>
          <p:cNvSpPr/>
          <p:nvPr/>
        </p:nvSpPr>
        <p:spPr>
          <a:xfrm>
            <a:off x="0" y="0"/>
            <a:ext cx="12189000" cy="73200"/>
          </a:xfrm>
          <a:prstGeom prst="rect">
            <a:avLst/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7"/>
          <p:cNvSpPr/>
          <p:nvPr/>
        </p:nvSpPr>
        <p:spPr>
          <a:xfrm>
            <a:off x="365760" y="164592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Times New Roman"/>
              <a:buNone/>
            </a:pPr>
            <a:r>
              <a:rPr lang="en-US" sz="900">
                <a:solidFill>
                  <a:srgbClr val="9CA3A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URP MEETING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7"/>
          <p:cNvSpPr/>
          <p:nvPr/>
        </p:nvSpPr>
        <p:spPr>
          <a:xfrm>
            <a:off x="457200" y="502920"/>
            <a:ext cx="11247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00"/>
              <a:buFont typeface="Times New Roman"/>
              <a:buNone/>
            </a:pPr>
            <a:r>
              <a:rPr b="1" lang="en-US" sz="22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Vortex Workload - Kmeans(KMN) - Characteristic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7"/>
          <p:cNvSpPr/>
          <p:nvPr/>
        </p:nvSpPr>
        <p:spPr>
          <a:xfrm>
            <a:off x="6589550" y="1223949"/>
            <a:ext cx="53034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주어진 데이터 포인트를 가까운 중심점에 배치해</a:t>
            </a:r>
            <a:endParaRPr sz="130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K개 그룹으로 나누는 프로그램</a:t>
            </a:r>
            <a:endParaRPr sz="130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87" name="Google Shape;18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02535"/>
            <a:ext cx="6000093" cy="2586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6075" y="4470250"/>
            <a:ext cx="5822374" cy="93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7"/>
          <p:cNvSpPr/>
          <p:nvPr/>
        </p:nvSpPr>
        <p:spPr>
          <a:xfrm>
            <a:off x="500750" y="5481201"/>
            <a:ext cx="5303400" cy="10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feature 배열 접근 시 연속된 주소 접근</a:t>
            </a:r>
            <a:endParaRPr sz="130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cluster 배열 접근 시 루프 내에서 동일한 값 접근</a:t>
            </a:r>
            <a:endParaRPr sz="130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-&gt; Cache coalescing 큼, intra-warp locality 높음</a:t>
            </a:r>
            <a:endParaRPr sz="130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0" name="Google Shape;190;p17"/>
          <p:cNvSpPr/>
          <p:nvPr/>
        </p:nvSpPr>
        <p:spPr>
          <a:xfrm>
            <a:off x="500750" y="3888576"/>
            <a:ext cx="5303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-US" sz="1300">
                <a:latin typeface="Malgun Gothic"/>
                <a:ea typeface="Malgun Gothic"/>
                <a:cs typeface="Malgun Gothic"/>
                <a:sym typeface="Malgun Gothic"/>
              </a:rPr>
              <a:t>kernel.cl</a:t>
            </a:r>
            <a:r>
              <a:rPr b="1" lang="en-US" sz="13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 - kmeans_kernel_c</a:t>
            </a:r>
            <a:endParaRPr b="1" sz="130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1" name="Google Shape;191;p17"/>
          <p:cNvSpPr/>
          <p:nvPr/>
        </p:nvSpPr>
        <p:spPr>
          <a:xfrm>
            <a:off x="6589550" y="2402674"/>
            <a:ext cx="53034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주요 입력 parameter</a:t>
            </a:r>
            <a:endParaRPr sz="130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-p : 포인트 수</a:t>
            </a:r>
            <a:endParaRPr sz="130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-f : 사용하는 feature 수</a:t>
            </a:r>
            <a:endParaRPr sz="130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8"/>
          <p:cNvSpPr/>
          <p:nvPr/>
        </p:nvSpPr>
        <p:spPr>
          <a:xfrm>
            <a:off x="0" y="0"/>
            <a:ext cx="12189000" cy="73200"/>
          </a:xfrm>
          <a:prstGeom prst="rect">
            <a:avLst/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8"/>
          <p:cNvSpPr/>
          <p:nvPr/>
        </p:nvSpPr>
        <p:spPr>
          <a:xfrm>
            <a:off x="365760" y="164592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Times New Roman"/>
              <a:buNone/>
            </a:pPr>
            <a:r>
              <a:rPr lang="en-US" sz="900">
                <a:solidFill>
                  <a:srgbClr val="9CA3A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URP MEETING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8"/>
          <p:cNvSpPr/>
          <p:nvPr/>
        </p:nvSpPr>
        <p:spPr>
          <a:xfrm>
            <a:off x="457200" y="502920"/>
            <a:ext cx="11247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00"/>
              <a:buFont typeface="Times New Roman"/>
              <a:buNone/>
            </a:pPr>
            <a:r>
              <a:rPr b="1" lang="en-US" sz="22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Vortex Workload - Kmeans(KMN) - </a:t>
            </a:r>
            <a:r>
              <a:rPr b="1" lang="en-US" sz="22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 size에 따른 16kB L1D cache 실행 결과</a:t>
            </a:r>
            <a:endParaRPr b="1" sz="2200">
              <a:solidFill>
                <a:srgbClr val="1E293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0" name="Google Shape;200;p18"/>
          <p:cNvSpPr/>
          <p:nvPr/>
        </p:nvSpPr>
        <p:spPr>
          <a:xfrm>
            <a:off x="746125" y="5968625"/>
            <a:ext cx="6605100" cy="68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예측과 달리 input size가 늘어날수록  RR의 L1 캐시 효율, IPC 등이 GTO보다 우세함</a:t>
            </a:r>
            <a:endParaRPr sz="130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201" name="Google Shape;201;p18"/>
          <p:cNvGraphicFramePr/>
          <p:nvPr/>
        </p:nvGraphicFramePr>
        <p:xfrm>
          <a:off x="152400" y="1005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{146F7252-3CE8-443C-AF95-12DF867F9904}</a:tableStyleId>
              </a:tblPr>
              <a:tblGrid>
                <a:gridCol w="648425"/>
                <a:gridCol w="608725"/>
                <a:gridCol w="674875"/>
                <a:gridCol w="569025"/>
                <a:gridCol w="979250"/>
                <a:gridCol w="1005725"/>
                <a:gridCol w="1032175"/>
                <a:gridCol w="846925"/>
                <a:gridCol w="833675"/>
                <a:gridCol w="913075"/>
                <a:gridCol w="1217450"/>
                <a:gridCol w="966025"/>
                <a:gridCol w="1389450"/>
              </a:tblGrid>
              <a:tr h="494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p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f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policy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rc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IPC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cycles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L1_MPKI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l1_hit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mlat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scrb_pct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all_empty_pct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issued_pct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ready_size0_pct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5575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1024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16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RR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0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4.059623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226088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24.47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35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154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66.90%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14.80%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18.30%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82%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5575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1024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16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GTO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0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4.041621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227095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24.65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35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156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66.60%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15.20%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18.30%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82%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5575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1024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64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RR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0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8.278826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348719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13.22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43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87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58.60%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9.00%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32.40%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68%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5575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1024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64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GTO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0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7.958671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362747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13.38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43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90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59.50%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9.10%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31.40%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69%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5575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4096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16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RR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0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8.390411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395706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11.63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48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101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59.60%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7.70%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32.70%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67%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5575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4096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16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GTO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0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7.952364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417503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11.69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48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109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60.10%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8.10%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31.80%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68%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5575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4096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64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RR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0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12.64904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885185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9.05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49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66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53.80%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3.10%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43.10%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57%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5575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4096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64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GTO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0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11.60817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964557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9.13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49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74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55.70%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3.40%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40.90%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59%</a:t>
                      </a:r>
                      <a:endParaRPr sz="13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9"/>
          <p:cNvSpPr/>
          <p:nvPr/>
        </p:nvSpPr>
        <p:spPr>
          <a:xfrm>
            <a:off x="0" y="0"/>
            <a:ext cx="12189000" cy="73200"/>
          </a:xfrm>
          <a:prstGeom prst="rect">
            <a:avLst/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9"/>
          <p:cNvSpPr/>
          <p:nvPr/>
        </p:nvSpPr>
        <p:spPr>
          <a:xfrm>
            <a:off x="365760" y="164592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Times New Roman"/>
              <a:buNone/>
            </a:pPr>
            <a:r>
              <a:rPr lang="en-US" sz="900">
                <a:solidFill>
                  <a:srgbClr val="9CA3A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URP MEETING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9"/>
          <p:cNvSpPr/>
          <p:nvPr/>
        </p:nvSpPr>
        <p:spPr>
          <a:xfrm>
            <a:off x="457200" y="502920"/>
            <a:ext cx="11247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00"/>
              <a:buFont typeface="Times New Roman"/>
              <a:buNone/>
            </a:pPr>
            <a:r>
              <a:rPr b="1" lang="en-US" sz="22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Vortex Workload - SGEMM3 </a:t>
            </a:r>
            <a:r>
              <a:rPr b="1" lang="en-US" sz="22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Characteristic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9"/>
          <p:cNvSpPr/>
          <p:nvPr/>
        </p:nvSpPr>
        <p:spPr>
          <a:xfrm>
            <a:off x="6108425" y="1158125"/>
            <a:ext cx="5545800" cy="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C = A × B </a:t>
            </a:r>
            <a:r>
              <a:rPr lang="en-US" sz="13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행렬곱 계산 프로그램</a:t>
            </a:r>
            <a:endParaRPr sz="130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local 메모리 이용, tile size 조정 가능</a:t>
            </a:r>
            <a:endParaRPr sz="130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1" name="Google Shape;211;p19"/>
          <p:cNvSpPr/>
          <p:nvPr/>
        </p:nvSpPr>
        <p:spPr>
          <a:xfrm>
            <a:off x="6260275" y="3426325"/>
            <a:ext cx="4802700" cy="62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localA, localB 타일를 로컬 메모리에 가져온 후 여러 스레드가</a:t>
            </a:r>
            <a:endParaRPr sz="130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__local memory에서 재사용</a:t>
            </a:r>
            <a:endParaRPr sz="130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2" name="Google Shape;212;p19"/>
          <p:cNvSpPr/>
          <p:nvPr/>
        </p:nvSpPr>
        <p:spPr>
          <a:xfrm>
            <a:off x="500750" y="2923526"/>
            <a:ext cx="5303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-US" sz="1300">
                <a:latin typeface="Malgun Gothic"/>
                <a:ea typeface="Malgun Gothic"/>
                <a:cs typeface="Malgun Gothic"/>
                <a:sym typeface="Malgun Gothic"/>
              </a:rPr>
              <a:t>kernel.cl - sgemm3</a:t>
            </a:r>
            <a:endParaRPr b="1" sz="130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13" name="Google Shape;21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8513" y="1158125"/>
            <a:ext cx="2377884" cy="161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5750" y="3412050"/>
            <a:ext cx="5303400" cy="3351375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19"/>
          <p:cNvSpPr/>
          <p:nvPr/>
        </p:nvSpPr>
        <p:spPr>
          <a:xfrm>
            <a:off x="6108425" y="2004725"/>
            <a:ext cx="5545800" cy="123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주요 입력 parameter</a:t>
            </a:r>
            <a:endParaRPr sz="130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-n: matrix 크기</a:t>
            </a:r>
            <a:endParaRPr sz="130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-t: tile size</a:t>
            </a:r>
            <a:endParaRPr sz="130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0"/>
          <p:cNvSpPr/>
          <p:nvPr/>
        </p:nvSpPr>
        <p:spPr>
          <a:xfrm>
            <a:off x="0" y="0"/>
            <a:ext cx="12189000" cy="73200"/>
          </a:xfrm>
          <a:prstGeom prst="rect">
            <a:avLst/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0"/>
          <p:cNvSpPr/>
          <p:nvPr/>
        </p:nvSpPr>
        <p:spPr>
          <a:xfrm>
            <a:off x="365760" y="164592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Times New Roman"/>
              <a:buNone/>
            </a:pPr>
            <a:r>
              <a:rPr lang="en-US" sz="900">
                <a:solidFill>
                  <a:srgbClr val="9CA3A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URP MEETING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0"/>
          <p:cNvSpPr/>
          <p:nvPr/>
        </p:nvSpPr>
        <p:spPr>
          <a:xfrm>
            <a:off x="457200" y="502920"/>
            <a:ext cx="11247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00"/>
              <a:buFont typeface="Times New Roman"/>
              <a:buNone/>
            </a:pPr>
            <a:r>
              <a:rPr b="1" lang="en-US" sz="22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Vortex Workload - SGEMM3 </a:t>
            </a:r>
            <a:r>
              <a:rPr b="1" lang="en-US" sz="22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input size에 따른 16kB L1D cache 실행 결과</a:t>
            </a:r>
            <a:endParaRPr b="1" sz="2200">
              <a:solidFill>
                <a:srgbClr val="1E293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4" name="Google Shape;224;p20"/>
          <p:cNvSpPr/>
          <p:nvPr/>
        </p:nvSpPr>
        <p:spPr>
          <a:xfrm>
            <a:off x="7368375" y="3891950"/>
            <a:ext cx="4069800" cy="12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16kB L1 캐시에서 matrix size, tile size를 변화시키며 RR, GTO 성능 비교</a:t>
            </a:r>
            <a:endParaRPr sz="130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tile size가 커질수록 IPC 면에서 RR &lt; GTO</a:t>
            </a:r>
            <a:endParaRPr sz="130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25" name="Google Shape;22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475" y="1134475"/>
            <a:ext cx="4225947" cy="267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0"/>
          <p:cNvSpPr/>
          <p:nvPr/>
        </p:nvSpPr>
        <p:spPr>
          <a:xfrm>
            <a:off x="4897025" y="1134475"/>
            <a:ext cx="5363100" cy="16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블록 계산 후 barrier가 존재</a:t>
            </a:r>
            <a:endParaRPr sz="130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GTO는 배리어 근처에 latency hiding할 워프 수가 적음</a:t>
            </a:r>
            <a:endParaRPr sz="130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tile size가 커질수록 배리어까지 도달하는 시간이 오래걸림</a:t>
            </a:r>
            <a:endParaRPr sz="130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GTO가 locality를 활용할 시간이 길어진다</a:t>
            </a:r>
            <a:endParaRPr sz="130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27" name="Google Shape;227;p20"/>
          <p:cNvCxnSpPr/>
          <p:nvPr/>
        </p:nvCxnSpPr>
        <p:spPr>
          <a:xfrm rot="10800000">
            <a:off x="2194500" y="8926425"/>
            <a:ext cx="22353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228" name="Google Shape;228;p20"/>
          <p:cNvGraphicFramePr/>
          <p:nvPr/>
        </p:nvGraphicFramePr>
        <p:xfrm>
          <a:off x="365750" y="4105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{146F7252-3CE8-443C-AF95-12DF867F9904}</a:tableStyleId>
              </a:tblPr>
              <a:tblGrid>
                <a:gridCol w="617525"/>
                <a:gridCol w="385950"/>
                <a:gridCol w="637475"/>
                <a:gridCol w="888625"/>
                <a:gridCol w="581600"/>
                <a:gridCol w="879275"/>
                <a:gridCol w="1091000"/>
                <a:gridCol w="963225"/>
                <a:gridCol w="796125"/>
              </a:tblGrid>
              <a:tr h="305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n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t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policy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IPC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L1_hit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L1_MPKI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thread_local%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intra_warp%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intra_hit%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224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128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4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RR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7.346502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58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20.13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98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72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224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128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4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GTO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7.328239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54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21.42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98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61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224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128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8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RR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6.772907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37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21.58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73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25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47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224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128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8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GTO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6.889281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37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21.65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74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25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47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224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128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16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RR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5.530245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32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19.18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72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26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52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224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128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16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GTO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5.896252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34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18.92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72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26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55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1"/>
          <p:cNvSpPr/>
          <p:nvPr/>
        </p:nvSpPr>
        <p:spPr>
          <a:xfrm>
            <a:off x="0" y="0"/>
            <a:ext cx="12189000" cy="73200"/>
          </a:xfrm>
          <a:prstGeom prst="rect">
            <a:avLst/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1"/>
          <p:cNvSpPr/>
          <p:nvPr/>
        </p:nvSpPr>
        <p:spPr>
          <a:xfrm>
            <a:off x="365760" y="164592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Times New Roman"/>
              <a:buNone/>
            </a:pPr>
            <a:r>
              <a:rPr lang="en-US" sz="900">
                <a:solidFill>
                  <a:srgbClr val="9CA3A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URP MEETING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1"/>
          <p:cNvSpPr/>
          <p:nvPr/>
        </p:nvSpPr>
        <p:spPr>
          <a:xfrm>
            <a:off x="457200" y="502920"/>
            <a:ext cx="11247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00"/>
              <a:buFont typeface="Times New Roman"/>
              <a:buNone/>
            </a:pPr>
            <a:r>
              <a:rPr b="1" lang="en-US" sz="22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Vortex Workload - BFS </a:t>
            </a:r>
            <a:r>
              <a:rPr b="1" lang="en-US" sz="22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Characteristic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1"/>
          <p:cNvSpPr/>
          <p:nvPr/>
        </p:nvSpPr>
        <p:spPr>
          <a:xfrm>
            <a:off x="4667225" y="1223952"/>
            <a:ext cx="5303400" cy="9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주어진 그래프에서 Breadth-First-Search를 수행하는 프로그램</a:t>
            </a:r>
            <a:endParaRPr sz="130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8" name="Google Shape;238;p21"/>
          <p:cNvSpPr/>
          <p:nvPr/>
        </p:nvSpPr>
        <p:spPr>
          <a:xfrm>
            <a:off x="7852325" y="4292313"/>
            <a:ext cx="4149300" cy="150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for문 조건 내 g_graph_nodes는 순차 접근</a:t>
            </a:r>
            <a:endParaRPr sz="130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-&gt; 제한적인 spatial locality</a:t>
            </a:r>
            <a:endParaRPr sz="130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루프 내에서 id 기반 배열 접근</a:t>
            </a:r>
            <a:endParaRPr sz="130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-&gt; 불규칙한 메모리 접근</a:t>
            </a:r>
            <a:endParaRPr sz="130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9" name="Google Shape;239;p21"/>
          <p:cNvSpPr/>
          <p:nvPr/>
        </p:nvSpPr>
        <p:spPr>
          <a:xfrm>
            <a:off x="500750" y="3888576"/>
            <a:ext cx="5303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-US" sz="1300">
                <a:latin typeface="Malgun Gothic"/>
                <a:ea typeface="Malgun Gothic"/>
                <a:cs typeface="Malgun Gothic"/>
                <a:sym typeface="Malgun Gothic"/>
              </a:rPr>
              <a:t>kernel.cl</a:t>
            </a:r>
            <a:r>
              <a:rPr b="1" lang="en-US" sz="13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 - BFS_1 (</a:t>
            </a:r>
            <a:r>
              <a:rPr b="1" lang="en-US" sz="13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다음 레벨 탐색 함수)</a:t>
            </a:r>
            <a:endParaRPr b="1" sz="130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40" name="Google Shape;24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8100" y="1223951"/>
            <a:ext cx="3050112" cy="2664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" y="4391370"/>
            <a:ext cx="7193099" cy="1307275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1"/>
          <p:cNvSpPr/>
          <p:nvPr/>
        </p:nvSpPr>
        <p:spPr>
          <a:xfrm>
            <a:off x="7218175" y="2112677"/>
            <a:ext cx="2827800" cy="64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노드, edge 수, 가중치 증이 들어있는 txt 파일을 입력으로 받음</a:t>
            </a:r>
            <a:endParaRPr sz="130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43" name="Google Shape;243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67225" y="2060375"/>
            <a:ext cx="2362200" cy="200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2"/>
          <p:cNvSpPr/>
          <p:nvPr/>
        </p:nvSpPr>
        <p:spPr>
          <a:xfrm>
            <a:off x="0" y="0"/>
            <a:ext cx="12189000" cy="73200"/>
          </a:xfrm>
          <a:prstGeom prst="rect">
            <a:avLst/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2"/>
          <p:cNvSpPr/>
          <p:nvPr/>
        </p:nvSpPr>
        <p:spPr>
          <a:xfrm>
            <a:off x="365760" y="164592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Times New Roman"/>
              <a:buNone/>
            </a:pPr>
            <a:r>
              <a:rPr lang="en-US" sz="900">
                <a:solidFill>
                  <a:srgbClr val="9CA3A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URP MEETING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2"/>
          <p:cNvSpPr/>
          <p:nvPr/>
        </p:nvSpPr>
        <p:spPr>
          <a:xfrm>
            <a:off x="457200" y="502920"/>
            <a:ext cx="11247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00"/>
              <a:buFont typeface="Times New Roman"/>
              <a:buNone/>
            </a:pPr>
            <a:r>
              <a:rPr b="1" lang="en-US" sz="22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Vortex Workload - BFS </a:t>
            </a:r>
            <a:r>
              <a:rPr b="1" lang="en-US" sz="22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input size에 따른 16kB L1D cache 실행 결과</a:t>
            </a:r>
            <a:endParaRPr b="1" sz="2200">
              <a:solidFill>
                <a:srgbClr val="1E293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2" name="Google Shape;252;p22"/>
          <p:cNvSpPr/>
          <p:nvPr/>
        </p:nvSpPr>
        <p:spPr>
          <a:xfrm>
            <a:off x="457200" y="5001575"/>
            <a:ext cx="92037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불규칙한 메모리 접근으로 인해 RR, GTO 성능이 비슷함</a:t>
            </a:r>
            <a:endParaRPr sz="130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253" name="Google Shape;253;p22"/>
          <p:cNvGraphicFramePr/>
          <p:nvPr/>
        </p:nvGraphicFramePr>
        <p:xfrm>
          <a:off x="365750" y="1005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{146F7252-3CE8-443C-AF95-12DF867F9904}</a:tableStyleId>
              </a:tblPr>
              <a:tblGrid>
                <a:gridCol w="908950"/>
                <a:gridCol w="926425"/>
                <a:gridCol w="908950"/>
                <a:gridCol w="891450"/>
                <a:gridCol w="1310975"/>
                <a:gridCol w="1433325"/>
                <a:gridCol w="1433325"/>
                <a:gridCol w="1310975"/>
              </a:tblGrid>
              <a:tr h="370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policy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nodes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edges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warps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ipc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dcache_hit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streak_avg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streak_max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16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128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754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0.806634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6%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2.98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69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16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GTO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128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754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0.799523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6%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4.37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69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16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256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1496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0.785832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7%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1.61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69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16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GTO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256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1496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0.776248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6%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2.51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69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16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512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3026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0.733253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7%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1.44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69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16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GTO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512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3026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0.737699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8%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1.64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69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16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4096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24576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0.871296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14%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1.32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68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16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GTO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4096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24576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0.881194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14%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1.34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68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3"/>
          <p:cNvSpPr/>
          <p:nvPr/>
        </p:nvSpPr>
        <p:spPr>
          <a:xfrm>
            <a:off x="0" y="0"/>
            <a:ext cx="12189000" cy="73200"/>
          </a:xfrm>
          <a:prstGeom prst="rect">
            <a:avLst/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3"/>
          <p:cNvSpPr/>
          <p:nvPr/>
        </p:nvSpPr>
        <p:spPr>
          <a:xfrm>
            <a:off x="365760" y="164592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Times New Roman"/>
              <a:buNone/>
            </a:pPr>
            <a:r>
              <a:rPr lang="en-US" sz="900">
                <a:solidFill>
                  <a:srgbClr val="9CA3A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URP MEETING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3"/>
          <p:cNvSpPr/>
          <p:nvPr/>
        </p:nvSpPr>
        <p:spPr>
          <a:xfrm>
            <a:off x="457200" y="502920"/>
            <a:ext cx="11247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00"/>
              <a:buFont typeface="Times New Roman"/>
              <a:buNone/>
            </a:pPr>
            <a:r>
              <a:rPr b="1" lang="en-US" sz="22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Vortex Arbiter - Sanity Check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3"/>
          <p:cNvSpPr txBox="1"/>
          <p:nvPr/>
        </p:nvSpPr>
        <p:spPr>
          <a:xfrm>
            <a:off x="457200" y="1069850"/>
            <a:ext cx="65463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sgemm single loop block (unbounded L1D cache)</a:t>
            </a:r>
            <a:endParaRPr/>
          </a:p>
        </p:txBody>
      </p:sp>
      <p:sp>
        <p:nvSpPr>
          <p:cNvPr id="263" name="Google Shape;263;p23"/>
          <p:cNvSpPr txBox="1"/>
          <p:nvPr/>
        </p:nvSpPr>
        <p:spPr>
          <a:xfrm>
            <a:off x="457200" y="1703800"/>
            <a:ext cx="65463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4x4 행렬곱을 core=1, thread=1, warps=8에서 계산함 (전체 warp 두 번 순회)   </a:t>
            </a:r>
            <a:endParaRPr/>
          </a:p>
        </p:txBody>
      </p:sp>
      <p:pic>
        <p:nvPicPr>
          <p:cNvPr id="264" name="Google Shape;26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1525" y="2346300"/>
            <a:ext cx="4382152" cy="3830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73430" y="2346300"/>
            <a:ext cx="4594920" cy="37277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4"/>
          <p:cNvSpPr/>
          <p:nvPr/>
        </p:nvSpPr>
        <p:spPr>
          <a:xfrm>
            <a:off x="0" y="0"/>
            <a:ext cx="12189000" cy="73200"/>
          </a:xfrm>
          <a:prstGeom prst="rect">
            <a:avLst/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4"/>
          <p:cNvSpPr/>
          <p:nvPr/>
        </p:nvSpPr>
        <p:spPr>
          <a:xfrm>
            <a:off x="365760" y="164592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Times New Roman"/>
              <a:buNone/>
            </a:pPr>
            <a:r>
              <a:rPr lang="en-US" sz="900">
                <a:solidFill>
                  <a:srgbClr val="9CA3A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URP MEETING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4"/>
          <p:cNvSpPr/>
          <p:nvPr/>
        </p:nvSpPr>
        <p:spPr>
          <a:xfrm>
            <a:off x="457200" y="502920"/>
            <a:ext cx="11247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00"/>
              <a:buFont typeface="Times New Roman"/>
              <a:buNone/>
            </a:pPr>
            <a:r>
              <a:rPr b="1" lang="en-US" sz="22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Vortex Arbiter - Sanity Check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4"/>
          <p:cNvSpPr txBox="1"/>
          <p:nvPr/>
        </p:nvSpPr>
        <p:spPr>
          <a:xfrm>
            <a:off x="457200" y="1069850"/>
            <a:ext cx="65463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ideal arbiter behavior rr</a:t>
            </a:r>
            <a:r>
              <a:rPr lang="en-US"/>
              <a:t>은 fairness, gto는 greediness가 잘 보여야 함</a:t>
            </a:r>
            <a:endParaRPr/>
          </a:p>
        </p:txBody>
      </p:sp>
      <p:sp>
        <p:nvSpPr>
          <p:cNvPr id="275" name="Google Shape;275;p24"/>
          <p:cNvSpPr txBox="1"/>
          <p:nvPr/>
        </p:nvSpPr>
        <p:spPr>
          <a:xfrm>
            <a:off x="457200" y="1703800"/>
            <a:ext cx="2859600" cy="17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6" name="Google Shape;276;p24"/>
          <p:cNvPicPr preferRelativeResize="0"/>
          <p:nvPr/>
        </p:nvPicPr>
        <p:blipFill rotWithShape="1">
          <a:blip r:embed="rId3">
            <a:alphaModFix/>
          </a:blip>
          <a:srcRect b="6647" l="0" r="0" t="11082"/>
          <a:stretch/>
        </p:blipFill>
        <p:spPr>
          <a:xfrm>
            <a:off x="1809538" y="1969225"/>
            <a:ext cx="8572923" cy="4280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5"/>
          <p:cNvSpPr/>
          <p:nvPr/>
        </p:nvSpPr>
        <p:spPr>
          <a:xfrm>
            <a:off x="0" y="0"/>
            <a:ext cx="12189000" cy="73200"/>
          </a:xfrm>
          <a:prstGeom prst="rect">
            <a:avLst/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5"/>
          <p:cNvSpPr/>
          <p:nvPr/>
        </p:nvSpPr>
        <p:spPr>
          <a:xfrm>
            <a:off x="365760" y="164592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Times New Roman"/>
              <a:buNone/>
            </a:pPr>
            <a:r>
              <a:rPr lang="en-US" sz="900">
                <a:solidFill>
                  <a:srgbClr val="9CA3A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URP MEETING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5"/>
          <p:cNvSpPr/>
          <p:nvPr/>
        </p:nvSpPr>
        <p:spPr>
          <a:xfrm>
            <a:off x="457200" y="502920"/>
            <a:ext cx="11247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00"/>
              <a:buFont typeface="Times New Roman"/>
              <a:buNone/>
            </a:pPr>
            <a:r>
              <a:rPr b="1" lang="en-US" sz="22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Vortex Arbiter - RR (Loosely Round Robin)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5" name="Google Shape;28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4875" y="1493975"/>
            <a:ext cx="6819250" cy="28413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71078" y="4399475"/>
            <a:ext cx="6819250" cy="2273075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5"/>
          <p:cNvSpPr txBox="1"/>
          <p:nvPr/>
        </p:nvSpPr>
        <p:spPr>
          <a:xfrm>
            <a:off x="457200" y="1069850"/>
            <a:ext cx="65463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sgemm single loop block (unbounded L1D cache)</a:t>
            </a:r>
            <a:endParaRPr/>
          </a:p>
        </p:txBody>
      </p:sp>
      <p:sp>
        <p:nvSpPr>
          <p:cNvPr id="288" name="Google Shape;288;p25"/>
          <p:cNvSpPr txBox="1"/>
          <p:nvPr/>
        </p:nvSpPr>
        <p:spPr>
          <a:xfrm>
            <a:off x="457200" y="4854875"/>
            <a:ext cx="2227500" cy="12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노란색은 preferred wid. RR은 현재 wid</a:t>
            </a:r>
            <a:r>
              <a:rPr lang="en-US"/>
              <a:t>를 </a:t>
            </a:r>
            <a:r>
              <a:rPr lang="en-US"/>
              <a:t>유지하기보다 다음 wid를 선택하려고 한다. 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6"/>
          <p:cNvSpPr/>
          <p:nvPr/>
        </p:nvSpPr>
        <p:spPr>
          <a:xfrm>
            <a:off x="0" y="0"/>
            <a:ext cx="12189000" cy="73200"/>
          </a:xfrm>
          <a:prstGeom prst="rect">
            <a:avLst/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6"/>
          <p:cNvSpPr/>
          <p:nvPr/>
        </p:nvSpPr>
        <p:spPr>
          <a:xfrm>
            <a:off x="365760" y="164592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Times New Roman"/>
              <a:buNone/>
            </a:pPr>
            <a:r>
              <a:rPr lang="en-US" sz="900">
                <a:solidFill>
                  <a:srgbClr val="9CA3A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URP MEETING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6"/>
          <p:cNvSpPr/>
          <p:nvPr/>
        </p:nvSpPr>
        <p:spPr>
          <a:xfrm>
            <a:off x="457200" y="502920"/>
            <a:ext cx="11247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00"/>
              <a:buFont typeface="Times New Roman"/>
              <a:buNone/>
            </a:pPr>
            <a:r>
              <a:rPr b="1" lang="en-US" sz="22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Vortex Arbiter - RR (Loosely Round Robin)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7" name="Google Shape;29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2850" y="1965974"/>
            <a:ext cx="8346302" cy="4173151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26"/>
          <p:cNvSpPr txBox="1"/>
          <p:nvPr/>
        </p:nvSpPr>
        <p:spPr>
          <a:xfrm>
            <a:off x="457200" y="1069850"/>
            <a:ext cx="65463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sgemm single loop block (unbounded L1D cache)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7"/>
          <p:cNvSpPr/>
          <p:nvPr/>
        </p:nvSpPr>
        <p:spPr>
          <a:xfrm>
            <a:off x="0" y="0"/>
            <a:ext cx="12189000" cy="73200"/>
          </a:xfrm>
          <a:prstGeom prst="rect">
            <a:avLst/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7"/>
          <p:cNvSpPr/>
          <p:nvPr/>
        </p:nvSpPr>
        <p:spPr>
          <a:xfrm>
            <a:off x="365760" y="164592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Times New Roman"/>
              <a:buNone/>
            </a:pPr>
            <a:r>
              <a:rPr lang="en-US" sz="900">
                <a:solidFill>
                  <a:srgbClr val="9CA3A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URP MEETING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7"/>
          <p:cNvSpPr/>
          <p:nvPr/>
        </p:nvSpPr>
        <p:spPr>
          <a:xfrm>
            <a:off x="457200" y="502920"/>
            <a:ext cx="11247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00"/>
              <a:buFont typeface="Times New Roman"/>
              <a:buNone/>
            </a:pPr>
            <a:r>
              <a:rPr b="1" lang="en-US" sz="22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Vortex Arbiter - GTO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7" name="Google Shape;30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78875" y="1605813"/>
            <a:ext cx="6834254" cy="284378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75025" y="4396576"/>
            <a:ext cx="6841954" cy="2276856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7"/>
          <p:cNvSpPr txBox="1"/>
          <p:nvPr/>
        </p:nvSpPr>
        <p:spPr>
          <a:xfrm>
            <a:off x="457200" y="1069850"/>
            <a:ext cx="65463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sgemm single loop block (unbounded L1D cache)</a:t>
            </a:r>
            <a:endParaRPr/>
          </a:p>
        </p:txBody>
      </p:sp>
      <p:sp>
        <p:nvSpPr>
          <p:cNvPr id="310" name="Google Shape;310;p27"/>
          <p:cNvSpPr txBox="1"/>
          <p:nvPr/>
        </p:nvSpPr>
        <p:spPr>
          <a:xfrm>
            <a:off x="457200" y="4854875"/>
            <a:ext cx="2227500" cy="12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노란색은 preferred wid. GTO</a:t>
            </a:r>
            <a:r>
              <a:rPr lang="en-US"/>
              <a:t>는</a:t>
            </a:r>
            <a:r>
              <a:rPr lang="en-US"/>
              <a:t> 현재 wid를 유지하려고 한다. 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8"/>
          <p:cNvSpPr/>
          <p:nvPr/>
        </p:nvSpPr>
        <p:spPr>
          <a:xfrm>
            <a:off x="0" y="0"/>
            <a:ext cx="12189000" cy="73200"/>
          </a:xfrm>
          <a:prstGeom prst="rect">
            <a:avLst/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8"/>
          <p:cNvSpPr/>
          <p:nvPr/>
        </p:nvSpPr>
        <p:spPr>
          <a:xfrm>
            <a:off x="365760" y="164592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Times New Roman"/>
              <a:buNone/>
            </a:pPr>
            <a:r>
              <a:rPr lang="en-US" sz="900">
                <a:solidFill>
                  <a:srgbClr val="9CA3A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URP MEETING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8"/>
          <p:cNvSpPr/>
          <p:nvPr/>
        </p:nvSpPr>
        <p:spPr>
          <a:xfrm>
            <a:off x="457200" y="502920"/>
            <a:ext cx="11247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00"/>
              <a:buFont typeface="Times New Roman"/>
              <a:buNone/>
            </a:pPr>
            <a:r>
              <a:rPr b="1" lang="en-US" sz="22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Vortex Arbiter - GTO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9" name="Google Shape;31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1553" y="1951845"/>
            <a:ext cx="8328902" cy="4169664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28"/>
          <p:cNvSpPr txBox="1"/>
          <p:nvPr/>
        </p:nvSpPr>
        <p:spPr>
          <a:xfrm>
            <a:off x="457200" y="1069850"/>
            <a:ext cx="65463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sgemm single loop block (unbounded L1D cache)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9"/>
          <p:cNvSpPr/>
          <p:nvPr/>
        </p:nvSpPr>
        <p:spPr>
          <a:xfrm>
            <a:off x="0" y="0"/>
            <a:ext cx="12189000" cy="73200"/>
          </a:xfrm>
          <a:prstGeom prst="rect">
            <a:avLst/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9"/>
          <p:cNvSpPr/>
          <p:nvPr/>
        </p:nvSpPr>
        <p:spPr>
          <a:xfrm>
            <a:off x="365760" y="164592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Times New Roman"/>
              <a:buNone/>
            </a:pPr>
            <a:r>
              <a:rPr lang="en-US" sz="900">
                <a:solidFill>
                  <a:srgbClr val="9CA3A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URP MEETING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9"/>
          <p:cNvSpPr/>
          <p:nvPr/>
        </p:nvSpPr>
        <p:spPr>
          <a:xfrm>
            <a:off x="457200" y="502920"/>
            <a:ext cx="11247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00"/>
              <a:buFont typeface="Times New Roman"/>
              <a:buNone/>
            </a:pPr>
            <a:r>
              <a:rPr b="1" lang="en-US" sz="22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Vortex Arbiter - gCAWS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9"/>
          <p:cNvSpPr txBox="1"/>
          <p:nvPr/>
        </p:nvSpPr>
        <p:spPr>
          <a:xfrm>
            <a:off x="457200" y="1069850"/>
            <a:ext cx="65463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sgemm single loop block (unbounded L1D cache)</a:t>
            </a:r>
            <a:endParaRPr/>
          </a:p>
        </p:txBody>
      </p:sp>
      <p:pic>
        <p:nvPicPr>
          <p:cNvPr id="330" name="Google Shape;33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78875" y="1605826"/>
            <a:ext cx="6834254" cy="284378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18250" y="7311917"/>
            <a:ext cx="4218067" cy="2109034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29"/>
          <p:cNvSpPr txBox="1"/>
          <p:nvPr/>
        </p:nvSpPr>
        <p:spPr>
          <a:xfrm>
            <a:off x="457200" y="4854875"/>
            <a:ext cx="2162400" cy="13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노란색은 preferred wid.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gCAWS은 현재 wid를 유지하</a:t>
            </a:r>
            <a:r>
              <a:rPr lang="en-US"/>
              <a:t>되, 다음 우선순위로 stall이 많고 pc가 뒤쳐진 warp를 선택하여 고루 실행되게 한다.</a:t>
            </a:r>
            <a:endParaRPr/>
          </a:p>
        </p:txBody>
      </p:sp>
      <p:pic>
        <p:nvPicPr>
          <p:cNvPr id="333" name="Google Shape;333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90200" y="4388650"/>
            <a:ext cx="6811594" cy="22768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0"/>
          <p:cNvSpPr/>
          <p:nvPr/>
        </p:nvSpPr>
        <p:spPr>
          <a:xfrm>
            <a:off x="0" y="0"/>
            <a:ext cx="12189000" cy="73200"/>
          </a:xfrm>
          <a:prstGeom prst="rect">
            <a:avLst/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30"/>
          <p:cNvSpPr/>
          <p:nvPr/>
        </p:nvSpPr>
        <p:spPr>
          <a:xfrm>
            <a:off x="365760" y="164592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Times New Roman"/>
              <a:buNone/>
            </a:pPr>
            <a:r>
              <a:rPr lang="en-US" sz="900">
                <a:solidFill>
                  <a:srgbClr val="9CA3A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URP MEETING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30"/>
          <p:cNvSpPr/>
          <p:nvPr/>
        </p:nvSpPr>
        <p:spPr>
          <a:xfrm>
            <a:off x="457200" y="502920"/>
            <a:ext cx="11247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00"/>
              <a:buFont typeface="Times New Roman"/>
              <a:buNone/>
            </a:pPr>
            <a:r>
              <a:rPr b="1" lang="en-US" sz="22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Vortex Arbiter - gCAWS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30"/>
          <p:cNvSpPr txBox="1"/>
          <p:nvPr/>
        </p:nvSpPr>
        <p:spPr>
          <a:xfrm>
            <a:off x="457200" y="1069850"/>
            <a:ext cx="65463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sgemm single loop block (unbounded L1D cache)</a:t>
            </a:r>
            <a:endParaRPr/>
          </a:p>
        </p:txBody>
      </p:sp>
      <p:pic>
        <p:nvPicPr>
          <p:cNvPr id="343" name="Google Shape;34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5600" y="1967717"/>
            <a:ext cx="8320795" cy="41696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1"/>
          <p:cNvSpPr/>
          <p:nvPr/>
        </p:nvSpPr>
        <p:spPr>
          <a:xfrm>
            <a:off x="0" y="0"/>
            <a:ext cx="12189000" cy="73200"/>
          </a:xfrm>
          <a:prstGeom prst="rect">
            <a:avLst/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31"/>
          <p:cNvSpPr/>
          <p:nvPr/>
        </p:nvSpPr>
        <p:spPr>
          <a:xfrm>
            <a:off x="365760" y="164592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Times New Roman"/>
              <a:buNone/>
            </a:pPr>
            <a:r>
              <a:rPr lang="en-US" sz="900">
                <a:solidFill>
                  <a:srgbClr val="9CA3A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URP MEETING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31"/>
          <p:cNvSpPr/>
          <p:nvPr/>
        </p:nvSpPr>
        <p:spPr>
          <a:xfrm>
            <a:off x="457200" y="502920"/>
            <a:ext cx="11247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00"/>
              <a:buFont typeface="Times New Roman"/>
              <a:buNone/>
            </a:pPr>
            <a:r>
              <a:rPr b="1" lang="en-US" sz="22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Vortex Aribiter Comparison -kmeans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31"/>
          <p:cNvSpPr txBox="1"/>
          <p:nvPr/>
        </p:nvSpPr>
        <p:spPr>
          <a:xfrm>
            <a:off x="457200" y="1069850"/>
            <a:ext cx="10955700" cy="6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Vortex Baseline: 1-cluster, 1-socket, 1core, 32 Threads, 32 Warps, </a:t>
            </a:r>
            <a:r>
              <a:rPr lang="en-US">
                <a:solidFill>
                  <a:schemeClr val="dk1"/>
                </a:solidFill>
              </a:rPr>
              <a:t>64</a:t>
            </a:r>
            <a:r>
              <a:rPr lang="en-US">
                <a:solidFill>
                  <a:schemeClr val="dk1"/>
                </a:solidFill>
              </a:rPr>
              <a:t>kB L1D(MSHR 64), No L2, Round-robin fetch scheduler, LSUQ 16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Ramulator Baseline: HBM2-configuration(32bank, 32channel)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K-means input: 1000 points, 64 features, 5 centroids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graphicFrame>
        <p:nvGraphicFramePr>
          <p:cNvPr id="353" name="Google Shape;353;p31"/>
          <p:cNvGraphicFramePr/>
          <p:nvPr/>
        </p:nvGraphicFramePr>
        <p:xfrm>
          <a:off x="750063" y="2834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{4A64AF43-FD84-43E7-B9F7-51CF8632E396}</a:tableStyleId>
              </a:tblPr>
              <a:tblGrid>
                <a:gridCol w="2138375"/>
                <a:gridCol w="2138375"/>
                <a:gridCol w="2138375"/>
                <a:gridCol w="2138375"/>
                <a:gridCol w="2138375"/>
              </a:tblGrid>
              <a:tr h="381000">
                <a:tc gridSpan="5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feature array (1000 * 64 * 4 = 256KB, 32*64*4 ~= 8KB per warp)</a:t>
                      </a:r>
                      <a:endParaRPr/>
                    </a:p>
                  </a:txBody>
                  <a:tcPr marT="91425" marB="91425" marR="91425" marL="91425"/>
                </a:tc>
                <a:tc hMerge="1"/>
                <a:tc hMerge="1"/>
                <a:tc hMerge="1"/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point 0 (warp id*block id)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point 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point 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…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point 999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feature 0..63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feature 0..63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feature 0..63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…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feature 0..63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54" name="Google Shape;354;p31"/>
          <p:cNvGraphicFramePr/>
          <p:nvPr/>
        </p:nvGraphicFramePr>
        <p:xfrm>
          <a:off x="750075" y="4311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{4A64AF43-FD84-43E7-B9F7-51CF8632E396}</a:tableStyleId>
              </a:tblPr>
              <a:tblGrid>
                <a:gridCol w="2138375"/>
                <a:gridCol w="2138375"/>
                <a:gridCol w="2138375"/>
                <a:gridCol w="2138375"/>
                <a:gridCol w="2138375"/>
              </a:tblGrid>
              <a:tr h="381000">
                <a:tc gridSpan="5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centroid</a:t>
                      </a:r>
                      <a:r>
                        <a:rPr lang="en-US"/>
                        <a:t> array (5 * 64 * 4 = 1.28KB)</a:t>
                      </a:r>
                      <a:endParaRPr/>
                    </a:p>
                  </a:txBody>
                  <a:tcPr marT="91425" marB="91425" marR="91425" marL="91425"/>
                </a:tc>
                <a:tc hMerge="1"/>
                <a:tc hMerge="1"/>
                <a:tc hMerge="1"/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centroid 0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centroid </a:t>
                      </a: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centroid </a:t>
                      </a:r>
                      <a:r>
                        <a:rPr lang="en-US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centroid 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centroid </a:t>
                      </a:r>
                      <a:r>
                        <a:rPr lang="en-US"/>
                        <a:t>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feature 0..63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feature 0..63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feature 0..63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feature 0..63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feature 0..63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2"/>
          <p:cNvSpPr/>
          <p:nvPr/>
        </p:nvSpPr>
        <p:spPr>
          <a:xfrm>
            <a:off x="0" y="0"/>
            <a:ext cx="12189000" cy="73200"/>
          </a:xfrm>
          <a:prstGeom prst="rect">
            <a:avLst/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32"/>
          <p:cNvSpPr/>
          <p:nvPr/>
        </p:nvSpPr>
        <p:spPr>
          <a:xfrm>
            <a:off x="365760" y="164592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Times New Roman"/>
              <a:buNone/>
            </a:pPr>
            <a:r>
              <a:rPr lang="en-US" sz="900">
                <a:solidFill>
                  <a:srgbClr val="9CA3A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URP MEETING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32"/>
          <p:cNvSpPr/>
          <p:nvPr/>
        </p:nvSpPr>
        <p:spPr>
          <a:xfrm>
            <a:off x="457200" y="502920"/>
            <a:ext cx="11247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00"/>
              <a:buFont typeface="Times New Roman"/>
              <a:buNone/>
            </a:pPr>
            <a:r>
              <a:rPr b="1" lang="en-US" sz="22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Vortex Aribiter Comparison -kmeans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3" name="Google Shape;363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4300" y="1005725"/>
            <a:ext cx="9903398" cy="557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3"/>
          <p:cNvSpPr/>
          <p:nvPr/>
        </p:nvSpPr>
        <p:spPr>
          <a:xfrm>
            <a:off x="0" y="0"/>
            <a:ext cx="12189000" cy="73200"/>
          </a:xfrm>
          <a:prstGeom prst="rect">
            <a:avLst/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33"/>
          <p:cNvSpPr/>
          <p:nvPr/>
        </p:nvSpPr>
        <p:spPr>
          <a:xfrm>
            <a:off x="365760" y="164592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Times New Roman"/>
              <a:buNone/>
            </a:pPr>
            <a:r>
              <a:rPr lang="en-US" sz="900">
                <a:solidFill>
                  <a:srgbClr val="9CA3A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URP MEETING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33"/>
          <p:cNvSpPr/>
          <p:nvPr/>
        </p:nvSpPr>
        <p:spPr>
          <a:xfrm>
            <a:off x="457200" y="502920"/>
            <a:ext cx="11247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00"/>
              <a:buFont typeface="Times New Roman"/>
              <a:buNone/>
            </a:pPr>
            <a:r>
              <a:rPr b="1" lang="en-US" sz="22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Vortex Aribiter Comparison -kmeans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72" name="Google Shape;372;p33"/>
          <p:cNvGraphicFramePr/>
          <p:nvPr/>
        </p:nvGraphicFramePr>
        <p:xfrm>
          <a:off x="750063" y="2556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{4A64AF43-FD84-43E7-B9F7-51CF8632E396}</a:tableStyleId>
              </a:tblPr>
              <a:tblGrid>
                <a:gridCol w="2138375"/>
                <a:gridCol w="2138375"/>
                <a:gridCol w="2138375"/>
                <a:gridCol w="2138375"/>
                <a:gridCol w="2138375"/>
              </a:tblGrid>
              <a:tr h="381000">
                <a:tc gridSpan="5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feature array (1000 * 64 * 4 = 256KB, 32*64*4 ~= 8KB per warp)</a:t>
                      </a:r>
                      <a:endParaRPr/>
                    </a:p>
                  </a:txBody>
                  <a:tcPr marT="91425" marB="91425" marR="91425" marL="91425"/>
                </a:tc>
                <a:tc hMerge="1"/>
                <a:tc hMerge="1"/>
                <a:tc hMerge="1"/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point 0 (warp id*block id)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point 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point 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…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point 999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feature 0..63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feature 0..63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feature 0..63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…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feature 0..63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73" name="Google Shape;373;p33"/>
          <p:cNvGraphicFramePr/>
          <p:nvPr/>
        </p:nvGraphicFramePr>
        <p:xfrm>
          <a:off x="750075" y="4088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{4A64AF43-FD84-43E7-B9F7-51CF8632E396}</a:tableStyleId>
              </a:tblPr>
              <a:tblGrid>
                <a:gridCol w="2138375"/>
                <a:gridCol w="2138375"/>
                <a:gridCol w="2138375"/>
                <a:gridCol w="2138375"/>
                <a:gridCol w="2138375"/>
              </a:tblGrid>
              <a:tr h="381000">
                <a:tc gridSpan="5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centroid array (5 * 64 * 4 = 1.28KB) .. RR/GTO </a:t>
                      </a:r>
                      <a:r>
                        <a:rPr lang="en-US"/>
                        <a:t>모두 inter-warp </a:t>
                      </a:r>
                      <a:endParaRPr/>
                    </a:p>
                  </a:txBody>
                  <a:tcPr marT="91425" marB="91425" marR="91425" marL="91425"/>
                </a:tc>
                <a:tc hMerge="1"/>
                <a:tc hMerge="1"/>
                <a:tc hMerge="1"/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centroid 0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centroid </a:t>
                      </a: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centroid </a:t>
                      </a:r>
                      <a:r>
                        <a:rPr lang="en-US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centroid 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centroid </a:t>
                      </a:r>
                      <a:r>
                        <a:rPr lang="en-US"/>
                        <a:t>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feature 0..63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feature 0..63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feature 0..63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feature 0..63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feature 0..63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374" name="Google Shape;374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0075" y="1207075"/>
            <a:ext cx="7059129" cy="1006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4"/>
          <p:cNvSpPr/>
          <p:nvPr/>
        </p:nvSpPr>
        <p:spPr>
          <a:xfrm>
            <a:off x="0" y="0"/>
            <a:ext cx="12189000" cy="73200"/>
          </a:xfrm>
          <a:prstGeom prst="rect">
            <a:avLst/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34"/>
          <p:cNvSpPr/>
          <p:nvPr/>
        </p:nvSpPr>
        <p:spPr>
          <a:xfrm>
            <a:off x="365760" y="164592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Times New Roman"/>
              <a:buNone/>
            </a:pPr>
            <a:r>
              <a:rPr lang="en-US" sz="900">
                <a:solidFill>
                  <a:srgbClr val="9CA3A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URP MEETING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34"/>
          <p:cNvSpPr/>
          <p:nvPr/>
        </p:nvSpPr>
        <p:spPr>
          <a:xfrm>
            <a:off x="457200" y="502920"/>
            <a:ext cx="11247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00"/>
              <a:buFont typeface="Times New Roman"/>
              <a:buNone/>
            </a:pPr>
            <a:r>
              <a:rPr b="1" lang="en-US" sz="22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Vortex Aribiter Comparison -kmeans (GPGPU-SIM case, L1D sweep)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34"/>
          <p:cNvSpPr txBox="1"/>
          <p:nvPr/>
        </p:nvSpPr>
        <p:spPr>
          <a:xfrm>
            <a:off x="457200" y="1069850"/>
            <a:ext cx="10955700" cy="6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GPGPU-SIM: 1-SM, 1core, 32 Threads, 32 Warps</a:t>
            </a:r>
            <a:r>
              <a:rPr lang="en-US">
                <a:solidFill>
                  <a:schemeClr val="dk1"/>
                </a:solidFill>
              </a:rPr>
              <a:t>, No L2, Round-robin fetch scheduler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Ramulator Baseline: HBM2-configuration</a:t>
            </a:r>
            <a:r>
              <a:rPr lang="en-US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384" name="Google Shape;384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621325"/>
            <a:ext cx="4949607" cy="4846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07450" y="2064874"/>
            <a:ext cx="5787650" cy="3959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5"/>
          <p:cNvSpPr/>
          <p:nvPr/>
        </p:nvSpPr>
        <p:spPr>
          <a:xfrm>
            <a:off x="0" y="0"/>
            <a:ext cx="12189000" cy="73200"/>
          </a:xfrm>
          <a:prstGeom prst="rect">
            <a:avLst/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35"/>
          <p:cNvSpPr/>
          <p:nvPr/>
        </p:nvSpPr>
        <p:spPr>
          <a:xfrm>
            <a:off x="365760" y="164592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Times New Roman"/>
              <a:buNone/>
            </a:pPr>
            <a:r>
              <a:rPr lang="en-US" sz="900">
                <a:solidFill>
                  <a:srgbClr val="9CA3A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URP MEETING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35"/>
          <p:cNvSpPr/>
          <p:nvPr/>
        </p:nvSpPr>
        <p:spPr>
          <a:xfrm>
            <a:off x="457200" y="502920"/>
            <a:ext cx="11247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00"/>
              <a:buFont typeface="Times New Roman"/>
              <a:buNone/>
            </a:pPr>
            <a:r>
              <a:rPr b="1" lang="en-US" sz="22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Vortex Aribiter Comparison -kmeans (GPGPU-SIM case, L1D sweep)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35"/>
          <p:cNvSpPr txBox="1"/>
          <p:nvPr/>
        </p:nvSpPr>
        <p:spPr>
          <a:xfrm>
            <a:off x="457200" y="1069850"/>
            <a:ext cx="10955700" cy="6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GPGPU-SIM: 1-SM, 1core, 32 Threads, 32 Warps</a:t>
            </a:r>
            <a:r>
              <a:rPr lang="en-US">
                <a:solidFill>
                  <a:schemeClr val="dk1"/>
                </a:solidFill>
              </a:rPr>
              <a:t>, No L2, Round-robin fetch scheduler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Ramulator Baseline: HBM2-configuration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395" name="Google Shape;395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64517" y="1707050"/>
            <a:ext cx="6232368" cy="48463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6"/>
          <p:cNvSpPr/>
          <p:nvPr/>
        </p:nvSpPr>
        <p:spPr>
          <a:xfrm>
            <a:off x="0" y="0"/>
            <a:ext cx="12189000" cy="73200"/>
          </a:xfrm>
          <a:prstGeom prst="rect">
            <a:avLst/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36"/>
          <p:cNvSpPr/>
          <p:nvPr/>
        </p:nvSpPr>
        <p:spPr>
          <a:xfrm>
            <a:off x="365760" y="164592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Times New Roman"/>
              <a:buNone/>
            </a:pPr>
            <a:r>
              <a:rPr lang="en-US" sz="900">
                <a:solidFill>
                  <a:srgbClr val="9CA3A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URP MEETING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36"/>
          <p:cNvSpPr/>
          <p:nvPr/>
        </p:nvSpPr>
        <p:spPr>
          <a:xfrm>
            <a:off x="457200" y="502920"/>
            <a:ext cx="11247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00"/>
              <a:buFont typeface="Times New Roman"/>
              <a:buNone/>
            </a:pPr>
            <a:r>
              <a:rPr b="1" lang="en-US" sz="22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Vortex Aribiter Comparison (Vortex case</a:t>
            </a:r>
            <a:r>
              <a:rPr b="1" lang="en-US" sz="22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L1D sweep</a:t>
            </a:r>
            <a:r>
              <a:rPr b="1" lang="en-US" sz="22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36"/>
          <p:cNvSpPr txBox="1"/>
          <p:nvPr/>
        </p:nvSpPr>
        <p:spPr>
          <a:xfrm>
            <a:off x="457200" y="1069850"/>
            <a:ext cx="109557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Vortex Baseline: 1-cluster, 1-socket, 1core, 32 Threads, 32 Warps, 64kB L1D(MSHR 64), No L2, Round-robin fetch scheduler, LSUQ 16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Ramulator Baseline: HBM2-configuration(32bank, 32channel)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K-means input: 1000 points, 64 features, 5 centroids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05" name="Google Shape;405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621238"/>
            <a:ext cx="4904477" cy="4846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44320" y="2064725"/>
            <a:ext cx="5745665" cy="39593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37"/>
          <p:cNvSpPr/>
          <p:nvPr/>
        </p:nvSpPr>
        <p:spPr>
          <a:xfrm>
            <a:off x="0" y="0"/>
            <a:ext cx="12189000" cy="73200"/>
          </a:xfrm>
          <a:prstGeom prst="rect">
            <a:avLst/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37"/>
          <p:cNvSpPr/>
          <p:nvPr/>
        </p:nvSpPr>
        <p:spPr>
          <a:xfrm>
            <a:off x="365760" y="164592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Times New Roman"/>
              <a:buNone/>
            </a:pPr>
            <a:r>
              <a:rPr lang="en-US" sz="900">
                <a:solidFill>
                  <a:srgbClr val="9CA3A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URP MEETING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37"/>
          <p:cNvSpPr/>
          <p:nvPr/>
        </p:nvSpPr>
        <p:spPr>
          <a:xfrm>
            <a:off x="457200" y="502920"/>
            <a:ext cx="11247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00"/>
              <a:buFont typeface="Times New Roman"/>
              <a:buNone/>
            </a:pPr>
            <a:r>
              <a:rPr b="1" lang="en-US" sz="22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Vortex Aribiter Comparison (Vortex case, L1D sweep) 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37"/>
          <p:cNvSpPr txBox="1"/>
          <p:nvPr/>
        </p:nvSpPr>
        <p:spPr>
          <a:xfrm>
            <a:off x="457200" y="1069850"/>
            <a:ext cx="109557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Vortex Baseline: 1-cluster, 1-socket, 1core, 32 Threads, 32 Warps, 64kB L1D(MSHR 64), No L2, Round-robin fetch scheduler, LSUQ 16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Ramulator Baseline: HBM2-configuration(32bank, 32channel)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K-means input: 1000 points, 64 features, 5 centroids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37"/>
          <p:cNvSpPr txBox="1"/>
          <p:nvPr/>
        </p:nvSpPr>
        <p:spPr>
          <a:xfrm>
            <a:off x="457200" y="4854875"/>
            <a:ext cx="2162400" cy="13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unique warp </a:t>
            </a:r>
            <a:r>
              <a:rPr lang="en-US"/>
              <a:t>개수는 gpgpu-sim의 gto와 비슷한 정도로 억제하고 있음</a:t>
            </a:r>
            <a:endParaRPr/>
          </a:p>
        </p:txBody>
      </p:sp>
      <p:pic>
        <p:nvPicPr>
          <p:cNvPr id="417" name="Google Shape;417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1137" y="1752326"/>
            <a:ext cx="5149728" cy="48463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38"/>
          <p:cNvSpPr/>
          <p:nvPr/>
        </p:nvSpPr>
        <p:spPr>
          <a:xfrm>
            <a:off x="0" y="0"/>
            <a:ext cx="12189000" cy="73200"/>
          </a:xfrm>
          <a:prstGeom prst="rect">
            <a:avLst/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38"/>
          <p:cNvSpPr/>
          <p:nvPr/>
        </p:nvSpPr>
        <p:spPr>
          <a:xfrm>
            <a:off x="365760" y="164592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Times New Roman"/>
              <a:buNone/>
            </a:pPr>
            <a:r>
              <a:rPr lang="en-US" sz="900">
                <a:solidFill>
                  <a:srgbClr val="9CA3A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URP MEETING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38"/>
          <p:cNvSpPr/>
          <p:nvPr/>
        </p:nvSpPr>
        <p:spPr>
          <a:xfrm>
            <a:off x="457200" y="502920"/>
            <a:ext cx="11247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00"/>
              <a:buFont typeface="Times New Roman"/>
              <a:buNone/>
            </a:pPr>
            <a:r>
              <a:rPr b="1" lang="en-US" sz="22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Vortex Aribiter Comparison 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26" name="Google Shape;426;p38"/>
          <p:cNvGrpSpPr/>
          <p:nvPr/>
        </p:nvGrpSpPr>
        <p:grpSpPr>
          <a:xfrm>
            <a:off x="833025" y="1779163"/>
            <a:ext cx="10495327" cy="4846320"/>
            <a:chOff x="735000" y="1435438"/>
            <a:chExt cx="10495327" cy="4846320"/>
          </a:xfrm>
        </p:grpSpPr>
        <p:pic>
          <p:nvPicPr>
            <p:cNvPr id="427" name="Google Shape;427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35000" y="1435525"/>
              <a:ext cx="4949607" cy="48461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8" name="Google Shape;428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325850" y="1435438"/>
              <a:ext cx="4904477" cy="48463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9" name="Google Shape;429;p38"/>
            <p:cNvSpPr txBox="1"/>
            <p:nvPr/>
          </p:nvSpPr>
          <p:spPr>
            <a:xfrm>
              <a:off x="735000" y="1435525"/>
              <a:ext cx="1222500" cy="502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/>
                <a:t>gpgpu-sim</a:t>
              </a:r>
              <a:endParaRPr/>
            </a:p>
          </p:txBody>
        </p:sp>
        <p:sp>
          <p:nvSpPr>
            <p:cNvPr id="430" name="Google Shape;430;p38"/>
            <p:cNvSpPr txBox="1"/>
            <p:nvPr/>
          </p:nvSpPr>
          <p:spPr>
            <a:xfrm>
              <a:off x="6325850" y="1435525"/>
              <a:ext cx="1222500" cy="502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/>
                <a:t>vortex</a:t>
              </a:r>
              <a:endParaRPr/>
            </a:p>
          </p:txBody>
        </p:sp>
      </p:grpSp>
      <p:sp>
        <p:nvSpPr>
          <p:cNvPr id="431" name="Google Shape;431;p38"/>
          <p:cNvSpPr/>
          <p:nvPr/>
        </p:nvSpPr>
        <p:spPr>
          <a:xfrm>
            <a:off x="1996963" y="2262725"/>
            <a:ext cx="3794100" cy="1333500"/>
          </a:xfrm>
          <a:prstGeom prst="rect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38"/>
          <p:cNvSpPr/>
          <p:nvPr/>
        </p:nvSpPr>
        <p:spPr>
          <a:xfrm>
            <a:off x="7534263" y="2262725"/>
            <a:ext cx="3794100" cy="1333500"/>
          </a:xfrm>
          <a:prstGeom prst="rect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38"/>
          <p:cNvSpPr txBox="1"/>
          <p:nvPr/>
        </p:nvSpPr>
        <p:spPr>
          <a:xfrm>
            <a:off x="457200" y="1069850"/>
            <a:ext cx="10955700" cy="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원인 분석 - GTO의 same warp reuse hit이 예상보다 더 적음, 전체 l1d hit rate는 낮으면서 inter warp reuse hit이 너무 큼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-&gt; gto가 rr 대비 크게 차이를 보여주지 못하고 있음 &amp; inter warp reuse가 높은 수준에서 유지되어 RR의 성능 하락이 거의 없음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39"/>
          <p:cNvSpPr/>
          <p:nvPr/>
        </p:nvSpPr>
        <p:spPr>
          <a:xfrm>
            <a:off x="0" y="0"/>
            <a:ext cx="12189000" cy="73200"/>
          </a:xfrm>
          <a:prstGeom prst="rect">
            <a:avLst/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39"/>
          <p:cNvSpPr/>
          <p:nvPr/>
        </p:nvSpPr>
        <p:spPr>
          <a:xfrm>
            <a:off x="365760" y="164592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Times New Roman"/>
              <a:buNone/>
            </a:pPr>
            <a:r>
              <a:rPr lang="en-US" sz="900">
                <a:solidFill>
                  <a:srgbClr val="9CA3A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URP MEETING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39"/>
          <p:cNvSpPr/>
          <p:nvPr/>
        </p:nvSpPr>
        <p:spPr>
          <a:xfrm>
            <a:off x="457200" y="502920"/>
            <a:ext cx="11247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00"/>
              <a:buFont typeface="Times New Roman"/>
              <a:buNone/>
            </a:pPr>
            <a:r>
              <a:rPr b="1" lang="en-US" sz="22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Vortex Aribiter Comparison 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39"/>
          <p:cNvSpPr txBox="1"/>
          <p:nvPr/>
        </p:nvSpPr>
        <p:spPr>
          <a:xfrm>
            <a:off x="457200" y="1069850"/>
            <a:ext cx="10955700" cy="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loop unrolling: scoreboard stall 줄이기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443" name="Google Shape;443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4450" y="1435450"/>
            <a:ext cx="4643107" cy="5092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40"/>
          <p:cNvSpPr/>
          <p:nvPr/>
        </p:nvSpPr>
        <p:spPr>
          <a:xfrm>
            <a:off x="0" y="0"/>
            <a:ext cx="12189000" cy="73200"/>
          </a:xfrm>
          <a:prstGeom prst="rect">
            <a:avLst/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40"/>
          <p:cNvSpPr/>
          <p:nvPr/>
        </p:nvSpPr>
        <p:spPr>
          <a:xfrm>
            <a:off x="365760" y="164592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Times New Roman"/>
              <a:buNone/>
            </a:pPr>
            <a:r>
              <a:rPr lang="en-US" sz="900">
                <a:solidFill>
                  <a:srgbClr val="9CA3A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URP MEETING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40"/>
          <p:cNvSpPr/>
          <p:nvPr/>
        </p:nvSpPr>
        <p:spPr>
          <a:xfrm>
            <a:off x="457200" y="502920"/>
            <a:ext cx="11247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00"/>
              <a:buFont typeface="Times New Roman"/>
              <a:buNone/>
            </a:pPr>
            <a:r>
              <a:rPr b="1" lang="en-US" sz="22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Vortex Aribiter Comparison 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40"/>
          <p:cNvSpPr txBox="1"/>
          <p:nvPr/>
        </p:nvSpPr>
        <p:spPr>
          <a:xfrm>
            <a:off x="457200" y="1069850"/>
            <a:ext cx="10955700" cy="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loop unrolling: scoreboard stall 줄이기 (4-way unroll)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453" name="Google Shape;453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9632" y="2913588"/>
            <a:ext cx="4286250" cy="208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4" name="Google Shape;454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41782" y="1410512"/>
            <a:ext cx="3634761" cy="5092149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40"/>
          <p:cNvSpPr/>
          <p:nvPr/>
        </p:nvSpPr>
        <p:spPr>
          <a:xfrm>
            <a:off x="5643225" y="3620050"/>
            <a:ext cx="1111200" cy="587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41"/>
          <p:cNvSpPr/>
          <p:nvPr/>
        </p:nvSpPr>
        <p:spPr>
          <a:xfrm>
            <a:off x="0" y="0"/>
            <a:ext cx="12189000" cy="73200"/>
          </a:xfrm>
          <a:prstGeom prst="rect">
            <a:avLst/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41"/>
          <p:cNvSpPr/>
          <p:nvPr/>
        </p:nvSpPr>
        <p:spPr>
          <a:xfrm>
            <a:off x="365760" y="164592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Times New Roman"/>
              <a:buNone/>
            </a:pPr>
            <a:r>
              <a:rPr lang="en-US" sz="900">
                <a:solidFill>
                  <a:srgbClr val="9CA3A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URP MEETING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41"/>
          <p:cNvSpPr/>
          <p:nvPr/>
        </p:nvSpPr>
        <p:spPr>
          <a:xfrm>
            <a:off x="457200" y="502920"/>
            <a:ext cx="11247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00"/>
              <a:buFont typeface="Times New Roman"/>
              <a:buNone/>
            </a:pPr>
            <a:r>
              <a:rPr b="1" lang="en-US" sz="22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Vortex Aribiter Comparison 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41"/>
          <p:cNvSpPr txBox="1"/>
          <p:nvPr/>
        </p:nvSpPr>
        <p:spPr>
          <a:xfrm>
            <a:off x="457200" y="1069850"/>
            <a:ext cx="10955700" cy="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loop unrolling: scoreboard stall 줄이기 (4-way unroll)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465" name="Google Shape;465;p41"/>
          <p:cNvPicPr preferRelativeResize="0"/>
          <p:nvPr/>
        </p:nvPicPr>
        <p:blipFill rotWithShape="1">
          <a:blip r:embed="rId3">
            <a:alphaModFix/>
          </a:blip>
          <a:srcRect b="48294" l="0" r="0" t="0"/>
          <a:stretch/>
        </p:blipFill>
        <p:spPr>
          <a:xfrm>
            <a:off x="2434725" y="1775075"/>
            <a:ext cx="7322549" cy="4462099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p41"/>
          <p:cNvSpPr txBox="1"/>
          <p:nvPr/>
        </p:nvSpPr>
        <p:spPr>
          <a:xfrm>
            <a:off x="457200" y="4854875"/>
            <a:ext cx="2162400" cy="13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4-way unrolled gto</a:t>
            </a:r>
            <a:r>
              <a:rPr lang="en-US"/>
              <a:t>가 16kB에서부터 same-warp reuse hit을 개선시킴.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42"/>
          <p:cNvSpPr/>
          <p:nvPr/>
        </p:nvSpPr>
        <p:spPr>
          <a:xfrm>
            <a:off x="0" y="0"/>
            <a:ext cx="12189000" cy="73200"/>
          </a:xfrm>
          <a:prstGeom prst="rect">
            <a:avLst/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42"/>
          <p:cNvSpPr/>
          <p:nvPr/>
        </p:nvSpPr>
        <p:spPr>
          <a:xfrm>
            <a:off x="365760" y="164592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Times New Roman"/>
              <a:buNone/>
            </a:pPr>
            <a:r>
              <a:rPr lang="en-US" sz="900">
                <a:solidFill>
                  <a:srgbClr val="9CA3A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URP MEETING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42"/>
          <p:cNvSpPr/>
          <p:nvPr/>
        </p:nvSpPr>
        <p:spPr>
          <a:xfrm>
            <a:off x="457200" y="502920"/>
            <a:ext cx="11247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00"/>
              <a:buFont typeface="Times New Roman"/>
              <a:buNone/>
            </a:pPr>
            <a:r>
              <a:rPr b="1" lang="en-US" sz="22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Vortex Aribiter Comparison 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42"/>
          <p:cNvSpPr txBox="1"/>
          <p:nvPr/>
        </p:nvSpPr>
        <p:spPr>
          <a:xfrm>
            <a:off x="457200" y="1069850"/>
            <a:ext cx="10955700" cy="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더 개선할 사항</a:t>
            </a:r>
            <a:r>
              <a:rPr lang="en-US"/>
              <a:t> - memory coalescer, L1D cache</a:t>
            </a:r>
            <a:r>
              <a:rPr lang="en-US"/>
              <a:t>의</a:t>
            </a:r>
            <a:r>
              <a:rPr lang="en-US"/>
              <a:t> valid line </a:t>
            </a:r>
            <a:r>
              <a:rPr lang="en-US"/>
              <a:t>비율 확인, 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476" name="Google Shape;476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52650" y="3075025"/>
            <a:ext cx="8056100" cy="1634050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42"/>
          <p:cNvSpPr txBox="1"/>
          <p:nvPr/>
        </p:nvSpPr>
        <p:spPr>
          <a:xfrm>
            <a:off x="2067950" y="2572225"/>
            <a:ext cx="1222500" cy="502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vortex</a:t>
            </a:r>
            <a:endParaRPr/>
          </a:p>
        </p:txBody>
      </p:sp>
      <p:sp>
        <p:nvSpPr>
          <p:cNvPr id="478" name="Google Shape;478;p42"/>
          <p:cNvSpPr txBox="1"/>
          <p:nvPr/>
        </p:nvSpPr>
        <p:spPr>
          <a:xfrm>
            <a:off x="2046225" y="5231575"/>
            <a:ext cx="8670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같은 cache line인데도 여러 request로 쪼개진  경우가 3만건,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branch가 거의 없기 때문에 coalescer input에 평균 31건의 load가 들어온다. (split load가 거의 없으므로)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cache line이 128B인 것을 감안하면 최대 4B 데이터 32개가 coalesced 되어 input당 1~2 근처의 subreq가 있어야 적절하다.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43"/>
          <p:cNvSpPr/>
          <p:nvPr/>
        </p:nvSpPr>
        <p:spPr>
          <a:xfrm>
            <a:off x="0" y="0"/>
            <a:ext cx="12189000" cy="73200"/>
          </a:xfrm>
          <a:prstGeom prst="rect">
            <a:avLst/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43"/>
          <p:cNvSpPr/>
          <p:nvPr/>
        </p:nvSpPr>
        <p:spPr>
          <a:xfrm>
            <a:off x="365760" y="164592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Times New Roman"/>
              <a:buNone/>
            </a:pPr>
            <a:r>
              <a:rPr lang="en-US" sz="900">
                <a:solidFill>
                  <a:srgbClr val="9CA3A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URP MEETING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43"/>
          <p:cNvSpPr/>
          <p:nvPr/>
        </p:nvSpPr>
        <p:spPr>
          <a:xfrm>
            <a:off x="457200" y="502920"/>
            <a:ext cx="11247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00"/>
              <a:buFont typeface="Times New Roman"/>
              <a:buNone/>
            </a:pPr>
            <a:r>
              <a:rPr b="1" lang="en-US" sz="22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Vortex Aribiter Comparison 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43"/>
          <p:cNvSpPr txBox="1"/>
          <p:nvPr/>
        </p:nvSpPr>
        <p:spPr>
          <a:xfrm>
            <a:off x="457200" y="1069850"/>
            <a:ext cx="10955700" cy="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더 개선할 사항 - memory coalescer, L1D cache의 valid line 비율 확인,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88" name="Google Shape;488;p43"/>
          <p:cNvSpPr txBox="1"/>
          <p:nvPr/>
        </p:nvSpPr>
        <p:spPr>
          <a:xfrm>
            <a:off x="1797900" y="2670425"/>
            <a:ext cx="1222500" cy="502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gpgpu-sim</a:t>
            </a:r>
            <a:endParaRPr/>
          </a:p>
        </p:txBody>
      </p:sp>
      <p:pic>
        <p:nvPicPr>
          <p:cNvPr id="489" name="Google Shape;489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7888" y="3227425"/>
            <a:ext cx="8596226" cy="1329550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43"/>
          <p:cNvSpPr txBox="1"/>
          <p:nvPr/>
        </p:nvSpPr>
        <p:spPr>
          <a:xfrm>
            <a:off x="2046225" y="5231575"/>
            <a:ext cx="8670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실제로 gpgpu-sim은 2 미만의 load당 requests를 보여줌 (32 threads)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44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44"/>
          <p:cNvSpPr/>
          <p:nvPr/>
        </p:nvSpPr>
        <p:spPr>
          <a:xfrm>
            <a:off x="0" y="2809269"/>
            <a:ext cx="12189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5400"/>
              <a:buFont typeface="Times New Roman"/>
              <a:buNone/>
            </a:pPr>
            <a:r>
              <a:rPr b="1" lang="en-US" sz="54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sz="5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44"/>
          <p:cNvSpPr/>
          <p:nvPr/>
        </p:nvSpPr>
        <p:spPr>
          <a:xfrm>
            <a:off x="4297680" y="3200400"/>
            <a:ext cx="54864" cy="548640"/>
          </a:xfrm>
          <a:prstGeom prst="rect">
            <a:avLst/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44"/>
          <p:cNvSpPr/>
          <p:nvPr/>
        </p:nvSpPr>
        <p:spPr>
          <a:xfrm>
            <a:off x="7863840" y="3200400"/>
            <a:ext cx="54864" cy="548640"/>
          </a:xfrm>
          <a:prstGeom prst="rect">
            <a:avLst/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